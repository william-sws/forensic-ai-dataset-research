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apresentação descreve as quatro bases de dados escolhidas para estudar o uso de IA em forense digital. Para cada uma, mostra quem a criou, o que ela registra e em que formato, as estatísticas medidas nos arquivos baixados e o que a análise exploratória inicial revelou sobre vantagens, desafios e limitações.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quatro bases, cada uma de um nicho diferente da forense digital: logs de sistema, imagem, IoT e rede, e memória. Três cabem na memória de uma máquina comum e permitem análise completa com ferramentas convencionais. A CIC-IoT2023 é a base grande: seu volume passa da memória disponível, e por isso ela também serve para estudar ferramentas que processam dados em partes. A segunda linha de cada cartão diz em que tipo de exame pericial a base ajuda.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ponto de partida foi uma planilha com 37 bases forenses e uma revisão de 89 trabalhos que usam IA em perícia. Três regras guiaram a escolha. A base precisava ter uso real na literatura, medido por citações. As bases precisavam vir de nichos diferentes, para cobrir tipos diferentes de evidência. E uma delas precisava ser grande demais para a memória, para permitir o estudo de processamento distribuído. A CIC-IoT2023 tem o maior ritmo de citação do levantamento; a CIC-MalMem-2022 é a principal base tabular de memória; o Loghub e o CoMoFoD são referências nos seus nichos e têm download direto.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tabela responde a três perguntas de uma vez: quem fez a base, o que ela registra e como o dado chega. Duas bases são do Canadian Institute for Cybersecurity, da University of New Brunswick. O Loghub é uma coleção mantida pelo projeto LogPAI, que reúne logs publicados antes por outros grupos: o HDFS vem do trabalho de Xu et al. (2009) e o BGL vem do Lawrence Livermore National Labs. O CoMoFoD é da Universidade de Zagreb. Os registros são de quatro tipos: linhas de texto de log, imagens, atributos numéricos de tráfego de rede e atributos numéricos de memória.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Loghub é uma coleção, e cada base dentro dela foi publicada antes por outro grupo. Usamos duas. No HDFS_v1, o rótulo vale para um bloco de dados inteiro: todas as linhas que falam do mesmo bloco formam um trace, e o trace é normal ou anômalo. No BGL, o rótulo vale para cada linha: ou ela é um alerta de uma categoria, ou não é alerta. Essa diferença muda a forma de modelar e de avaliar. Os dois chegam como texto puro, uma mensagem por linha; o HDFS ainda traz tabelas prontas para uso em aprendizado de máquina.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HDFS_v1 parece enorme: 11,2 milhões de linhas e 575 mil traces. Mas cada trace pode ser descrito por quantas vezes cada um dos 29 tipos de evento aparece nele, e aí sobram só 589 combinações diferentes. Uma única combinação, o caminho normal de um bloco, cobre mais da metade dos traces. As anomalias são raras: 2,93%, cerca de 33 traces normais para cada anômalo. Doze tipos de evento só aparecem em anomalias, o que dá ao modelo um sinal forte, talvez forte demais, como veremos nos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BGL cobre sete meses de operação do supercomputador, de junho de 2005 a janeiro de 2006. Cerca de uma linha em cada 13,6 é alerta, e os alertas se espalham por 41 categorias muito desiguais: a mais comum, KERNDTLB, sozinha tem 152 mil linhas. A tabela de níveis mostra um atalho: todo alerta está numa linha FATAL, mas só 41% das linhas FATAL são alerta. Embaixo, uma linha real do arquivo, separada em campos. O sinal de menos no começo indica que ela não é alerta.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dois resultados ensinam a mesma coisa por caminhos diferentes. No HDFS, separar os traces ao acaso põe a mesma combinação de eventos no treino e no teste, e o modelo chega a 0,999 só por reconhecer o que já viu. Quando o teste tem apenas combinações novas, o F1 cai para 0,968: ainda alto, então há sinal real. No BGL, o sistema muda com o tempo. Quase metade dos alertas do período final tem um molde de mensagem que nunca tinha aparecido, e um modelo treinado no passado chega a F1 de 0,72. Esse é o número mais próximo do uso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do Loghub. É a base mais pronta das quatro: rótulos coerentes, licença aberta, tamanho manejável e um modelo simples já encontra sinal. O cuidado está na avaliação. No HDFS, é preciso testar em combinações de eventos que o modelo não viu; no BGL, testar no futuro. A limitação de fundo vale para as duas: o rótulo foi produzido por regras ou por categorias da própria fonte, então um bom resultado mostra que o modelo reproduz esse rótulo, e isso não garante que ele detecte incidentes reais.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sigla vem de Copy-Move Forgery Detection, detecção de falsificação por cópia e colagem. Cada cena tem quatro imagens principais: a original, a falsificada e duas máscaras que marcam a região alterada. Depois, original e falsificada ganham 24 versões degradadas cada uma, com mudança de brilho, contraste, redução de cores, desfoque, ruído e compressão JPEG em vários níveis. Essas versões existem para testar se um detector continua funcionando quando a imagem passa por processamentos comuns. Por causa do acordo de uso, nenhuma imagem da base aparece nesta apresentação.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base está completa: as 10.400 imagens estão lá, organizadas em 200 cenas, e as cinco categorias de manipulação têm quase o mesmo número de cenas. Para classificação, são 10.000 imagens, metade original e metade falsificada. A região adulterada é pequena, em geral menos de 3% da imagem. O PSNR, que mede quanto uma versão degradada se afasta da original, só foi publicado para o ruído aplicado às originais. O último cartão de cima antecipa o principal achado: as 200 cenas vêm de apenas 41 fotografias.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resultado mais importante do CoMoFoD. Pela estrutura de arquivos, parecia haver 200 cenas independentes. Comparando as fotos originais, elas se reduzem a 41 fotografias, e uma mesma foto chega a aparecer em 13 cenas. Um modelo simples parece excelente quando a separação entre treino e teste deixa a mesma fotografia dos dois lados: AUC de 0,984 por imagem e 0,967 por cena. Quando cada fotografia fica inteira de um lado só, o resultado cai para 0,495, que é acaso. A AUC mede a chance de o modelo dar nota maior a uma falsificada do que a uma original; 0,5 equivale a jogar uma moeda.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CoMoFoD é uma base bem organizada e balanceada, com máscaras e versões degradadas que servem para medir robustez. O problema é a escala real: são 41 fotografias, e qualquer avaliação precisa separar treino e teste por fotografia. Com essa separação, características simples da imagem inteira não distinguem original de falsificada. Por isso a recomendação é usar o CoMoFoD como banco de testes para detectores treinados em bases maiores. Essa recomendação ainda é hipótese, e a localização da região adulterada não foi avaliada.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CIC-IoT2023 é a base grande do estudo. O laboratório canadense montou uma rede com 105 aparelhos IoT reais e disparou 33 ataques contra ela, de negação de serviço a botnets do tipo Mirai. Todo o tráfego foi capturado em arquivos PCAP. Depois, ferramentas de linha de comando dividiram essas capturas e extraíram atributos numéricos, que viraram os CSV usados em aprendizado de máquina. O estudo trabalha só com os CSV; os PCAP ficaram de fora.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base grande, chegaram quatro CSV, um por ataque. Eles não trazem uma coluna dizendo qual é o ataque: essa informação está só no nome do arquivo. A documentação descreve outra versão, combinada e embaralhada, com coluna de rótulo; ela ainda não foi baixada. As 39 colunas descrevem o tráfego em blocos: dados do cabeçalho, flags do protocolo TCP, quais protocolos aparecem, tamanho dos pacotes e tempo entre eles. Todas são numéricas.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arquivo analisado é pequeno, 28.790 linhas, e veio limpo: nenhum valor faltando, nenhuma linha repetida, nenhum infinito. Três colunas são constantes e não carregam informação. As variáveis de taxa e de tempo têm caudas muito longas: a taxa máxima é 862 vezes a mediana, e há um intervalo entre pacotes de cerca de 13 horas, provavelmente uma pausa entre trechos da captura. A coluna Number vale 100 em quase todas as linhas. Embora o arquivo seja de um ataque HTTP, 16% das linhas quase não têm tráfego HTTP; elas se concentram em 6 trechos do arquivo.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achados sobre a forma do arquivo. Primeiro, várias colunas repetem informação: algumas são cópias exatas de outras e algumas são calculadas a partir de outras, então dá para enxugar a tabela. Segundo, as linhas estão em ordem: cada linha se parece muito com a próxima, o que indica janelas consecutivas da mesma captura. Terceiro, o arquivo se divide em 61 trechos internamente parecidos. A consequência prática é a mesma das outras bases: se as linhas forem sorteadas entre treino e teste, o modelo vê quase a mesma linha dos dois lados e o resultado fica inflado.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estimar o peso da base inteira, medimos quantos bytes cada linha ocupa no arquivo analisado e multiplicamos pelos 46,7 milhões de registros declarados. Em CSV seriam cerca de 10,5 GB. Carregada no pandas com números de 64 bits, a base passaria de 14 GB, quase toda a memória da máquina; com 32 bits, cerca de 7 GB. Em qualquer caso, passa dos 4 GB livres. Esse é o motivo de a CIC-IoT2023 ser a base usada para comparar ferramentas que trabalham fora da memória. Lembrando: são estimativas, o tamanho real ainda não foi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CIC-IoT2023 é a base mais citada e a única grande o bastante para testar processamento fora da memória. O arquivo analisado é limpo e coerente. A maior limitação hoje é o rótulo: os arquivos recebidos não dizem qual ataque cada linha representa, e a versão com rótulo ainda não foi baixada. Sem rótulo, não dá para medir se um modelo separa os ataques. O que já se sabe orienta o trabalho seguinte: enxugar colunas, tratar as caudas longas e separar treino e teste por segmento ou por arquivo.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forense de memória, o perito tira uma cópia da RAM e a examina com ferramentas como o Volatility, que listam processos, bibliotecas carregadas, serviços e trechos de código suspeito. A CIC-MalMem-2022 já entrega esse exame resumido em números: cada linha é um dump, e cada coluna conta algo que um módulo do Volatility encontrou. Por exemplo, o psxview compara várias listas de processos para achar processos escondidos, e o malfind procura código injetado. A contagem por módulo da tabela foi lida no cabeçalho dos arquivos recebidos.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CIC-MalMem-2022 é a única das quatro bases ainda sem análise. Os arquivos que chegaram são uma amostra pequena de uma única família de spyware, sem nenhuma máquina limpa, então não servem para avaliar um classificador. As vantagens deste slide vêm da documentação e da literatura, e não de medição. Quando o arquivo principal chegar, as primeiras perguntas são as mesmas das outras bases: o rótulo é confiável, as classes estão balanceadas, há duplicatas, e qual é a unidade certa para separar treino e teste.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tabela junta o que vimos. O Loghub é a base mais pronta: tem rótulo, cabe na máquina e mostra sinal real quando avaliado com cuidado. O CoMoFoD é organizado e balanceado, mas pequeno de verdade: 41 fotografias. A CIC-IoT2023 serve hoje para estudar escala; para avaliar IA, falta a versão com rótulo. A CIC-MalMem-2022 depende do arquivo principal, que ainda não chegou.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achado que atravessa as bases. Quando os mesmos dados, ou dados quase iguais, aparecem no treino e no teste, o modelo tira nota alta por memória, como um aluno que recebe na prova as questões da lista de exercícios. No CoMoFoD a diferença vai de quase perfeito a acaso. No HDFS a queda é menor, mas existe. Na CIC-IoT2023 o risco já está visível na ordem das linhas, e vai aparecer assim que houver rótulo. Por isso, antes de avaliar um modelo, é preciso contar quantas unidades independentes a base 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base tem regras diferentes. O Loghub é a mais aberta: licença Creative Commons com atribuição. O CoMoFoD tem as regras mais rígidas: só pesquisa acadêmica, nada de redistribuir as imagens, nem para colegas da mesma instituição, e nada de alterar os arquivos baixados. As duas bases do CIC exigem cadastro com dados pessoais antes do download; os termos de uso delas ainda precisam ser lidos e registrados.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Artigos que descrevem a origem de cada base. Quem usar qualquer uma delas deve citar o artigo correspondente; no caso do Loghub, o artigo da coleção e o artigo de origem de cada sistema de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355600"/>
            <a:ext cx="10160000" cy="480060"/>
          </a:xfrm>
          <a:prstGeom prst="rect">
            <a:avLst/>
          </a:prstGeom>
          <a:noFill/>
          <a:ln/>
        </p:spPr>
        <p:txBody>
          <a:bodyPr wrap="square" lIns="0" tIns="0" rIns="0" bIns="0" rtlCol="0" anchor="t"/>
          <a:lstStyle>
            <a:lvl1pPr algn="l" indent="0" marL="0">
              <a:lnSpc>
                <a:spcPct val="115000"/>
              </a:lnSpc>
              <a:buNone/>
              <a:defRPr lang="en-US" sz="3600" dirty="0">
                <a:solidFill>
                  <a:srgbClr val="2C5070"/>
                </a:solidFill>
                <a:latin typeface="League Spartan" pitchFamily="34" charset="0"/>
                <a:ea typeface="League Spartan" pitchFamily="34" charset="-122"/>
                <a:cs typeface="League Sparta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609600" y="1140460"/>
            <a:ext cx="10769600" cy="4904740"/>
          </a:xfrm>
          <a:prstGeom prst="rect">
            <a:avLst/>
          </a:prstGeom>
          <a:noFill/>
          <a:ln/>
        </p:spPr>
        <p:txBody>
          <a:bodyPr wrap="square" lIns="0" tIns="0" rIns="0" bIns="0" rtlCol="0" anchor="t"/>
          <a:lstStyle>
            <a:lvl1pPr algn="l" indent="0" marL="0">
              <a:lnSpc>
                <a:spcPct val="140000"/>
              </a:lnSpc>
              <a:buNone/>
              <a:defRPr lang="en-US" sz="1600" dirty="0">
                <a:solidFill>
                  <a:srgbClr val="2C5070"/>
                </a:solidFill>
                <a:latin typeface="Archivo" pitchFamily="34" charset="0"/>
                <a:ea typeface="Archivo" pitchFamily="34" charset="-122"/>
                <a:cs typeface="Archiv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355600"/>
            <a:ext cx="10160000" cy="480060"/>
          </a:xfrm>
          <a:prstGeom prst="rect">
            <a:avLst/>
          </a:prstGeom>
          <a:noFill/>
          <a:ln/>
        </p:spPr>
        <p:txBody>
          <a:bodyPr wrap="square" lIns="0" tIns="0" rIns="0" bIns="0" rtlCol="0" anchor="t"/>
          <a:lstStyle>
            <a:lvl1pPr algn="l" indent="0" marL="0">
              <a:lnSpc>
                <a:spcPct val="115000"/>
              </a:lnSpc>
              <a:buNone/>
              <a:defRPr lang="en-US" sz="3600" dirty="0">
                <a:solidFill>
                  <a:srgbClr val="2C5070"/>
                </a:solidFill>
                <a:latin typeface="League Spartan" pitchFamily="34" charset="0"/>
                <a:ea typeface="League Spartan" pitchFamily="34" charset="-122"/>
                <a:cs typeface="League Sparta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609600" y="1140460"/>
            <a:ext cx="10769600" cy="4904740"/>
          </a:xfrm>
          <a:prstGeom prst="rect">
            <a:avLst/>
          </a:prstGeom>
          <a:noFill/>
          <a:ln/>
        </p:spPr>
        <p:txBody>
          <a:bodyPr wrap="square" lIns="0" tIns="0" rIns="0" bIns="0" rtlCol="0" anchor="t"/>
          <a:lstStyle>
            <a:lvl1pPr algn="l" indent="0" marL="0">
              <a:lnSpc>
                <a:spcPct val="140000"/>
              </a:lnSpc>
              <a:buNone/>
              <a:defRPr lang="en-US" sz="1600" dirty="0">
                <a:solidFill>
                  <a:srgbClr val="2C5070"/>
                </a:solidFill>
                <a:latin typeface="Archivo" pitchFamily="34" charset="0"/>
                <a:ea typeface="Archivo" pitchFamily="34" charset="-122"/>
                <a:cs typeface="Archiv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tipo da Universidade Estadual do Ceará">    </p:cNvPr>
          <p:cNvPicPr>
            <a:picLocks noChangeAspect="1"/>
          </p:cNvPicPr>
          <p:nvPr/>
        </p:nvPicPr>
        <p:blipFill>
          <a:blip r:embed="rId1"/>
          <a:srcRect l="-66" r="-66" t="0" b="0"/>
          <a:stretch/>
        </p:blipFill>
        <p:spPr>
          <a:xfrm>
            <a:off x="406400" y="304800"/>
            <a:ext cx="2565400" cy="793750"/>
          </a:xfrm>
          <a:prstGeom prst="rect">
            <a:avLst/>
          </a:prstGeom>
        </p:spPr>
      </p:pic>
      <p:pic>
        <p:nvPicPr>
          <p:cNvPr id="3" name="Image 1" descr="Logotipo do Larces, Laboratório de Redes de Computadores e Segurança">    </p:cNvPr>
          <p:cNvPicPr>
            <a:picLocks noChangeAspect="1"/>
          </p:cNvPicPr>
          <p:nvPr/>
        </p:nvPicPr>
        <p:blipFill>
          <a:blip r:embed="rId2"/>
          <a:srcRect l="0" r="0" t="-23" b="-23"/>
          <a:stretch/>
        </p:blipFill>
        <p:spPr>
          <a:xfrm>
            <a:off x="9690100" y="330200"/>
            <a:ext cx="2095500" cy="774700"/>
          </a:xfrm>
          <a:prstGeom prst="rect">
            <a:avLst/>
          </a:prstGeom>
        </p:spPr>
      </p:pic>
      <p:sp>
        <p:nvSpPr>
          <p:cNvPr id="4" name="Shape 0"/>
          <p:cNvSpPr/>
          <p:nvPr/>
        </p:nvSpPr>
        <p:spPr>
          <a:xfrm>
            <a:off x="0" y="2705100"/>
            <a:ext cx="1301750" cy="1447800"/>
          </a:xfrm>
          <a:custGeom>
            <a:avLst/>
            <a:gdLst/>
            <a:ahLst/>
            <a:cxnLst/>
            <a:rect l="l" t="t" r="r" b="b"/>
            <a:pathLst>
              <a:path w="1301750" h="1447800">
                <a:moveTo>
                  <a:pt x="0" y="0"/>
                </a:moveTo>
                <a:lnTo>
                  <a:pt x="577850" y="0"/>
                </a:lnTo>
                <a:arcTo hR="723900" wR="723900" stAng="16200000" swAng="5400000"/>
                <a:lnTo>
                  <a:pt x="1301750" y="723900"/>
                </a:lnTo>
                <a:arcTo hR="723900" wR="723900" stAng="0" swAng="5400000"/>
                <a:lnTo>
                  <a:pt x="0" y="1447800"/>
                </a:lnTo>
                <a:lnTo>
                  <a:pt x="0" y="0"/>
                </a:lnTo>
                <a:close/>
              </a:path>
            </a:pathLst>
          </a:custGeom>
          <a:solidFill>
            <a:srgbClr val="1E5474"/>
          </a:solidFill>
          <a:ln/>
        </p:spPr>
      </p:sp>
      <p:sp>
        <p:nvSpPr>
          <p:cNvPr id="5" name="Shape 1"/>
          <p:cNvSpPr/>
          <p:nvPr/>
        </p:nvSpPr>
        <p:spPr>
          <a:xfrm>
            <a:off x="10890250" y="2705100"/>
            <a:ext cx="1301750" cy="1447800"/>
          </a:xfrm>
          <a:custGeom>
            <a:avLst/>
            <a:gdLst/>
            <a:ahLst/>
            <a:cxnLst/>
            <a:rect l="l" t="t" r="r" b="b"/>
            <a:pathLst>
              <a:path w="1301750" h="1447800">
                <a:moveTo>
                  <a:pt x="723900" y="0"/>
                </a:moveTo>
                <a:lnTo>
                  <a:pt x="1301750" y="0"/>
                </a:lnTo>
                <a:lnTo>
                  <a:pt x="1301750" y="1447800"/>
                </a:lnTo>
                <a:lnTo>
                  <a:pt x="723900" y="1447800"/>
                </a:lnTo>
                <a:arcTo hR="723900" wR="723900" stAng="5400000" swAng="5400000"/>
                <a:lnTo>
                  <a:pt x="0" y="723900"/>
                </a:lnTo>
                <a:arcTo hR="723900" wR="723900" stAng="10800000" swAng="5400000"/>
                <a:close/>
              </a:path>
            </a:pathLst>
          </a:custGeom>
          <a:solidFill>
            <a:srgbClr val="1E5474"/>
          </a:solidFill>
          <a:ln/>
        </p:spPr>
      </p:sp>
      <p:sp>
        <p:nvSpPr>
          <p:cNvPr id="6" name="Text 2"/>
          <p:cNvSpPr/>
          <p:nvPr>
            <p:ph type="title"/>
          </p:nvPr>
        </p:nvSpPr>
        <p:spPr>
          <a:xfrm>
            <a:off x="-182975" y="1753129"/>
            <a:ext cx="12564301" cy="1087120"/>
          </a:xfrm>
          <a:prstGeom prst="rect">
            <a:avLst/>
          </a:prstGeom>
          <a:noFill/>
          <a:ln/>
        </p:spPr>
        <p:txBody>
          <a:bodyPr wrap="square" lIns="0" tIns="0" rIns="0" bIns="0" rtlCol="0" anchor="t">
            <a:normAutofit/>
          </a:bodyPr>
          <a:lstStyle/>
          <a:p>
            <a:pPr algn="ctr" indent="0" marL="0">
              <a:lnSpc>
                <a:spcPts val="4180"/>
              </a:lnSpc>
              <a:buNone/>
            </a:pPr>
            <a:r>
              <a:rPr lang="en-US" sz="3800" b="1" i="0" dirty="0">
                <a:solidFill>
                  <a:srgbClr val="1E5474"/>
                </a:solidFill>
                <a:latin typeface="League Spartan" pitchFamily="34" charset="0"/>
                <a:ea typeface="League Spartan" pitchFamily="34" charset="-122"/>
                <a:cs typeface="League Spartan" pitchFamily="34" charset="-120"/>
              </a:rPr>
              <a:t>BASES DE DADOS PARA PESQUISA EM FORENSE DIGITAL COM IA</a:t>
            </a:r>
            <a:endParaRPr lang="en-US" sz="3800" dirty="0"/>
          </a:p>
        </p:txBody>
      </p:sp>
      <p:sp>
        <p:nvSpPr>
          <p:cNvPr id="7" name="Shape 3"/>
          <p:cNvSpPr/>
          <p:nvPr/>
        </p:nvSpPr>
        <p:spPr>
          <a:xfrm>
            <a:off x="5588000" y="3803650"/>
            <a:ext cx="1016000" cy="38100"/>
          </a:xfrm>
          <a:prstGeom prst="rect">
            <a:avLst/>
          </a:prstGeom>
          <a:solidFill>
            <a:srgbClr val="2C5070"/>
          </a:solidFill>
          <a:ln/>
        </p:spPr>
      </p:sp>
      <p:sp>
        <p:nvSpPr>
          <p:cNvPr id="8" name="Text 4"/>
          <p:cNvSpPr/>
          <p:nvPr/>
        </p:nvSpPr>
        <p:spPr>
          <a:xfrm>
            <a:off x="3139440" y="4095750"/>
            <a:ext cx="5913120" cy="299720"/>
          </a:xfrm>
          <a:prstGeom prst="rect">
            <a:avLst/>
          </a:prstGeom>
          <a:noFill/>
          <a:ln/>
        </p:spPr>
        <p:txBody>
          <a:bodyPr wrap="square" lIns="0" tIns="0" rIns="0" bIns="0" rtlCol="0" anchor="t">
            <a:normAutofit/>
          </a:bodyPr>
          <a:lstStyle/>
          <a:p>
            <a:pPr algn="ctr" indent="0" marL="0">
              <a:lnSpc>
                <a:spcPts val="2160"/>
              </a:lnSpc>
              <a:buNone/>
            </a:pPr>
            <a:r>
              <a:rPr lang="en-US" sz="1600" dirty="0">
                <a:solidFill>
                  <a:srgbClr val="2C5070"/>
                </a:solidFill>
                <a:latin typeface="Archivo" pitchFamily="34" charset="0"/>
                <a:ea typeface="Archivo" pitchFamily="34" charset="-122"/>
                <a:cs typeface="Archivo" pitchFamily="34" charset="-120"/>
              </a:rPr>
              <a:t>Loghub, CoMoFoD, CIC-IoT2023 e CIC-MalMem-2022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AS QUATRO BASES</a:t>
            </a:r>
            <a:endParaRPr lang="en-US" sz="3600" dirty="0"/>
          </a:p>
        </p:txBody>
      </p:sp>
      <p:sp>
        <p:nvSpPr>
          <p:cNvPr id="5" name="Text 2"/>
          <p:cNvSpPr/>
          <p:nvPr/>
        </p:nvSpPr>
        <p:spPr>
          <a:xfrm>
            <a:off x="609600" y="886460"/>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UMA BASE PARA CADA NICHO DA FORENSE DIGITAL</a:t>
            </a:r>
            <a:endParaRPr lang="en-US" sz="1600" dirty="0"/>
          </a:p>
        </p:txBody>
      </p:sp>
      <p:sp>
        <p:nvSpPr>
          <p:cNvPr id="6" name="Shape 3"/>
          <p:cNvSpPr/>
          <p:nvPr/>
        </p:nvSpPr>
        <p:spPr>
          <a:xfrm>
            <a:off x="609600" y="1333500"/>
            <a:ext cx="5410200" cy="1965960"/>
          </a:xfrm>
          <a:prstGeom prst="roundRect">
            <a:avLst>
              <a:gd name="adj" fmla="val 5168"/>
            </a:avLst>
          </a:prstGeom>
          <a:solidFill>
            <a:srgbClr val="EAF0F5"/>
          </a:solidFill>
          <a:ln/>
        </p:spPr>
      </p:sp>
      <p:sp>
        <p:nvSpPr>
          <p:cNvPr id="7" name="Shape 4"/>
          <p:cNvSpPr/>
          <p:nvPr/>
        </p:nvSpPr>
        <p:spPr>
          <a:xfrm>
            <a:off x="609600" y="1333500"/>
            <a:ext cx="5410200" cy="1965960"/>
          </a:xfrm>
          <a:custGeom>
            <a:avLst/>
            <a:gdLst/>
            <a:ahLst/>
            <a:cxnLst/>
            <a:rect l="l" t="t" r="r" b="b"/>
            <a:pathLst>
              <a:path w="5410200" h="1965960">
                <a:moveTo>
                  <a:pt x="101600" y="1965960"/>
                </a:moveTo>
                <a:lnTo>
                  <a:pt x="101600" y="1965960"/>
                </a:lnTo>
                <a:arcTo hR="101600" wR="101600" stAng="5400000" swAng="5400000"/>
                <a:lnTo>
                  <a:pt x="0" y="101600"/>
                </a:lnTo>
                <a:arcTo hR="101600" wR="101600" stAng="10800000" swAng="5400000"/>
                <a:lnTo>
                  <a:pt x="101600" y="0"/>
                </a:lnTo>
                <a:arcTo hR="101600" wR="50800" stAng="16200000" swAng="-5400000"/>
                <a:lnTo>
                  <a:pt x="50800" y="1864360"/>
                </a:lnTo>
                <a:arcTo hR="101600" wR="50800" stAng="10800000" swAng="-5400000"/>
                <a:close/>
              </a:path>
            </a:pathLst>
          </a:custGeom>
          <a:solidFill>
            <a:srgbClr val="2C5070"/>
          </a:solidFill>
          <a:ln/>
        </p:spPr>
      </p:sp>
      <p:sp>
        <p:nvSpPr>
          <p:cNvPr id="8" name="Text 5"/>
          <p:cNvSpPr/>
          <p:nvPr/>
        </p:nvSpPr>
        <p:spPr>
          <a:xfrm>
            <a:off x="860425" y="1485900"/>
            <a:ext cx="1815148" cy="264160"/>
          </a:xfrm>
          <a:custGeom>
            <a:avLst/>
            <a:gdLst/>
            <a:ahLst/>
            <a:cxnLst/>
            <a:rect l="l" t="t" r="r" b="b"/>
            <a:pathLst>
              <a:path w="1815148" h="264160">
                <a:moveTo>
                  <a:pt x="132080" y="0"/>
                </a:moveTo>
                <a:lnTo>
                  <a:pt x="1683068" y="0"/>
                </a:lnTo>
                <a:arcTo hR="132080" wR="132080" stAng="16200000" swAng="5400000"/>
                <a:lnTo>
                  <a:pt x="1815148"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Nicho: logs de sistema</a:t>
            </a:r>
            <a:endParaRPr lang="en-US" sz="1200" dirty="0"/>
          </a:p>
        </p:txBody>
      </p:sp>
      <p:sp>
        <p:nvSpPr>
          <p:cNvPr id="9" name="Text 6"/>
          <p:cNvSpPr/>
          <p:nvPr/>
        </p:nvSpPr>
        <p:spPr>
          <a:xfrm>
            <a:off x="2758123" y="1492250"/>
            <a:ext cx="1459547" cy="251460"/>
          </a:xfrm>
          <a:custGeom>
            <a:avLst/>
            <a:gdLst/>
            <a:ahLst/>
            <a:cxnLst/>
            <a:rect l="l" t="t" r="r" b="b"/>
            <a:pathLst>
              <a:path w="1459547" h="251460">
                <a:moveTo>
                  <a:pt x="125730" y="0"/>
                </a:moveTo>
                <a:lnTo>
                  <a:pt x="1333817" y="0"/>
                </a:lnTo>
                <a:arcTo hR="125730" wR="125730" stAng="16200000" swAng="5400000"/>
                <a:lnTo>
                  <a:pt x="1459547" y="125730"/>
                </a:lnTo>
                <a:arcTo hR="125730" wR="125730" stAng="0" swAng="5400000"/>
                <a:lnTo>
                  <a:pt x="125730" y="251460"/>
                </a:lnTo>
                <a:arcTo hR="125730" wR="125730" stAng="5400000" swAng="5400000"/>
                <a:lnTo>
                  <a:pt x="0" y="125730"/>
                </a:lnTo>
                <a:arcTo hR="125730" wR="125730" stAng="10800000" swAng="5400000"/>
                <a:close/>
              </a:path>
            </a:pathLst>
          </a:custGeom>
          <a:solidFill>
            <a:srgbClr val="FFFFFF"/>
          </a:solidFill>
          <a:ln w="12700">
            <a:solidFill>
              <a:srgbClr val="2C5070"/>
            </a:solidFill>
            <a:prstDash val="solid"/>
          </a:ln>
        </p:spPr>
        <p:txBody>
          <a:bodyPr wrap="none" lIns="0" tIns="0" rIns="0" bIns="0" rtlCol="0" anchor="ctr">
            <a:normAutofit/>
          </a:bodyPr>
          <a:lstStyle/>
          <a:p>
            <a:pPr algn="ctr" indent="0" marL="0">
              <a:lnSpc>
                <a:spcPts val="1680"/>
              </a:lnSpc>
              <a:buNone/>
            </a:pPr>
            <a:r>
              <a:rPr lang="en-US" sz="1200" b="1" dirty="0">
                <a:solidFill>
                  <a:srgbClr val="2C5070"/>
                </a:solidFill>
                <a:latin typeface="Archivo" pitchFamily="34" charset="0"/>
                <a:ea typeface="Archivo" pitchFamily="34" charset="-122"/>
                <a:cs typeface="Archivo" pitchFamily="34" charset="-120"/>
              </a:rPr>
              <a:t>Cabe na memória</a:t>
            </a:r>
            <a:endParaRPr lang="en-US" sz="1200" dirty="0"/>
          </a:p>
        </p:txBody>
      </p:sp>
      <p:sp>
        <p:nvSpPr>
          <p:cNvPr id="10" name="Text 7"/>
          <p:cNvSpPr/>
          <p:nvPr/>
        </p:nvSpPr>
        <p:spPr>
          <a:xfrm>
            <a:off x="860425" y="1826260"/>
            <a:ext cx="510486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Loghub (HDFS_v1 e BGL)</a:t>
            </a:r>
            <a:endParaRPr lang="en-US" sz="1600" dirty="0"/>
          </a:p>
        </p:txBody>
      </p:sp>
      <p:sp>
        <p:nvSpPr>
          <p:cNvPr id="11" name="Text 8"/>
          <p:cNvSpPr/>
          <p:nvPr/>
        </p:nvSpPr>
        <p:spPr>
          <a:xfrm>
            <a:off x="860425" y="214630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Logs reais do sistema de arquivos HDFS e do supercomputador BlueGene/L, com falhas e alertas marcados.</a:t>
            </a:r>
            <a:endParaRPr lang="en-US" sz="1300" dirty="0"/>
          </a:p>
        </p:txBody>
      </p:sp>
      <p:sp>
        <p:nvSpPr>
          <p:cNvPr id="12" name="Text 9"/>
          <p:cNvSpPr/>
          <p:nvPr/>
        </p:nvSpPr>
        <p:spPr>
          <a:xfrm>
            <a:off x="860425" y="268478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Na perícia, ajuda a achar falhas e eventos anômalos na linha do tempo de um sistema.</a:t>
            </a:r>
            <a:endParaRPr lang="en-US" sz="1300" dirty="0"/>
          </a:p>
        </p:txBody>
      </p:sp>
      <p:sp>
        <p:nvSpPr>
          <p:cNvPr id="13" name="Shape 10"/>
          <p:cNvSpPr/>
          <p:nvPr/>
        </p:nvSpPr>
        <p:spPr>
          <a:xfrm>
            <a:off x="6172200" y="1333500"/>
            <a:ext cx="5410200" cy="1965960"/>
          </a:xfrm>
          <a:prstGeom prst="roundRect">
            <a:avLst>
              <a:gd name="adj" fmla="val 5168"/>
            </a:avLst>
          </a:prstGeom>
          <a:solidFill>
            <a:srgbClr val="EAF0F5"/>
          </a:solidFill>
          <a:ln/>
        </p:spPr>
      </p:sp>
      <p:sp>
        <p:nvSpPr>
          <p:cNvPr id="14" name="Shape 11"/>
          <p:cNvSpPr/>
          <p:nvPr/>
        </p:nvSpPr>
        <p:spPr>
          <a:xfrm>
            <a:off x="6172200" y="1333500"/>
            <a:ext cx="5410200" cy="1965960"/>
          </a:xfrm>
          <a:custGeom>
            <a:avLst/>
            <a:gdLst/>
            <a:ahLst/>
            <a:cxnLst/>
            <a:rect l="l" t="t" r="r" b="b"/>
            <a:pathLst>
              <a:path w="5410200" h="1965960">
                <a:moveTo>
                  <a:pt x="101600" y="1965960"/>
                </a:moveTo>
                <a:lnTo>
                  <a:pt x="101600" y="1965960"/>
                </a:lnTo>
                <a:arcTo hR="101600" wR="101600" stAng="5400000" swAng="5400000"/>
                <a:lnTo>
                  <a:pt x="0" y="101600"/>
                </a:lnTo>
                <a:arcTo hR="101600" wR="101600" stAng="10800000" swAng="5400000"/>
                <a:lnTo>
                  <a:pt x="101600" y="0"/>
                </a:lnTo>
                <a:arcTo hR="101600" wR="50800" stAng="16200000" swAng="-5400000"/>
                <a:lnTo>
                  <a:pt x="50800" y="1864360"/>
                </a:lnTo>
                <a:arcTo hR="101600" wR="50800" stAng="10800000" swAng="-5400000"/>
                <a:close/>
              </a:path>
            </a:pathLst>
          </a:custGeom>
          <a:solidFill>
            <a:srgbClr val="2C5070"/>
          </a:solidFill>
          <a:ln/>
        </p:spPr>
      </p:sp>
      <p:sp>
        <p:nvSpPr>
          <p:cNvPr id="15" name="Text 12"/>
          <p:cNvSpPr/>
          <p:nvPr/>
        </p:nvSpPr>
        <p:spPr>
          <a:xfrm>
            <a:off x="6423025" y="1485900"/>
            <a:ext cx="1285028" cy="264160"/>
          </a:xfrm>
          <a:custGeom>
            <a:avLst/>
            <a:gdLst/>
            <a:ahLst/>
            <a:cxnLst/>
            <a:rect l="l" t="t" r="r" b="b"/>
            <a:pathLst>
              <a:path w="1285028" h="264160">
                <a:moveTo>
                  <a:pt x="132080" y="0"/>
                </a:moveTo>
                <a:lnTo>
                  <a:pt x="1152948" y="0"/>
                </a:lnTo>
                <a:arcTo hR="132080" wR="132080" stAng="16200000" swAng="5400000"/>
                <a:lnTo>
                  <a:pt x="1285028"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Nicho: imagem</a:t>
            </a:r>
            <a:endParaRPr lang="en-US" sz="1200" dirty="0"/>
          </a:p>
        </p:txBody>
      </p:sp>
      <p:sp>
        <p:nvSpPr>
          <p:cNvPr id="16" name="Text 13"/>
          <p:cNvSpPr/>
          <p:nvPr/>
        </p:nvSpPr>
        <p:spPr>
          <a:xfrm>
            <a:off x="7790604" y="1492250"/>
            <a:ext cx="1459547" cy="251460"/>
          </a:xfrm>
          <a:custGeom>
            <a:avLst/>
            <a:gdLst/>
            <a:ahLst/>
            <a:cxnLst/>
            <a:rect l="l" t="t" r="r" b="b"/>
            <a:pathLst>
              <a:path w="1459547" h="251460">
                <a:moveTo>
                  <a:pt x="125730" y="0"/>
                </a:moveTo>
                <a:lnTo>
                  <a:pt x="1333817" y="0"/>
                </a:lnTo>
                <a:arcTo hR="125730" wR="125730" stAng="16200000" swAng="5400000"/>
                <a:lnTo>
                  <a:pt x="1459547" y="125730"/>
                </a:lnTo>
                <a:arcTo hR="125730" wR="125730" stAng="0" swAng="5400000"/>
                <a:lnTo>
                  <a:pt x="125730" y="251460"/>
                </a:lnTo>
                <a:arcTo hR="125730" wR="125730" stAng="5400000" swAng="5400000"/>
                <a:lnTo>
                  <a:pt x="0" y="125730"/>
                </a:lnTo>
                <a:arcTo hR="125730" wR="125730" stAng="10800000" swAng="5400000"/>
                <a:close/>
              </a:path>
            </a:pathLst>
          </a:custGeom>
          <a:solidFill>
            <a:srgbClr val="FFFFFF"/>
          </a:solidFill>
          <a:ln w="12700">
            <a:solidFill>
              <a:srgbClr val="2C5070"/>
            </a:solidFill>
            <a:prstDash val="solid"/>
          </a:ln>
        </p:spPr>
        <p:txBody>
          <a:bodyPr wrap="none" lIns="0" tIns="0" rIns="0" bIns="0" rtlCol="0" anchor="ctr">
            <a:normAutofit/>
          </a:bodyPr>
          <a:lstStyle/>
          <a:p>
            <a:pPr algn="ctr" indent="0" marL="0">
              <a:lnSpc>
                <a:spcPts val="1680"/>
              </a:lnSpc>
              <a:buNone/>
            </a:pPr>
            <a:r>
              <a:rPr lang="en-US" sz="1200" b="1" dirty="0">
                <a:solidFill>
                  <a:srgbClr val="2C5070"/>
                </a:solidFill>
                <a:latin typeface="Archivo" pitchFamily="34" charset="0"/>
                <a:ea typeface="Archivo" pitchFamily="34" charset="-122"/>
                <a:cs typeface="Archivo" pitchFamily="34" charset="-120"/>
              </a:rPr>
              <a:t>Cabe na memória</a:t>
            </a:r>
            <a:endParaRPr lang="en-US" sz="1200" dirty="0"/>
          </a:p>
        </p:txBody>
      </p:sp>
      <p:sp>
        <p:nvSpPr>
          <p:cNvPr id="17" name="Text 14"/>
          <p:cNvSpPr/>
          <p:nvPr/>
        </p:nvSpPr>
        <p:spPr>
          <a:xfrm>
            <a:off x="6423025" y="1826260"/>
            <a:ext cx="510486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CoMoFoD</a:t>
            </a:r>
            <a:endParaRPr lang="en-US" sz="1600" dirty="0"/>
          </a:p>
        </p:txBody>
      </p:sp>
      <p:sp>
        <p:nvSpPr>
          <p:cNvPr id="18" name="Text 15"/>
          <p:cNvSpPr/>
          <p:nvPr/>
        </p:nvSpPr>
        <p:spPr>
          <a:xfrm>
            <a:off x="6423025" y="214630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Fotos com um trecho copiado e colado dentro da própria imagem, e a máscara da região alterada.</a:t>
            </a:r>
            <a:endParaRPr lang="en-US" sz="1300" dirty="0"/>
          </a:p>
        </p:txBody>
      </p:sp>
      <p:sp>
        <p:nvSpPr>
          <p:cNvPr id="19" name="Text 16"/>
          <p:cNvSpPr/>
          <p:nvPr/>
        </p:nvSpPr>
        <p:spPr>
          <a:xfrm>
            <a:off x="6423025" y="268478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Na perícia, ajuda a verificar se uma imagem usada como evidência foi manipulada.</a:t>
            </a:r>
            <a:endParaRPr lang="en-US" sz="1300" dirty="0"/>
          </a:p>
        </p:txBody>
      </p:sp>
      <p:sp>
        <p:nvSpPr>
          <p:cNvPr id="20" name="Shape 17"/>
          <p:cNvSpPr/>
          <p:nvPr/>
        </p:nvSpPr>
        <p:spPr>
          <a:xfrm>
            <a:off x="609600" y="3451860"/>
            <a:ext cx="5410200" cy="1965960"/>
          </a:xfrm>
          <a:prstGeom prst="roundRect">
            <a:avLst>
              <a:gd name="adj" fmla="val 5168"/>
            </a:avLst>
          </a:prstGeom>
          <a:solidFill>
            <a:srgbClr val="EAF0F5"/>
          </a:solidFill>
          <a:ln/>
        </p:spPr>
      </p:sp>
      <p:sp>
        <p:nvSpPr>
          <p:cNvPr id="21" name="Shape 18"/>
          <p:cNvSpPr/>
          <p:nvPr/>
        </p:nvSpPr>
        <p:spPr>
          <a:xfrm>
            <a:off x="609600" y="3451860"/>
            <a:ext cx="5410200" cy="1965960"/>
          </a:xfrm>
          <a:custGeom>
            <a:avLst/>
            <a:gdLst/>
            <a:ahLst/>
            <a:cxnLst/>
            <a:rect l="l" t="t" r="r" b="b"/>
            <a:pathLst>
              <a:path w="5410200" h="1965960">
                <a:moveTo>
                  <a:pt x="101600" y="1965960"/>
                </a:moveTo>
                <a:lnTo>
                  <a:pt x="101600" y="1965960"/>
                </a:lnTo>
                <a:arcTo hR="101600" wR="101600" stAng="5400000" swAng="5400000"/>
                <a:lnTo>
                  <a:pt x="0" y="101600"/>
                </a:lnTo>
                <a:arcTo hR="101600" wR="101600" stAng="10800000" swAng="5400000"/>
                <a:lnTo>
                  <a:pt x="101600" y="0"/>
                </a:lnTo>
                <a:arcTo hR="101600" wR="50800" stAng="16200000" swAng="-5400000"/>
                <a:lnTo>
                  <a:pt x="50800" y="1864360"/>
                </a:lnTo>
                <a:arcTo hR="101600" wR="50800" stAng="10800000" swAng="-5400000"/>
                <a:close/>
              </a:path>
            </a:pathLst>
          </a:custGeom>
          <a:solidFill>
            <a:srgbClr val="2C5070"/>
          </a:solidFill>
          <a:ln/>
        </p:spPr>
      </p:sp>
      <p:sp>
        <p:nvSpPr>
          <p:cNvPr id="22" name="Text 19"/>
          <p:cNvSpPr/>
          <p:nvPr/>
        </p:nvSpPr>
        <p:spPr>
          <a:xfrm>
            <a:off x="860425" y="3604260"/>
            <a:ext cx="1413510" cy="264160"/>
          </a:xfrm>
          <a:custGeom>
            <a:avLst/>
            <a:gdLst/>
            <a:ahLst/>
            <a:cxnLst/>
            <a:rect l="l" t="t" r="r" b="b"/>
            <a:pathLst>
              <a:path w="1413510" h="264160">
                <a:moveTo>
                  <a:pt x="132080" y="0"/>
                </a:moveTo>
                <a:lnTo>
                  <a:pt x="1281430" y="0"/>
                </a:lnTo>
                <a:arcTo hR="132080" wR="132080" stAng="16200000" swAng="5400000"/>
                <a:lnTo>
                  <a:pt x="1413510"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Nicho: IoT e rede</a:t>
            </a:r>
            <a:endParaRPr lang="en-US" sz="1200" dirty="0"/>
          </a:p>
        </p:txBody>
      </p:sp>
      <p:sp>
        <p:nvSpPr>
          <p:cNvPr id="23" name="Text 20"/>
          <p:cNvSpPr/>
          <p:nvPr/>
        </p:nvSpPr>
        <p:spPr>
          <a:xfrm>
            <a:off x="2356485" y="3610610"/>
            <a:ext cx="1121092" cy="251460"/>
          </a:xfrm>
          <a:custGeom>
            <a:avLst/>
            <a:gdLst/>
            <a:ahLst/>
            <a:cxnLst/>
            <a:rect l="l" t="t" r="r" b="b"/>
            <a:pathLst>
              <a:path w="1121092" h="251460">
                <a:moveTo>
                  <a:pt x="125730" y="0"/>
                </a:moveTo>
                <a:lnTo>
                  <a:pt x="995362" y="0"/>
                </a:lnTo>
                <a:arcTo hR="125730" wR="125730" stAng="16200000" swAng="5400000"/>
                <a:lnTo>
                  <a:pt x="1121092" y="125730"/>
                </a:lnTo>
                <a:arcTo hR="125730" wR="125730" stAng="0" swAng="5400000"/>
                <a:lnTo>
                  <a:pt x="125730" y="251460"/>
                </a:lnTo>
                <a:arcTo hR="125730" wR="125730" stAng="5400000" swAng="5400000"/>
                <a:lnTo>
                  <a:pt x="0" y="125730"/>
                </a:lnTo>
                <a:arcTo hR="125730" wR="125730" stAng="10800000" swAng="5400000"/>
                <a:close/>
              </a:path>
            </a:pathLst>
          </a:custGeom>
          <a:solidFill>
            <a:srgbClr val="FFFFFF"/>
          </a:solidFill>
          <a:ln w="12700">
            <a:solidFill>
              <a:srgbClr val="2C5070"/>
            </a:solidFill>
            <a:prstDash val="solid"/>
          </a:ln>
        </p:spPr>
        <p:txBody>
          <a:bodyPr wrap="none" lIns="0" tIns="0" rIns="0" bIns="0" rtlCol="0" anchor="ctr">
            <a:normAutofit/>
          </a:bodyPr>
          <a:lstStyle/>
          <a:p>
            <a:pPr algn="ctr" indent="0" marL="0">
              <a:lnSpc>
                <a:spcPts val="1680"/>
              </a:lnSpc>
              <a:buNone/>
            </a:pPr>
            <a:r>
              <a:rPr lang="en-US" sz="1200" b="1" dirty="0">
                <a:solidFill>
                  <a:srgbClr val="2C5070"/>
                </a:solidFill>
                <a:latin typeface="Archivo" pitchFamily="34" charset="0"/>
                <a:ea typeface="Archivo" pitchFamily="34" charset="-122"/>
                <a:cs typeface="Archivo" pitchFamily="34" charset="-120"/>
              </a:rPr>
              <a:t>Base grande</a:t>
            </a:r>
            <a:endParaRPr lang="en-US" sz="1200" dirty="0"/>
          </a:p>
        </p:txBody>
      </p:sp>
      <p:sp>
        <p:nvSpPr>
          <p:cNvPr id="24" name="Text 21"/>
          <p:cNvSpPr/>
          <p:nvPr/>
        </p:nvSpPr>
        <p:spPr>
          <a:xfrm>
            <a:off x="860425" y="3944620"/>
            <a:ext cx="510486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CIC-IoT2023</a:t>
            </a:r>
            <a:endParaRPr lang="en-US" sz="1600" dirty="0"/>
          </a:p>
        </p:txBody>
      </p:sp>
      <p:sp>
        <p:nvSpPr>
          <p:cNvPr id="25" name="Text 22"/>
          <p:cNvSpPr/>
          <p:nvPr/>
        </p:nvSpPr>
        <p:spPr>
          <a:xfrm>
            <a:off x="860425" y="426466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Tráfego de rede de 105 dispositivos IoT reais submetidos a 33 tipos de ataque.</a:t>
            </a:r>
            <a:endParaRPr lang="en-US" sz="1300" dirty="0"/>
          </a:p>
        </p:txBody>
      </p:sp>
      <p:sp>
        <p:nvSpPr>
          <p:cNvPr id="26" name="Text 23"/>
          <p:cNvSpPr/>
          <p:nvPr/>
        </p:nvSpPr>
        <p:spPr>
          <a:xfrm>
            <a:off x="860425" y="480314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Na perícia, ajuda a reconstruir e classificar ataques a partir do tráfego capturado.</a:t>
            </a:r>
            <a:endParaRPr lang="en-US" sz="1300" dirty="0"/>
          </a:p>
        </p:txBody>
      </p:sp>
      <p:sp>
        <p:nvSpPr>
          <p:cNvPr id="27" name="Shape 24"/>
          <p:cNvSpPr/>
          <p:nvPr/>
        </p:nvSpPr>
        <p:spPr>
          <a:xfrm>
            <a:off x="6172200" y="3451860"/>
            <a:ext cx="5410200" cy="1965960"/>
          </a:xfrm>
          <a:prstGeom prst="roundRect">
            <a:avLst>
              <a:gd name="adj" fmla="val 5168"/>
            </a:avLst>
          </a:prstGeom>
          <a:solidFill>
            <a:srgbClr val="EAF0F5"/>
          </a:solidFill>
          <a:ln/>
        </p:spPr>
      </p:sp>
      <p:sp>
        <p:nvSpPr>
          <p:cNvPr id="28" name="Shape 25"/>
          <p:cNvSpPr/>
          <p:nvPr/>
        </p:nvSpPr>
        <p:spPr>
          <a:xfrm>
            <a:off x="6172200" y="3451860"/>
            <a:ext cx="5410200" cy="1965960"/>
          </a:xfrm>
          <a:custGeom>
            <a:avLst/>
            <a:gdLst/>
            <a:ahLst/>
            <a:cxnLst/>
            <a:rect l="l" t="t" r="r" b="b"/>
            <a:pathLst>
              <a:path w="5410200" h="1965960">
                <a:moveTo>
                  <a:pt x="101600" y="1965960"/>
                </a:moveTo>
                <a:lnTo>
                  <a:pt x="101600" y="1965960"/>
                </a:lnTo>
                <a:arcTo hR="101600" wR="101600" stAng="5400000" swAng="5400000"/>
                <a:lnTo>
                  <a:pt x="0" y="101600"/>
                </a:lnTo>
                <a:arcTo hR="101600" wR="101600" stAng="10800000" swAng="5400000"/>
                <a:lnTo>
                  <a:pt x="101600" y="0"/>
                </a:lnTo>
                <a:arcTo hR="101600" wR="50800" stAng="16200000" swAng="-5400000"/>
                <a:lnTo>
                  <a:pt x="50800" y="1864360"/>
                </a:lnTo>
                <a:arcTo hR="101600" wR="50800" stAng="10800000" swAng="-5400000"/>
                <a:close/>
              </a:path>
            </a:pathLst>
          </a:custGeom>
          <a:solidFill>
            <a:srgbClr val="2C5070"/>
          </a:solidFill>
          <a:ln/>
        </p:spPr>
      </p:sp>
      <p:sp>
        <p:nvSpPr>
          <p:cNvPr id="29" name="Text 26"/>
          <p:cNvSpPr/>
          <p:nvPr/>
        </p:nvSpPr>
        <p:spPr>
          <a:xfrm>
            <a:off x="6423025" y="3604260"/>
            <a:ext cx="1341226" cy="264160"/>
          </a:xfrm>
          <a:custGeom>
            <a:avLst/>
            <a:gdLst/>
            <a:ahLst/>
            <a:cxnLst/>
            <a:rect l="l" t="t" r="r" b="b"/>
            <a:pathLst>
              <a:path w="1341226" h="264160">
                <a:moveTo>
                  <a:pt x="132080" y="0"/>
                </a:moveTo>
                <a:lnTo>
                  <a:pt x="1209146" y="0"/>
                </a:lnTo>
                <a:arcTo hR="132080" wR="132080" stAng="16200000" swAng="5400000"/>
                <a:lnTo>
                  <a:pt x="13412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Nicho: memória</a:t>
            </a:r>
            <a:endParaRPr lang="en-US" sz="1200" dirty="0"/>
          </a:p>
        </p:txBody>
      </p:sp>
      <p:sp>
        <p:nvSpPr>
          <p:cNvPr id="30" name="Text 27"/>
          <p:cNvSpPr/>
          <p:nvPr/>
        </p:nvSpPr>
        <p:spPr>
          <a:xfrm>
            <a:off x="7846801" y="3610610"/>
            <a:ext cx="1459548" cy="251460"/>
          </a:xfrm>
          <a:custGeom>
            <a:avLst/>
            <a:gdLst/>
            <a:ahLst/>
            <a:cxnLst/>
            <a:rect l="l" t="t" r="r" b="b"/>
            <a:pathLst>
              <a:path w="1459548" h="251460">
                <a:moveTo>
                  <a:pt x="125730" y="0"/>
                </a:moveTo>
                <a:lnTo>
                  <a:pt x="1333818" y="0"/>
                </a:lnTo>
                <a:arcTo hR="125730" wR="125730" stAng="16200000" swAng="5400000"/>
                <a:lnTo>
                  <a:pt x="1459548" y="125730"/>
                </a:lnTo>
                <a:arcTo hR="125730" wR="125730" stAng="0" swAng="5400000"/>
                <a:lnTo>
                  <a:pt x="125730" y="251460"/>
                </a:lnTo>
                <a:arcTo hR="125730" wR="125730" stAng="5400000" swAng="5400000"/>
                <a:lnTo>
                  <a:pt x="0" y="125730"/>
                </a:lnTo>
                <a:arcTo hR="125730" wR="125730" stAng="10800000" swAng="5400000"/>
                <a:close/>
              </a:path>
            </a:pathLst>
          </a:custGeom>
          <a:solidFill>
            <a:srgbClr val="FFFFFF"/>
          </a:solidFill>
          <a:ln w="12700">
            <a:solidFill>
              <a:srgbClr val="2C5070"/>
            </a:solidFill>
            <a:prstDash val="solid"/>
          </a:ln>
        </p:spPr>
        <p:txBody>
          <a:bodyPr wrap="none" lIns="0" tIns="0" rIns="0" bIns="0" rtlCol="0" anchor="ctr">
            <a:normAutofit/>
          </a:bodyPr>
          <a:lstStyle/>
          <a:p>
            <a:pPr algn="ctr" indent="0" marL="0">
              <a:lnSpc>
                <a:spcPts val="1680"/>
              </a:lnSpc>
              <a:buNone/>
            </a:pPr>
            <a:r>
              <a:rPr lang="en-US" sz="1200" b="1" dirty="0">
                <a:solidFill>
                  <a:srgbClr val="2C5070"/>
                </a:solidFill>
                <a:latin typeface="Archivo" pitchFamily="34" charset="0"/>
                <a:ea typeface="Archivo" pitchFamily="34" charset="-122"/>
                <a:cs typeface="Archivo" pitchFamily="34" charset="-120"/>
              </a:rPr>
              <a:t>Cabe na memória</a:t>
            </a:r>
            <a:endParaRPr lang="en-US" sz="1200" dirty="0"/>
          </a:p>
        </p:txBody>
      </p:sp>
      <p:sp>
        <p:nvSpPr>
          <p:cNvPr id="31" name="Text 28"/>
          <p:cNvSpPr/>
          <p:nvPr/>
        </p:nvSpPr>
        <p:spPr>
          <a:xfrm>
            <a:off x="6423025" y="3944620"/>
            <a:ext cx="510486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CIC-MalMem-2022</a:t>
            </a:r>
            <a:endParaRPr lang="en-US" sz="1600" dirty="0"/>
          </a:p>
        </p:txBody>
      </p:sp>
      <p:sp>
        <p:nvSpPr>
          <p:cNvPr id="32" name="Text 29"/>
          <p:cNvSpPr/>
          <p:nvPr/>
        </p:nvSpPr>
        <p:spPr>
          <a:xfrm>
            <a:off x="6423025" y="426466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Atributos de cópias da memória RAM de máquinas Windows, limpas ou com malware ofuscado.</a:t>
            </a:r>
            <a:endParaRPr lang="en-US" sz="1300" dirty="0"/>
          </a:p>
        </p:txBody>
      </p:sp>
      <p:sp>
        <p:nvSpPr>
          <p:cNvPr id="33" name="Text 30"/>
          <p:cNvSpPr/>
          <p:nvPr/>
        </p:nvSpPr>
        <p:spPr>
          <a:xfrm>
            <a:off x="6423025" y="4803140"/>
            <a:ext cx="51048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Na perícia, ajuda a detectar malware ofuscado a partir de uma cópia da memória.</a:t>
            </a:r>
            <a:endParaRPr lang="en-US" sz="1300" dirty="0"/>
          </a:p>
        </p:txBody>
      </p:sp>
      <p:sp>
        <p:nvSpPr>
          <p:cNvPr id="34" name="Text 31"/>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35" name="Text 32"/>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POR QUE ESTAS BASES</a:t>
            </a:r>
            <a:endParaRPr lang="en-US" sz="3600" dirty="0"/>
          </a:p>
        </p:txBody>
      </p:sp>
      <p:sp>
        <p:nvSpPr>
          <p:cNvPr id="5" name="Text 2"/>
          <p:cNvSpPr/>
          <p:nvPr/>
        </p:nvSpPr>
        <p:spPr>
          <a:xfrm>
            <a:off x="609600" y="886461"/>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CRITÉRIOS DA ESCOLHA NO CONTEXTO DA PESQUISA</a:t>
            </a:r>
            <a:endParaRPr lang="en-US" sz="1600" dirty="0"/>
          </a:p>
        </p:txBody>
      </p:sp>
      <p:sp>
        <p:nvSpPr>
          <p:cNvPr id="6" name="Text 3"/>
          <p:cNvSpPr/>
          <p:nvPr/>
        </p:nvSpPr>
        <p:spPr>
          <a:xfrm>
            <a:off x="609600" y="1333500"/>
            <a:ext cx="113019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A escolha partiu de um levantamento com 37 bases catalogadas e 89 trabalhos que aplicam IA à forense digital. Entraram bases usadas na literatura recente, cada uma de um nicho diferente, e uma grande demais para a memória da máquina de trabalho (16 GB de RAM).</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0183" y="2045123"/>
          <a:ext cx="10962217" cy="2506557"/>
        </p:xfrm>
        <a:graphic>
          <a:graphicData uri="http://schemas.openxmlformats.org/drawingml/2006/table">
            <a:tbl>
              <a:tblPr/>
              <a:tblGrid>
                <a:gridCol w="1973199"/>
                <a:gridCol w="1096222"/>
                <a:gridCol w="1973199"/>
                <a:gridCol w="5919597"/>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Base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Ano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Citações</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Por que entrou</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CIC-IoT2023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2023</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980 (327 por ano)</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Maior ritmo de citação de todo o levantamento. É grande o bastante para estudar processamento fora da memória.</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CIC-MalMem-2022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2022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147 (37 por ano)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Única base de memória do levantamento já organizada em tabela e rotulada, e a mais usada nos trabalhos recentes do nicho.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Loghub</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2023</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257</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Coleção de referência para detecção de anomalias em logs, com licença aberta e download direto.</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CoMoFoD</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2013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245 (19 por ano)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Base padrão para detectar cópia e colagem dentro da imagem, com versões pós-processadas. A versão Small tem download direto.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4"/>
          <p:cNvSpPr/>
          <p:nvPr/>
        </p:nvSpPr>
        <p:spPr>
          <a:xfrm>
            <a:off x="609600" y="475488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Citações contadas na Crossref em 23/09/2026. O CoMoFoD não tem registro na Crossref e foi contado na OpenAlex.</a:t>
            </a:r>
            <a:endParaRPr lang="en-US" sz="1200" dirty="0"/>
          </a:p>
        </p:txBody>
      </p:sp>
      <p:sp>
        <p:nvSpPr>
          <p:cNvPr id="9" name="Text 5"/>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0" name="Text 6"/>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O QUE CADA BASE REGISTRA</a:t>
            </a:r>
            <a:endParaRPr lang="en-US" sz="3600" dirty="0"/>
          </a:p>
        </p:txBody>
      </p:sp>
      <p:sp>
        <p:nvSpPr>
          <p:cNvPr id="5" name="Text 2"/>
          <p:cNvSpPr/>
          <p:nvPr/>
        </p:nvSpPr>
        <p:spPr>
          <a:xfrm>
            <a:off x="609600" y="886461"/>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QUEM CRIOU, TIPO DE REGISTRO E FORMATO DOS DADOS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83" y="1344083"/>
          <a:ext cx="10962217" cy="2506557"/>
        </p:xfrm>
        <a:graphic>
          <a:graphicData uri="http://schemas.openxmlformats.org/drawingml/2006/table">
            <a:tbl>
              <a:tblPr/>
              <a:tblGrid>
                <a:gridCol w="1534710"/>
                <a:gridCol w="2850176"/>
                <a:gridCol w="2630932"/>
                <a:gridCol w="2411688"/>
                <a:gridCol w="1534710"/>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Base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Quem criou</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O que registra</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Unidade de registro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Formato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Loghub (HDFS_v1 e BGL)</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Projeto LogPAI, com logs de Xu et al. (HDFS) e do LLNL (BGL)</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Mensagens de log do HDFS e do supercomputador BlueGene/L</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Linha de log; rótulo por bloco (HDFS) ou por linha (BGL)</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Texto (.log) e CSV</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CoMoFoD</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Universidade de Zagreb, Croácia (Tralić et al., 2013)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Fotos adulteradas por cópia e colagem, com versões degradadas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Imagem de 512x512 e máscara da região alterada</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PNG e JPEG</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CIC-IoT2023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 University of New Brunswick, Canadá (Neto et al., 2023)</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Tráfego de rede de 105 dispositivos IoT sob 33 ataques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Linha de atributos numéricos extraídos do tráfego</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PCAP e CSV</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CIC-MalMem-2022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 University of New Brunswick, Canadá (Carrier et al., 2022)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Memória RAM de máquinas Windows com e sem malware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Linha com 55 atributos de um dump de memória</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CSV</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3"/>
          <p:cNvSpPr/>
          <p:nvPr/>
        </p:nvSpPr>
        <p:spPr>
          <a:xfrm>
            <a:off x="609600" y="4053839"/>
            <a:ext cx="2628900" cy="650240"/>
          </a:xfrm>
          <a:prstGeom prst="roundRect">
            <a:avLst>
              <a:gd name="adj" fmla="val 15625"/>
            </a:avLst>
          </a:prstGeom>
          <a:solidFill>
            <a:srgbClr val="EAF0F5"/>
          </a:solidFill>
          <a:ln/>
        </p:spPr>
      </p:sp>
      <p:pic>
        <p:nvPicPr>
          <p:cNvPr id="8" name="Image 1" descr="Code">    </p:cNvPr>
          <p:cNvPicPr>
            <a:picLocks noChangeAspect="1"/>
          </p:cNvPicPr>
          <p:nvPr/>
        </p:nvPicPr>
        <p:blipFill>
          <a:blip r:embed="rId2"/>
          <a:srcRect l="0" r="0" t="0" b="0"/>
          <a:stretch/>
        </p:blipFill>
        <p:spPr>
          <a:xfrm>
            <a:off x="762000" y="4226561"/>
            <a:ext cx="304800" cy="304800"/>
          </a:xfrm>
          <a:prstGeom prst="rect">
            <a:avLst/>
          </a:prstGeom>
        </p:spPr>
      </p:pic>
      <p:sp>
        <p:nvSpPr>
          <p:cNvPr id="9" name="Text 4"/>
          <p:cNvSpPr/>
          <p:nvPr/>
        </p:nvSpPr>
        <p:spPr>
          <a:xfrm>
            <a:off x="1168400" y="4279900"/>
            <a:ext cx="165760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Logs: linhas de texto</a:t>
            </a:r>
            <a:endParaRPr lang="en-US" sz="1200" dirty="0"/>
          </a:p>
        </p:txBody>
      </p:sp>
      <p:sp>
        <p:nvSpPr>
          <p:cNvPr id="10" name="Shape 5"/>
          <p:cNvSpPr/>
          <p:nvPr/>
        </p:nvSpPr>
        <p:spPr>
          <a:xfrm>
            <a:off x="3390900" y="4053839"/>
            <a:ext cx="2628900" cy="650240"/>
          </a:xfrm>
          <a:prstGeom prst="roundRect">
            <a:avLst>
              <a:gd name="adj" fmla="val 15625"/>
            </a:avLst>
          </a:prstGeom>
          <a:solidFill>
            <a:srgbClr val="EAF0F5"/>
          </a:solidFill>
          <a:ln/>
        </p:spPr>
      </p:sp>
      <p:pic>
        <p:nvPicPr>
          <p:cNvPr id="11" name="Image 2" descr="Search">    </p:cNvPr>
          <p:cNvPicPr>
            <a:picLocks noChangeAspect="1"/>
          </p:cNvPicPr>
          <p:nvPr/>
        </p:nvPicPr>
        <p:blipFill>
          <a:blip r:embed="rId3"/>
          <a:srcRect l="0" r="0" t="0" b="0"/>
          <a:stretch/>
        </p:blipFill>
        <p:spPr>
          <a:xfrm>
            <a:off x="3543300" y="4226561"/>
            <a:ext cx="304800" cy="304800"/>
          </a:xfrm>
          <a:prstGeom prst="rect">
            <a:avLst/>
          </a:prstGeom>
        </p:spPr>
      </p:pic>
      <p:sp>
        <p:nvSpPr>
          <p:cNvPr id="12" name="Text 6"/>
          <p:cNvSpPr/>
          <p:nvPr/>
        </p:nvSpPr>
        <p:spPr>
          <a:xfrm>
            <a:off x="3949700" y="4279900"/>
            <a:ext cx="20701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Imagens: fotos e máscaras</a:t>
            </a:r>
            <a:endParaRPr lang="en-US" sz="1200" dirty="0"/>
          </a:p>
        </p:txBody>
      </p:sp>
      <p:sp>
        <p:nvSpPr>
          <p:cNvPr id="13" name="Shape 7"/>
          <p:cNvSpPr/>
          <p:nvPr/>
        </p:nvSpPr>
        <p:spPr>
          <a:xfrm>
            <a:off x="6172200" y="4053839"/>
            <a:ext cx="2628900" cy="650240"/>
          </a:xfrm>
          <a:prstGeom prst="roundRect">
            <a:avLst>
              <a:gd name="adj" fmla="val 15625"/>
            </a:avLst>
          </a:prstGeom>
          <a:solidFill>
            <a:srgbClr val="EAF0F5"/>
          </a:solidFill>
          <a:ln/>
        </p:spPr>
      </p:sp>
      <p:pic>
        <p:nvPicPr>
          <p:cNvPr id="14" name="Image 3" descr="Globe">    </p:cNvPr>
          <p:cNvPicPr>
            <a:picLocks noChangeAspect="1"/>
          </p:cNvPicPr>
          <p:nvPr/>
        </p:nvPicPr>
        <p:blipFill>
          <a:blip r:embed="rId4"/>
          <a:srcRect l="0" r="0" t="0" b="0"/>
          <a:stretch/>
        </p:blipFill>
        <p:spPr>
          <a:xfrm>
            <a:off x="6324600" y="4226561"/>
            <a:ext cx="304800" cy="304800"/>
          </a:xfrm>
          <a:prstGeom prst="rect">
            <a:avLst/>
          </a:prstGeom>
        </p:spPr>
      </p:pic>
      <p:sp>
        <p:nvSpPr>
          <p:cNvPr id="15" name="Text 8"/>
          <p:cNvSpPr/>
          <p:nvPr/>
        </p:nvSpPr>
        <p:spPr>
          <a:xfrm>
            <a:off x="6731000" y="4279900"/>
            <a:ext cx="20701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Rede: atributos de pacotes</a:t>
            </a:r>
            <a:endParaRPr lang="en-US" sz="1200" dirty="0"/>
          </a:p>
        </p:txBody>
      </p:sp>
      <p:sp>
        <p:nvSpPr>
          <p:cNvPr id="16" name="Shape 9"/>
          <p:cNvSpPr/>
          <p:nvPr/>
        </p:nvSpPr>
        <p:spPr>
          <a:xfrm>
            <a:off x="8953500" y="4053839"/>
            <a:ext cx="2628900" cy="650240"/>
          </a:xfrm>
          <a:prstGeom prst="roundRect">
            <a:avLst>
              <a:gd name="adj" fmla="val 15625"/>
            </a:avLst>
          </a:prstGeom>
          <a:solidFill>
            <a:srgbClr val="EAF0F5"/>
          </a:solidFill>
          <a:ln/>
        </p:spPr>
      </p:sp>
      <p:pic>
        <p:nvPicPr>
          <p:cNvPr id="17" name="Image 4" descr="Database">    </p:cNvPr>
          <p:cNvPicPr>
            <a:picLocks noChangeAspect="1"/>
          </p:cNvPicPr>
          <p:nvPr/>
        </p:nvPicPr>
        <p:blipFill>
          <a:blip r:embed="rId5"/>
          <a:srcRect l="0" r="0" t="-142" b="-142"/>
          <a:stretch/>
        </p:blipFill>
        <p:spPr>
          <a:xfrm>
            <a:off x="9105900" y="4226561"/>
            <a:ext cx="297603" cy="304800"/>
          </a:xfrm>
          <a:prstGeom prst="rect">
            <a:avLst/>
          </a:prstGeom>
        </p:spPr>
      </p:pic>
      <p:sp>
        <p:nvSpPr>
          <p:cNvPr id="18" name="Text 10"/>
          <p:cNvSpPr/>
          <p:nvPr/>
        </p:nvSpPr>
        <p:spPr>
          <a:xfrm>
            <a:off x="9505104" y="4180839"/>
            <a:ext cx="1982644"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Memória: atributos de dumps</a:t>
            </a:r>
            <a:endParaRPr lang="en-US" sz="1200" dirty="0"/>
          </a:p>
        </p:txBody>
      </p:sp>
      <p:sp>
        <p:nvSpPr>
          <p:cNvPr id="19" name="Text 11"/>
          <p:cNvSpPr/>
          <p:nvPr/>
        </p:nvSpPr>
        <p:spPr>
          <a:xfrm>
            <a:off x="609600" y="490728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Os PCAP da CIC-IoT2023 ficaram fora do estudo; da CIC-MalMem-2022 usa-se a tabela de atributos.</a:t>
            </a:r>
            <a:endParaRPr lang="en-US" sz="1200" dirty="0"/>
          </a:p>
        </p:txBody>
      </p:sp>
      <p:sp>
        <p:nvSpPr>
          <p:cNvPr id="20" name="Text 12"/>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21" name="Text 13"/>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LOGHUB</a:t>
            </a:r>
            <a:endParaRPr lang="en-US" sz="3600" dirty="0"/>
          </a:p>
        </p:txBody>
      </p:sp>
      <p:sp>
        <p:nvSpPr>
          <p:cNvPr id="5" name="Text 2"/>
          <p:cNvSpPr/>
          <p:nvPr/>
        </p:nvSpPr>
        <p:spPr>
          <a:xfrm>
            <a:off x="609600" y="886461"/>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É, QUEM CRIOU E COMO OS DADOS CHEGAM</a:t>
            </a:r>
            <a:endParaRPr lang="en-US" sz="1600" dirty="0"/>
          </a:p>
        </p:txBody>
      </p:sp>
      <p:sp>
        <p:nvSpPr>
          <p:cNvPr id="6" name="Text 3"/>
          <p:cNvSpPr/>
          <p:nvPr/>
        </p:nvSpPr>
        <p:spPr>
          <a:xfrm>
            <a:off x="609600" y="1333500"/>
            <a:ext cx="113019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Coleção pública de logs de sistemas reais, organizada pelo projeto LogPAI e descrita no artigo Loghub (ISSRE 2023). Os arquivos estão no Zenodo com licença CC-BY-4.0. O estudo usa duas partes da coleção, e cada uma marca o rótulo de um jeito.</a:t>
            </a:r>
            <a:endParaRPr lang="en-US" sz="1400" dirty="0"/>
          </a:p>
        </p:txBody>
      </p:sp>
      <p:sp>
        <p:nvSpPr>
          <p:cNvPr id="7" name="Shape 4"/>
          <p:cNvSpPr/>
          <p:nvPr/>
        </p:nvSpPr>
        <p:spPr>
          <a:xfrm>
            <a:off x="609600" y="2034539"/>
            <a:ext cx="5384800" cy="3123565"/>
          </a:xfrm>
          <a:prstGeom prst="roundRect">
            <a:avLst>
              <a:gd name="adj" fmla="val 3253"/>
            </a:avLst>
          </a:prstGeom>
          <a:solidFill>
            <a:srgbClr val="EAF0F5"/>
          </a:solidFill>
          <a:ln/>
        </p:spPr>
      </p:sp>
      <p:sp>
        <p:nvSpPr>
          <p:cNvPr id="8" name="Shape 5"/>
          <p:cNvSpPr/>
          <p:nvPr/>
        </p:nvSpPr>
        <p:spPr>
          <a:xfrm>
            <a:off x="609600" y="2034539"/>
            <a:ext cx="5384800" cy="3123565"/>
          </a:xfrm>
          <a:custGeom>
            <a:avLst/>
            <a:gdLst/>
            <a:ahLst/>
            <a:cxnLst/>
            <a:rect l="l" t="t" r="r" b="b"/>
            <a:pathLst>
              <a:path w="5384800" h="3123565">
                <a:moveTo>
                  <a:pt x="0" y="101600"/>
                </a:moveTo>
                <a:lnTo>
                  <a:pt x="0" y="101600"/>
                </a:lnTo>
                <a:arcTo hR="101600" wR="101600" stAng="10800000" swAng="5400000"/>
                <a:lnTo>
                  <a:pt x="5283200" y="0"/>
                </a:lnTo>
                <a:arcTo hR="101600" wR="101600" stAng="16200000" swAng="5400000"/>
                <a:lnTo>
                  <a:pt x="5384800" y="101600"/>
                </a:lnTo>
                <a:arcTo hR="50800" wR="101600" stAng="0" swAng="-5400000"/>
                <a:lnTo>
                  <a:pt x="101600" y="50800"/>
                </a:lnTo>
                <a:arcTo hR="50800" wR="101600" stAng="16200000" swAng="-5400000"/>
                <a:close/>
              </a:path>
            </a:pathLst>
          </a:custGeom>
          <a:solidFill>
            <a:srgbClr val="2C5070"/>
          </a:solidFill>
          <a:ln/>
        </p:spPr>
      </p:sp>
      <p:sp>
        <p:nvSpPr>
          <p:cNvPr id="9" name="Text 6"/>
          <p:cNvSpPr/>
          <p:nvPr/>
        </p:nvSpPr>
        <p:spPr>
          <a:xfrm>
            <a:off x="812800" y="2259964"/>
            <a:ext cx="5127752"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HDFS_v1</a:t>
            </a:r>
            <a:endParaRPr lang="en-US" sz="1600" dirty="0"/>
          </a:p>
        </p:txBody>
      </p:sp>
      <p:sp>
        <p:nvSpPr>
          <p:cNvPr id="10" name="Text 7"/>
          <p:cNvSpPr/>
          <p:nvPr/>
        </p:nvSpPr>
        <p:spPr>
          <a:xfrm>
            <a:off x="812800" y="2580004"/>
            <a:ext cx="2555028" cy="264160"/>
          </a:xfrm>
          <a:custGeom>
            <a:avLst/>
            <a:gdLst/>
            <a:ahLst/>
            <a:cxnLst/>
            <a:rect l="l" t="t" r="r" b="b"/>
            <a:pathLst>
              <a:path w="2555028" h="264160">
                <a:moveTo>
                  <a:pt x="132080" y="0"/>
                </a:moveTo>
                <a:lnTo>
                  <a:pt x="2422948" y="0"/>
                </a:lnTo>
                <a:arcTo hR="132080" wR="132080" stAng="16200000" swAng="5400000"/>
                <a:lnTo>
                  <a:pt x="2555028"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Rótulo por trace (bloco de dados)</a:t>
            </a:r>
            <a:endParaRPr lang="en-US" sz="1200" dirty="0"/>
          </a:p>
        </p:txBody>
      </p:sp>
      <p:sp>
        <p:nvSpPr>
          <p:cNvPr id="11" name="Text 8"/>
          <p:cNvSpPr/>
          <p:nvPr/>
        </p:nvSpPr>
        <p:spPr>
          <a:xfrm>
            <a:off x="812800" y="2920364"/>
            <a:ext cx="512775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Logs do Hadoop Distributed File System, gerados numa nuvem privada com cargas de benchmark.</a:t>
            </a:r>
            <a:endParaRPr lang="en-US" sz="1300" dirty="0"/>
          </a:p>
        </p:txBody>
      </p:sp>
      <p:sp>
        <p:nvSpPr>
          <p:cNvPr id="12" name="Text 9"/>
          <p:cNvSpPr/>
          <p:nvPr/>
        </p:nvSpPr>
        <p:spPr>
          <a:xfrm>
            <a:off x="812800" y="3458846"/>
            <a:ext cx="512775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As linhas são agrupadas por bloco de dados (BlockId). Cada grupo, chamado trace, recebeu o rótulo normal ou anomalia por regras escritas à mão.</a:t>
            </a:r>
            <a:endParaRPr lang="en-US" sz="1300" dirty="0"/>
          </a:p>
        </p:txBody>
      </p:sp>
      <p:sp>
        <p:nvSpPr>
          <p:cNvPr id="13" name="Text 10"/>
          <p:cNvSpPr/>
          <p:nvPr/>
        </p:nvSpPr>
        <p:spPr>
          <a:xfrm>
            <a:off x="812800" y="4228464"/>
            <a:ext cx="512775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Arquivos: HDFS.log em texto e CSVs prontos com templates, rótulos, traces e matriz de eventos.</a:t>
            </a:r>
            <a:endParaRPr lang="en-US" sz="1300" dirty="0"/>
          </a:p>
        </p:txBody>
      </p:sp>
      <p:sp>
        <p:nvSpPr>
          <p:cNvPr id="14" name="Text 11"/>
          <p:cNvSpPr/>
          <p:nvPr/>
        </p:nvSpPr>
        <p:spPr>
          <a:xfrm>
            <a:off x="812800" y="4766946"/>
            <a:ext cx="5127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Origem dos logs: Xu et al., SOSP 2009.</a:t>
            </a:r>
            <a:endParaRPr lang="en-US" sz="1200" dirty="0"/>
          </a:p>
        </p:txBody>
      </p:sp>
      <p:sp>
        <p:nvSpPr>
          <p:cNvPr id="15" name="Shape 12"/>
          <p:cNvSpPr/>
          <p:nvPr/>
        </p:nvSpPr>
        <p:spPr>
          <a:xfrm>
            <a:off x="6197600" y="2034539"/>
            <a:ext cx="5384800" cy="3123565"/>
          </a:xfrm>
          <a:prstGeom prst="roundRect">
            <a:avLst>
              <a:gd name="adj" fmla="val 3253"/>
            </a:avLst>
          </a:prstGeom>
          <a:solidFill>
            <a:srgbClr val="EAF0F5"/>
          </a:solidFill>
          <a:ln/>
        </p:spPr>
      </p:sp>
      <p:sp>
        <p:nvSpPr>
          <p:cNvPr id="16" name="Shape 13"/>
          <p:cNvSpPr/>
          <p:nvPr/>
        </p:nvSpPr>
        <p:spPr>
          <a:xfrm>
            <a:off x="6197600" y="2034539"/>
            <a:ext cx="5384800" cy="3123565"/>
          </a:xfrm>
          <a:custGeom>
            <a:avLst/>
            <a:gdLst/>
            <a:ahLst/>
            <a:cxnLst/>
            <a:rect l="l" t="t" r="r" b="b"/>
            <a:pathLst>
              <a:path w="5384800" h="3123565">
                <a:moveTo>
                  <a:pt x="0" y="101600"/>
                </a:moveTo>
                <a:lnTo>
                  <a:pt x="0" y="101600"/>
                </a:lnTo>
                <a:arcTo hR="101600" wR="101600" stAng="10800000" swAng="5400000"/>
                <a:lnTo>
                  <a:pt x="5283200" y="0"/>
                </a:lnTo>
                <a:arcTo hR="101600" wR="101600" stAng="16200000" swAng="5400000"/>
                <a:lnTo>
                  <a:pt x="5384800" y="101600"/>
                </a:lnTo>
                <a:arcTo hR="50800" wR="101600" stAng="0" swAng="-5400000"/>
                <a:lnTo>
                  <a:pt x="101600" y="50800"/>
                </a:lnTo>
                <a:arcTo hR="50800" wR="101600" stAng="16200000" swAng="-5400000"/>
                <a:close/>
              </a:path>
            </a:pathLst>
          </a:custGeom>
          <a:solidFill>
            <a:srgbClr val="2C5070"/>
          </a:solidFill>
          <a:ln/>
        </p:spPr>
      </p:sp>
      <p:sp>
        <p:nvSpPr>
          <p:cNvPr id="17" name="Text 14"/>
          <p:cNvSpPr/>
          <p:nvPr/>
        </p:nvSpPr>
        <p:spPr>
          <a:xfrm>
            <a:off x="6400800" y="2259964"/>
            <a:ext cx="5127752"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BGL</a:t>
            </a:r>
            <a:endParaRPr lang="en-US" sz="1600" dirty="0"/>
          </a:p>
        </p:txBody>
      </p:sp>
      <p:sp>
        <p:nvSpPr>
          <p:cNvPr id="18" name="Text 15"/>
          <p:cNvSpPr/>
          <p:nvPr/>
        </p:nvSpPr>
        <p:spPr>
          <a:xfrm>
            <a:off x="6400800" y="2580004"/>
            <a:ext cx="1330643" cy="264160"/>
          </a:xfrm>
          <a:custGeom>
            <a:avLst/>
            <a:gdLst/>
            <a:ahLst/>
            <a:cxnLst/>
            <a:rect l="l" t="t" r="r" b="b"/>
            <a:pathLst>
              <a:path w="1330643" h="264160">
                <a:moveTo>
                  <a:pt x="132080" y="0"/>
                </a:moveTo>
                <a:lnTo>
                  <a:pt x="1198563" y="0"/>
                </a:lnTo>
                <a:arcTo hR="132080" wR="132080" stAng="16200000" swAng="5400000"/>
                <a:lnTo>
                  <a:pt x="1330643"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Rótulo por linha</a:t>
            </a:r>
            <a:endParaRPr lang="en-US" sz="1200" dirty="0"/>
          </a:p>
        </p:txBody>
      </p:sp>
      <p:sp>
        <p:nvSpPr>
          <p:cNvPr id="19" name="Text 16"/>
          <p:cNvSpPr/>
          <p:nvPr/>
        </p:nvSpPr>
        <p:spPr>
          <a:xfrm>
            <a:off x="6400800" y="2920364"/>
            <a:ext cx="512775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Logs do supercomputador BlueGene/L do Lawrence Livermore National Labs (LLNL), com 131.072 processadores e 32.768 GB de memória.</a:t>
            </a:r>
            <a:endParaRPr lang="en-US" sz="1300" dirty="0"/>
          </a:p>
        </p:txBody>
      </p:sp>
      <p:sp>
        <p:nvSpPr>
          <p:cNvPr id="20" name="Text 17"/>
          <p:cNvSpPr/>
          <p:nvPr/>
        </p:nvSpPr>
        <p:spPr>
          <a:xfrm>
            <a:off x="6400800" y="3689986"/>
            <a:ext cx="512775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A primeira coluna de cada linha traz a categoria do alerta, ou o sinal - quando a mensagem não é alerta.</a:t>
            </a:r>
            <a:endParaRPr lang="en-US" sz="1300" dirty="0"/>
          </a:p>
        </p:txBody>
      </p:sp>
      <p:sp>
        <p:nvSpPr>
          <p:cNvPr id="21" name="Text 18"/>
          <p:cNvSpPr/>
          <p:nvPr/>
        </p:nvSpPr>
        <p:spPr>
          <a:xfrm>
            <a:off x="6400800" y="4228464"/>
            <a:ext cx="51277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Arquivo: BGL.log em texto, uma mensagem por linha.</a:t>
            </a:r>
            <a:endParaRPr lang="en-US" sz="1300" dirty="0"/>
          </a:p>
        </p:txBody>
      </p:sp>
      <p:sp>
        <p:nvSpPr>
          <p:cNvPr id="22" name="Text 19"/>
          <p:cNvSpPr/>
          <p:nvPr/>
        </p:nvSpPr>
        <p:spPr>
          <a:xfrm>
            <a:off x="6400800" y="4535804"/>
            <a:ext cx="5127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Origem dos logs: Oliner e Stearley, DSN 2007.</a:t>
            </a:r>
            <a:endParaRPr lang="en-US" sz="1200" dirty="0"/>
          </a:p>
        </p:txBody>
      </p:sp>
      <p:sp>
        <p:nvSpPr>
          <p:cNvPr id="23" name="Text 20"/>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24" name="Text 21"/>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LOGHUB: HDFS_V1</a:t>
            </a:r>
            <a:endParaRPr lang="en-US" sz="3600" dirty="0"/>
          </a:p>
        </p:txBody>
      </p:sp>
      <p:sp>
        <p:nvSpPr>
          <p:cNvPr id="5" name="Text 2"/>
          <p:cNvSpPr/>
          <p:nvPr/>
        </p:nvSpPr>
        <p:spPr>
          <a:xfrm>
            <a:off x="609600" y="886461"/>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ESTATÍSTICAS DOS REGISTROS</a:t>
            </a:r>
            <a:endParaRPr lang="en-US" sz="1600" dirty="0"/>
          </a:p>
        </p:txBody>
      </p:sp>
      <p:sp>
        <p:nvSpPr>
          <p:cNvPr id="6" name="Shape 3"/>
          <p:cNvSpPr/>
          <p:nvPr/>
        </p:nvSpPr>
        <p:spPr>
          <a:xfrm>
            <a:off x="609600" y="1333500"/>
            <a:ext cx="2628900" cy="1173480"/>
          </a:xfrm>
          <a:prstGeom prst="roundRect">
            <a:avLst>
              <a:gd name="adj" fmla="val 8658"/>
            </a:avLst>
          </a:prstGeom>
          <a:solidFill>
            <a:srgbClr val="EAF0F5"/>
          </a:solidFill>
          <a:ln/>
        </p:spPr>
      </p:sp>
      <p:sp>
        <p:nvSpPr>
          <p:cNvPr id="7" name="Text 4"/>
          <p:cNvSpPr/>
          <p:nvPr/>
        </p:nvSpPr>
        <p:spPr>
          <a:xfrm>
            <a:off x="7620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11.175.629</a:t>
            </a:r>
            <a:endParaRPr lang="en-US" sz="2800" dirty="0"/>
          </a:p>
        </p:txBody>
      </p:sp>
      <p:sp>
        <p:nvSpPr>
          <p:cNvPr id="8" name="Text 5"/>
          <p:cNvSpPr/>
          <p:nvPr/>
        </p:nvSpPr>
        <p:spPr>
          <a:xfrm>
            <a:off x="762000" y="1927861"/>
            <a:ext cx="23938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linhas de log (1,58 GB de texto)</a:t>
            </a:r>
            <a:endParaRPr lang="en-US" sz="1200" dirty="0"/>
          </a:p>
        </p:txBody>
      </p:sp>
      <p:sp>
        <p:nvSpPr>
          <p:cNvPr id="9" name="Shape 6"/>
          <p:cNvSpPr/>
          <p:nvPr/>
        </p:nvSpPr>
        <p:spPr>
          <a:xfrm>
            <a:off x="3390900" y="1333500"/>
            <a:ext cx="2628900" cy="1173480"/>
          </a:xfrm>
          <a:prstGeom prst="roundRect">
            <a:avLst>
              <a:gd name="adj" fmla="val 8658"/>
            </a:avLst>
          </a:prstGeom>
          <a:solidFill>
            <a:srgbClr val="EAF0F5"/>
          </a:solidFill>
          <a:ln/>
        </p:spPr>
      </p:sp>
      <p:sp>
        <p:nvSpPr>
          <p:cNvPr id="10" name="Text 7"/>
          <p:cNvSpPr/>
          <p:nvPr/>
        </p:nvSpPr>
        <p:spPr>
          <a:xfrm>
            <a:off x="35433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575.061</a:t>
            </a:r>
            <a:endParaRPr lang="en-US" sz="2800" dirty="0"/>
          </a:p>
        </p:txBody>
      </p:sp>
      <p:sp>
        <p:nvSpPr>
          <p:cNvPr id="11" name="Text 8"/>
          <p:cNvSpPr/>
          <p:nvPr/>
        </p:nvSpPr>
        <p:spPr>
          <a:xfrm>
            <a:off x="3543300" y="1927861"/>
            <a:ext cx="23938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traces, um por bloco de dados</a:t>
            </a:r>
            <a:endParaRPr lang="en-US" sz="1200" dirty="0"/>
          </a:p>
        </p:txBody>
      </p:sp>
      <p:sp>
        <p:nvSpPr>
          <p:cNvPr id="12" name="Shape 9"/>
          <p:cNvSpPr/>
          <p:nvPr/>
        </p:nvSpPr>
        <p:spPr>
          <a:xfrm>
            <a:off x="6172200" y="1333500"/>
            <a:ext cx="2628900" cy="1173480"/>
          </a:xfrm>
          <a:prstGeom prst="roundRect">
            <a:avLst>
              <a:gd name="adj" fmla="val 8658"/>
            </a:avLst>
          </a:prstGeom>
          <a:solidFill>
            <a:srgbClr val="EAF0F5"/>
          </a:solidFill>
          <a:ln/>
        </p:spPr>
      </p:sp>
      <p:sp>
        <p:nvSpPr>
          <p:cNvPr id="13" name="Text 10"/>
          <p:cNvSpPr/>
          <p:nvPr/>
        </p:nvSpPr>
        <p:spPr>
          <a:xfrm>
            <a:off x="63246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2,93%</a:t>
            </a:r>
            <a:endParaRPr lang="en-US" sz="2800" dirty="0"/>
          </a:p>
        </p:txBody>
      </p:sp>
      <p:sp>
        <p:nvSpPr>
          <p:cNvPr id="14" name="Text 11"/>
          <p:cNvSpPr/>
          <p:nvPr/>
        </p:nvSpPr>
        <p:spPr>
          <a:xfrm>
            <a:off x="6324600" y="1927861"/>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de traces anômalos: 16.838 contra 558.223 normais</a:t>
            </a:r>
            <a:endParaRPr lang="en-US" sz="1200" dirty="0"/>
          </a:p>
        </p:txBody>
      </p:sp>
      <p:sp>
        <p:nvSpPr>
          <p:cNvPr id="15" name="Shape 12"/>
          <p:cNvSpPr/>
          <p:nvPr/>
        </p:nvSpPr>
        <p:spPr>
          <a:xfrm>
            <a:off x="8953500" y="1333500"/>
            <a:ext cx="2628900" cy="1173480"/>
          </a:xfrm>
          <a:prstGeom prst="roundRect">
            <a:avLst>
              <a:gd name="adj" fmla="val 8658"/>
            </a:avLst>
          </a:prstGeom>
          <a:solidFill>
            <a:srgbClr val="EAF0F5"/>
          </a:solidFill>
          <a:ln/>
        </p:spPr>
      </p:sp>
      <p:sp>
        <p:nvSpPr>
          <p:cNvPr id="16" name="Text 13"/>
          <p:cNvSpPr/>
          <p:nvPr/>
        </p:nvSpPr>
        <p:spPr>
          <a:xfrm>
            <a:off x="91059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29</a:t>
            </a:r>
            <a:endParaRPr lang="en-US" sz="2800" dirty="0"/>
          </a:p>
        </p:txBody>
      </p:sp>
      <p:sp>
        <p:nvSpPr>
          <p:cNvPr id="17" name="Text 14"/>
          <p:cNvSpPr/>
          <p:nvPr/>
        </p:nvSpPr>
        <p:spPr>
          <a:xfrm>
            <a:off x="9105900" y="1927861"/>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tipos de evento (moldes de mensagem)</a:t>
            </a:r>
            <a:endParaRPr lang="en-US" sz="1200" dirty="0"/>
          </a:p>
        </p:txBody>
      </p:sp>
      <p:sp>
        <p:nvSpPr>
          <p:cNvPr id="18" name="Text 15"/>
          <p:cNvSpPr/>
          <p:nvPr/>
        </p:nvSpPr>
        <p:spPr>
          <a:xfrm>
            <a:off x="609600" y="2710179"/>
            <a:ext cx="536321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Composição do log</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0183" y="3040805"/>
          <a:ext cx="5196417" cy="1653117"/>
        </p:xfrm>
        <a:graphic>
          <a:graphicData uri="http://schemas.openxmlformats.org/drawingml/2006/table">
            <a:tbl>
              <a:tblPr/>
              <a:tblGrid>
                <a:gridCol w="3637492"/>
                <a:gridCol w="1558925"/>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Componente que gerou a linha</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Linhas</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dfs.FSNamesystem</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3.700.245</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dfs.DataNode$PacketResponder</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3.413.350</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dfs.DataNode$DataXceiver</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2.518.678</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dfs.FSDataset</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1.407.597</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0" name="Text 16"/>
          <p:cNvSpPr/>
          <p:nvPr/>
        </p:nvSpPr>
        <p:spPr>
          <a:xfrm>
            <a:off x="609600" y="4770121"/>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Por nível: 10.812.836 linhas INFO (96,8%) e 362.793 WARN (3,2%).</a:t>
            </a:r>
            <a:endParaRPr lang="en-US" sz="1200" dirty="0"/>
          </a:p>
        </p:txBody>
      </p:sp>
      <p:sp>
        <p:nvSpPr>
          <p:cNvPr id="21" name="Text 17"/>
          <p:cNvSpPr/>
          <p:nvPr/>
        </p:nvSpPr>
        <p:spPr>
          <a:xfrm>
            <a:off x="6121400" y="2710179"/>
            <a:ext cx="562483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Traces e padrões</a:t>
            </a:r>
            <a:endParaRPr lang="en-US" sz="1600" dirty="0"/>
          </a:p>
        </p:txBody>
      </p:sp>
      <p:sp>
        <p:nvSpPr>
          <p:cNvPr id="22" name="Text 18"/>
          <p:cNvSpPr/>
          <p:nvPr/>
        </p:nvSpPr>
        <p:spPr>
          <a:xfrm>
            <a:off x="6225794" y="3030221"/>
            <a:ext cx="5512816" cy="1914208"/>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Mediana de 19 eventos por trace normal e 20 por trace anômalo; o maior tem 298.</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Só 589 combinações distintas de eventos, ou 0,10% dos traces.</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A combinação mais comum cobre sozinha 300.395 traces (52,2%).</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204 combinações aparecem uma única vez, e 9 têm rótulos conflitantes (550 traces).</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12 dos 29 eventos só ocorrem em traces anômalos. O E7 (writeBlock received exception) está em 19,6% das anomalias.</a:t>
            </a:r>
            <a:endParaRPr lang="en-US" sz="1300" dirty="0"/>
          </a:p>
        </p:txBody>
      </p:sp>
      <p:sp>
        <p:nvSpPr>
          <p:cNvPr id="23" name="Text 19"/>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24" name="Text 20"/>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LOGHUB: BGL</a:t>
            </a:r>
            <a:endParaRPr lang="en-US" sz="3600" dirty="0"/>
          </a:p>
        </p:txBody>
      </p:sp>
      <p:sp>
        <p:nvSpPr>
          <p:cNvPr id="5" name="Text 2"/>
          <p:cNvSpPr/>
          <p:nvPr/>
        </p:nvSpPr>
        <p:spPr>
          <a:xfrm>
            <a:off x="609600" y="886461"/>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ESTATÍSTICAS DOS REGISTROS</a:t>
            </a:r>
            <a:endParaRPr lang="en-US" sz="1600" dirty="0"/>
          </a:p>
        </p:txBody>
      </p:sp>
      <p:sp>
        <p:nvSpPr>
          <p:cNvPr id="6" name="Shape 3"/>
          <p:cNvSpPr/>
          <p:nvPr/>
        </p:nvSpPr>
        <p:spPr>
          <a:xfrm>
            <a:off x="609600" y="1333500"/>
            <a:ext cx="2628900" cy="1173480"/>
          </a:xfrm>
          <a:prstGeom prst="roundRect">
            <a:avLst>
              <a:gd name="adj" fmla="val 8658"/>
            </a:avLst>
          </a:prstGeom>
          <a:solidFill>
            <a:srgbClr val="EAF0F5"/>
          </a:solidFill>
          <a:ln/>
        </p:spPr>
      </p:sp>
      <p:sp>
        <p:nvSpPr>
          <p:cNvPr id="7" name="Text 4"/>
          <p:cNvSpPr/>
          <p:nvPr/>
        </p:nvSpPr>
        <p:spPr>
          <a:xfrm>
            <a:off x="7620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4.747.963</a:t>
            </a:r>
            <a:endParaRPr lang="en-US" sz="2800" dirty="0"/>
          </a:p>
        </p:txBody>
      </p:sp>
      <p:sp>
        <p:nvSpPr>
          <p:cNvPr id="8" name="Text 5"/>
          <p:cNvSpPr/>
          <p:nvPr/>
        </p:nvSpPr>
        <p:spPr>
          <a:xfrm>
            <a:off x="762000" y="1927861"/>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linhas (0,74 GB), de 03/06/2005 a 04/01/2006</a:t>
            </a:r>
            <a:endParaRPr lang="en-US" sz="1200" dirty="0"/>
          </a:p>
        </p:txBody>
      </p:sp>
      <p:sp>
        <p:nvSpPr>
          <p:cNvPr id="9" name="Shape 6"/>
          <p:cNvSpPr/>
          <p:nvPr/>
        </p:nvSpPr>
        <p:spPr>
          <a:xfrm>
            <a:off x="3390900" y="1333500"/>
            <a:ext cx="2628900" cy="1173480"/>
          </a:xfrm>
          <a:prstGeom prst="roundRect">
            <a:avLst>
              <a:gd name="adj" fmla="val 8658"/>
            </a:avLst>
          </a:prstGeom>
          <a:solidFill>
            <a:srgbClr val="EAF0F5"/>
          </a:solidFill>
          <a:ln/>
        </p:spPr>
      </p:sp>
      <p:sp>
        <p:nvSpPr>
          <p:cNvPr id="10" name="Text 7"/>
          <p:cNvSpPr/>
          <p:nvPr/>
        </p:nvSpPr>
        <p:spPr>
          <a:xfrm>
            <a:off x="35433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348.460</a:t>
            </a:r>
            <a:endParaRPr lang="en-US" sz="2800" dirty="0"/>
          </a:p>
        </p:txBody>
      </p:sp>
      <p:sp>
        <p:nvSpPr>
          <p:cNvPr id="11" name="Text 8"/>
          <p:cNvSpPr/>
          <p:nvPr/>
        </p:nvSpPr>
        <p:spPr>
          <a:xfrm>
            <a:off x="3543300" y="1927861"/>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linhas de alerta (7,34%), 12,6 comuns por alerta</a:t>
            </a:r>
            <a:endParaRPr lang="en-US" sz="1200" dirty="0"/>
          </a:p>
        </p:txBody>
      </p:sp>
      <p:sp>
        <p:nvSpPr>
          <p:cNvPr id="12" name="Shape 9"/>
          <p:cNvSpPr/>
          <p:nvPr/>
        </p:nvSpPr>
        <p:spPr>
          <a:xfrm>
            <a:off x="6172200" y="1333500"/>
            <a:ext cx="2628900" cy="1173480"/>
          </a:xfrm>
          <a:prstGeom prst="roundRect">
            <a:avLst>
              <a:gd name="adj" fmla="val 8658"/>
            </a:avLst>
          </a:prstGeom>
          <a:solidFill>
            <a:srgbClr val="EAF0F5"/>
          </a:solidFill>
          <a:ln/>
        </p:spPr>
      </p:sp>
      <p:sp>
        <p:nvSpPr>
          <p:cNvPr id="13" name="Text 10"/>
          <p:cNvSpPr/>
          <p:nvPr/>
        </p:nvSpPr>
        <p:spPr>
          <a:xfrm>
            <a:off x="63246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41</a:t>
            </a:r>
            <a:endParaRPr lang="en-US" sz="2800" dirty="0"/>
          </a:p>
        </p:txBody>
      </p:sp>
      <p:sp>
        <p:nvSpPr>
          <p:cNvPr id="14" name="Text 11"/>
          <p:cNvSpPr/>
          <p:nvPr/>
        </p:nvSpPr>
        <p:spPr>
          <a:xfrm>
            <a:off x="6324600" y="1927861"/>
            <a:ext cx="23938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categorias de alerta</a:t>
            </a:r>
            <a:endParaRPr lang="en-US" sz="1200" dirty="0"/>
          </a:p>
        </p:txBody>
      </p:sp>
      <p:sp>
        <p:nvSpPr>
          <p:cNvPr id="15" name="Shape 12"/>
          <p:cNvSpPr/>
          <p:nvPr/>
        </p:nvSpPr>
        <p:spPr>
          <a:xfrm>
            <a:off x="8953500" y="1333500"/>
            <a:ext cx="2628900" cy="1173480"/>
          </a:xfrm>
          <a:prstGeom prst="roundRect">
            <a:avLst>
              <a:gd name="adj" fmla="val 8658"/>
            </a:avLst>
          </a:prstGeom>
          <a:solidFill>
            <a:srgbClr val="EAF0F5"/>
          </a:solidFill>
          <a:ln/>
        </p:spPr>
      </p:sp>
      <p:sp>
        <p:nvSpPr>
          <p:cNvPr id="16" name="Text 13"/>
          <p:cNvSpPr/>
          <p:nvPr/>
        </p:nvSpPr>
        <p:spPr>
          <a:xfrm>
            <a:off x="91059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69.252</a:t>
            </a:r>
            <a:endParaRPr lang="en-US" sz="2800" dirty="0"/>
          </a:p>
        </p:txBody>
      </p:sp>
      <p:sp>
        <p:nvSpPr>
          <p:cNvPr id="17" name="Text 14"/>
          <p:cNvSpPr/>
          <p:nvPr/>
        </p:nvSpPr>
        <p:spPr>
          <a:xfrm>
            <a:off x="9105900" y="1927861"/>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nós do supercomputador que geraram linhas</a:t>
            </a:r>
            <a:endParaRPr lang="en-US" sz="1200" dirty="0"/>
          </a:p>
        </p:txBody>
      </p:sp>
      <p:sp>
        <p:nvSpPr>
          <p:cNvPr id="18" name="Text 15"/>
          <p:cNvSpPr/>
          <p:nvPr/>
        </p:nvSpPr>
        <p:spPr>
          <a:xfrm>
            <a:off x="609600" y="2710179"/>
            <a:ext cx="562483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Categorias de alerta mais frequentes</a:t>
            </a:r>
            <a:endParaRPr lang="en-US" sz="1600" dirty="0"/>
          </a:p>
        </p:txBody>
      </p:sp>
      <p:sp>
        <p:nvSpPr>
          <p:cNvPr id="19" name="Text 16"/>
          <p:cNvSpPr/>
          <p:nvPr/>
        </p:nvSpPr>
        <p:spPr>
          <a:xfrm>
            <a:off x="609600" y="3037839"/>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KERNDTLB</a:t>
            </a:r>
            <a:endParaRPr lang="en-US" sz="1200" dirty="0"/>
          </a:p>
        </p:txBody>
      </p:sp>
      <p:sp>
        <p:nvSpPr>
          <p:cNvPr id="20" name="Shape 17"/>
          <p:cNvSpPr/>
          <p:nvPr/>
        </p:nvSpPr>
        <p:spPr>
          <a:xfrm>
            <a:off x="1854200" y="3030221"/>
            <a:ext cx="2667000" cy="228600"/>
          </a:xfrm>
          <a:prstGeom prst="rect">
            <a:avLst/>
          </a:prstGeom>
          <a:solidFill>
            <a:srgbClr val="2C5070"/>
          </a:solidFill>
          <a:ln/>
        </p:spPr>
      </p:sp>
      <p:sp>
        <p:nvSpPr>
          <p:cNvPr id="21" name="Text 18"/>
          <p:cNvSpPr/>
          <p:nvPr/>
        </p:nvSpPr>
        <p:spPr>
          <a:xfrm>
            <a:off x="4622800" y="3037839"/>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152.734 (3,22%)</a:t>
            </a:r>
            <a:endParaRPr lang="en-US" sz="1200" dirty="0"/>
          </a:p>
        </p:txBody>
      </p:sp>
      <p:sp>
        <p:nvSpPr>
          <p:cNvPr id="22" name="Text 19"/>
          <p:cNvSpPr/>
          <p:nvPr/>
        </p:nvSpPr>
        <p:spPr>
          <a:xfrm>
            <a:off x="609600" y="3342639"/>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KERNSTOR</a:t>
            </a:r>
            <a:endParaRPr lang="en-US" sz="1200" dirty="0"/>
          </a:p>
        </p:txBody>
      </p:sp>
      <p:sp>
        <p:nvSpPr>
          <p:cNvPr id="23" name="Shape 20"/>
          <p:cNvSpPr/>
          <p:nvPr/>
        </p:nvSpPr>
        <p:spPr>
          <a:xfrm>
            <a:off x="1854200" y="3335021"/>
            <a:ext cx="2667000" cy="228600"/>
          </a:xfrm>
          <a:prstGeom prst="rect">
            <a:avLst/>
          </a:prstGeom>
          <a:solidFill>
            <a:srgbClr val="DCE5EE"/>
          </a:solidFill>
          <a:ln/>
        </p:spPr>
      </p:sp>
      <p:sp>
        <p:nvSpPr>
          <p:cNvPr id="24" name="Shape 21"/>
          <p:cNvSpPr/>
          <p:nvPr/>
        </p:nvSpPr>
        <p:spPr>
          <a:xfrm>
            <a:off x="1854200" y="3335021"/>
            <a:ext cx="1111250" cy="228600"/>
          </a:xfrm>
          <a:prstGeom prst="rect">
            <a:avLst/>
          </a:prstGeom>
          <a:solidFill>
            <a:srgbClr val="2C5070"/>
          </a:solidFill>
          <a:ln/>
        </p:spPr>
      </p:sp>
      <p:sp>
        <p:nvSpPr>
          <p:cNvPr id="25" name="Text 22"/>
          <p:cNvSpPr/>
          <p:nvPr/>
        </p:nvSpPr>
        <p:spPr>
          <a:xfrm>
            <a:off x="4622800" y="3342639"/>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63.491 (1,34%)</a:t>
            </a:r>
            <a:endParaRPr lang="en-US" sz="1200" dirty="0"/>
          </a:p>
        </p:txBody>
      </p:sp>
      <p:sp>
        <p:nvSpPr>
          <p:cNvPr id="26" name="Text 23"/>
          <p:cNvSpPr/>
          <p:nvPr/>
        </p:nvSpPr>
        <p:spPr>
          <a:xfrm>
            <a:off x="609600" y="3647439"/>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APPSEV</a:t>
            </a:r>
            <a:endParaRPr lang="en-US" sz="1200" dirty="0"/>
          </a:p>
        </p:txBody>
      </p:sp>
      <p:sp>
        <p:nvSpPr>
          <p:cNvPr id="27" name="Shape 24"/>
          <p:cNvSpPr/>
          <p:nvPr/>
        </p:nvSpPr>
        <p:spPr>
          <a:xfrm>
            <a:off x="1854200" y="3639821"/>
            <a:ext cx="2667000" cy="228600"/>
          </a:xfrm>
          <a:prstGeom prst="rect">
            <a:avLst/>
          </a:prstGeom>
          <a:solidFill>
            <a:srgbClr val="DCE5EE"/>
          </a:solidFill>
          <a:ln/>
        </p:spPr>
      </p:sp>
      <p:sp>
        <p:nvSpPr>
          <p:cNvPr id="28" name="Shape 25"/>
          <p:cNvSpPr/>
          <p:nvPr/>
        </p:nvSpPr>
        <p:spPr>
          <a:xfrm>
            <a:off x="1854200" y="3639821"/>
            <a:ext cx="869950" cy="228600"/>
          </a:xfrm>
          <a:prstGeom prst="rect">
            <a:avLst/>
          </a:prstGeom>
          <a:solidFill>
            <a:srgbClr val="2C5070"/>
          </a:solidFill>
          <a:ln/>
        </p:spPr>
      </p:sp>
      <p:sp>
        <p:nvSpPr>
          <p:cNvPr id="29" name="Text 26"/>
          <p:cNvSpPr/>
          <p:nvPr/>
        </p:nvSpPr>
        <p:spPr>
          <a:xfrm>
            <a:off x="4622800" y="3647439"/>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49.651 (1,05%)</a:t>
            </a:r>
            <a:endParaRPr lang="en-US" sz="1200" dirty="0"/>
          </a:p>
        </p:txBody>
      </p:sp>
      <p:sp>
        <p:nvSpPr>
          <p:cNvPr id="30" name="Text 27"/>
          <p:cNvSpPr/>
          <p:nvPr/>
        </p:nvSpPr>
        <p:spPr>
          <a:xfrm>
            <a:off x="609600" y="3952239"/>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KERNMNTF</a:t>
            </a:r>
            <a:endParaRPr lang="en-US" sz="1200" dirty="0"/>
          </a:p>
        </p:txBody>
      </p:sp>
      <p:sp>
        <p:nvSpPr>
          <p:cNvPr id="31" name="Shape 28"/>
          <p:cNvSpPr/>
          <p:nvPr/>
        </p:nvSpPr>
        <p:spPr>
          <a:xfrm>
            <a:off x="1854200" y="3944621"/>
            <a:ext cx="2667000" cy="228600"/>
          </a:xfrm>
          <a:prstGeom prst="rect">
            <a:avLst/>
          </a:prstGeom>
          <a:solidFill>
            <a:srgbClr val="DCE5EE"/>
          </a:solidFill>
          <a:ln/>
        </p:spPr>
      </p:sp>
      <p:sp>
        <p:nvSpPr>
          <p:cNvPr id="32" name="Shape 29"/>
          <p:cNvSpPr/>
          <p:nvPr/>
        </p:nvSpPr>
        <p:spPr>
          <a:xfrm>
            <a:off x="1854200" y="3944621"/>
            <a:ext cx="552450" cy="228600"/>
          </a:xfrm>
          <a:prstGeom prst="rect">
            <a:avLst/>
          </a:prstGeom>
          <a:solidFill>
            <a:srgbClr val="2C5070"/>
          </a:solidFill>
          <a:ln/>
        </p:spPr>
      </p:sp>
      <p:sp>
        <p:nvSpPr>
          <p:cNvPr id="33" name="Text 30"/>
          <p:cNvSpPr/>
          <p:nvPr/>
        </p:nvSpPr>
        <p:spPr>
          <a:xfrm>
            <a:off x="4622800" y="3952239"/>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31.531 (0,66%)</a:t>
            </a:r>
            <a:endParaRPr lang="en-US" sz="1200" dirty="0"/>
          </a:p>
        </p:txBody>
      </p:sp>
      <p:sp>
        <p:nvSpPr>
          <p:cNvPr id="34" name="Text 31"/>
          <p:cNvSpPr/>
          <p:nvPr/>
        </p:nvSpPr>
        <p:spPr>
          <a:xfrm>
            <a:off x="609600" y="4257039"/>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KERNTERM</a:t>
            </a:r>
            <a:endParaRPr lang="en-US" sz="1200" dirty="0"/>
          </a:p>
        </p:txBody>
      </p:sp>
      <p:sp>
        <p:nvSpPr>
          <p:cNvPr id="35" name="Shape 32"/>
          <p:cNvSpPr/>
          <p:nvPr/>
        </p:nvSpPr>
        <p:spPr>
          <a:xfrm>
            <a:off x="1854200" y="4249421"/>
            <a:ext cx="2667000" cy="228600"/>
          </a:xfrm>
          <a:prstGeom prst="rect">
            <a:avLst/>
          </a:prstGeom>
          <a:solidFill>
            <a:srgbClr val="DCE5EE"/>
          </a:solidFill>
          <a:ln/>
        </p:spPr>
      </p:sp>
      <p:sp>
        <p:nvSpPr>
          <p:cNvPr id="36" name="Shape 33"/>
          <p:cNvSpPr/>
          <p:nvPr/>
        </p:nvSpPr>
        <p:spPr>
          <a:xfrm>
            <a:off x="1854200" y="4249421"/>
            <a:ext cx="406400" cy="228600"/>
          </a:xfrm>
          <a:prstGeom prst="rect">
            <a:avLst/>
          </a:prstGeom>
          <a:solidFill>
            <a:srgbClr val="2C5070"/>
          </a:solidFill>
          <a:ln/>
        </p:spPr>
      </p:sp>
      <p:sp>
        <p:nvSpPr>
          <p:cNvPr id="37" name="Text 34"/>
          <p:cNvSpPr/>
          <p:nvPr/>
        </p:nvSpPr>
        <p:spPr>
          <a:xfrm>
            <a:off x="4622800" y="4257039"/>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23.338 (0,49%)</a:t>
            </a:r>
            <a:endParaRPr lang="en-US" sz="1200" dirty="0"/>
          </a:p>
        </p:txBody>
      </p:sp>
      <p:sp>
        <p:nvSpPr>
          <p:cNvPr id="38" name="Text 35"/>
          <p:cNvSpPr/>
          <p:nvPr/>
        </p:nvSpPr>
        <p:spPr>
          <a:xfrm>
            <a:off x="6375400" y="2710179"/>
            <a:ext cx="536321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Nível da mensagem</a:t>
            </a:r>
            <a:endParaRPr lang="en-US" sz="1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385983" y="3040805"/>
          <a:ext cx="5196417" cy="1653117"/>
        </p:xfrm>
        <a:graphic>
          <a:graphicData uri="http://schemas.openxmlformats.org/drawingml/2006/table">
            <a:tbl>
              <a:tblPr/>
              <a:tblGrid>
                <a:gridCol w="1558925"/>
                <a:gridCol w="1818746"/>
                <a:gridCol w="1818746"/>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Nível</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Linhas</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São alerta</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INFO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3.701.880</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0%</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FATAL</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854.658</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40,76%</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ERROR</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112.355</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0%</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FAILURE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1.714</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3,62%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0" name="Text 36"/>
          <p:cNvSpPr/>
          <p:nvPr/>
        </p:nvSpPr>
        <p:spPr>
          <a:xfrm>
            <a:off x="609600" y="4897121"/>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Anatomia de uma linha do BGL</a:t>
            </a:r>
            <a:endParaRPr lang="en-US" sz="1200" dirty="0"/>
          </a:p>
        </p:txBody>
      </p:sp>
      <p:sp>
        <p:nvSpPr>
          <p:cNvPr id="41" name="Text 37"/>
          <p:cNvSpPr/>
          <p:nvPr/>
        </p:nvSpPr>
        <p:spPr>
          <a:xfrm>
            <a:off x="609600" y="5173979"/>
            <a:ext cx="388091" cy="289560"/>
          </a:xfrm>
          <a:prstGeom prst="roundRect">
            <a:avLst>
              <a:gd name="adj" fmla="val 17544"/>
            </a:avLst>
          </a:prstGeom>
          <a:solidFill>
            <a:srgbClr val="EAF0F5"/>
          </a:solidFill>
          <a:ln/>
        </p:spPr>
        <p:txBody>
          <a:bodyPr wrap="square" lIns="61321" tIns="23221" rIns="10521" bIns="0" rtlCol="0" anchor="t">
            <a:normAutofit/>
          </a:bodyPr>
          <a:lstStyle/>
          <a:p>
            <a:pPr algn="l"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a:t>
            </a:r>
            <a:endParaRPr lang="en-US" sz="1200" dirty="0"/>
          </a:p>
        </p:txBody>
      </p:sp>
      <p:sp>
        <p:nvSpPr>
          <p:cNvPr id="42" name="Text 38"/>
          <p:cNvSpPr/>
          <p:nvPr/>
        </p:nvSpPr>
        <p:spPr>
          <a:xfrm>
            <a:off x="609600" y="5501639"/>
            <a:ext cx="4642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rótulo</a:t>
            </a:r>
            <a:endParaRPr lang="en-US" sz="1200" dirty="0"/>
          </a:p>
        </p:txBody>
      </p:sp>
      <p:sp>
        <p:nvSpPr>
          <p:cNvPr id="43" name="Text 39"/>
          <p:cNvSpPr/>
          <p:nvPr/>
        </p:nvSpPr>
        <p:spPr>
          <a:xfrm>
            <a:off x="1073891" y="5173979"/>
            <a:ext cx="1066800" cy="289560"/>
          </a:xfrm>
          <a:prstGeom prst="roundRect">
            <a:avLst>
              <a:gd name="adj" fmla="val 17544"/>
            </a:avLst>
          </a:prstGeom>
          <a:solidFill>
            <a:srgbClr val="EAF0F5"/>
          </a:solidFill>
          <a:ln/>
        </p:spPr>
        <p:txBody>
          <a:bodyPr wrap="none" lIns="0" tIns="0" rIns="0" bIns="0" rtlCol="0" anchor="ctr">
            <a:normAutofit/>
          </a:bodyPr>
          <a:lstStyle/>
          <a:p>
            <a:pPr algn="ctr"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1117838570</a:t>
            </a:r>
            <a:endParaRPr lang="en-US" sz="1200" dirty="0"/>
          </a:p>
        </p:txBody>
      </p:sp>
      <p:sp>
        <p:nvSpPr>
          <p:cNvPr id="44" name="Text 40"/>
          <p:cNvSpPr/>
          <p:nvPr/>
        </p:nvSpPr>
        <p:spPr>
          <a:xfrm>
            <a:off x="1073891" y="5501639"/>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horário (epoch)</a:t>
            </a:r>
            <a:endParaRPr lang="en-US" sz="1200" dirty="0"/>
          </a:p>
        </p:txBody>
      </p:sp>
      <p:sp>
        <p:nvSpPr>
          <p:cNvPr id="45" name="Text 41"/>
          <p:cNvSpPr/>
          <p:nvPr/>
        </p:nvSpPr>
        <p:spPr>
          <a:xfrm>
            <a:off x="2216891" y="5173979"/>
            <a:ext cx="1889760" cy="289560"/>
          </a:xfrm>
          <a:prstGeom prst="roundRect">
            <a:avLst>
              <a:gd name="adj" fmla="val 17544"/>
            </a:avLst>
          </a:prstGeom>
          <a:solidFill>
            <a:srgbClr val="EAF0F5"/>
          </a:solidFill>
          <a:ln/>
        </p:spPr>
        <p:txBody>
          <a:bodyPr wrap="none" lIns="0" tIns="0" rIns="0" bIns="0" rtlCol="0" anchor="ctr">
            <a:normAutofit/>
          </a:bodyPr>
          <a:lstStyle/>
          <a:p>
            <a:pPr algn="ctr"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R02-M1-N0-C:J12-U11</a:t>
            </a:r>
            <a:endParaRPr lang="en-US" sz="1200" dirty="0"/>
          </a:p>
        </p:txBody>
      </p:sp>
      <p:sp>
        <p:nvSpPr>
          <p:cNvPr id="46" name="Text 42"/>
          <p:cNvSpPr/>
          <p:nvPr/>
        </p:nvSpPr>
        <p:spPr>
          <a:xfrm>
            <a:off x="2216891" y="5501639"/>
            <a:ext cx="19464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nó</a:t>
            </a:r>
            <a:endParaRPr lang="en-US" sz="1200" dirty="0"/>
          </a:p>
        </p:txBody>
      </p:sp>
      <p:sp>
        <p:nvSpPr>
          <p:cNvPr id="47" name="Text 43"/>
          <p:cNvSpPr/>
          <p:nvPr/>
        </p:nvSpPr>
        <p:spPr>
          <a:xfrm>
            <a:off x="4182851" y="5173979"/>
            <a:ext cx="426720" cy="289560"/>
          </a:xfrm>
          <a:prstGeom prst="roundRect">
            <a:avLst>
              <a:gd name="adj" fmla="val 17544"/>
            </a:avLst>
          </a:prstGeom>
          <a:solidFill>
            <a:srgbClr val="EAF0F5"/>
          </a:solidFill>
          <a:ln/>
        </p:spPr>
        <p:txBody>
          <a:bodyPr wrap="none" lIns="0" tIns="0" rIns="0" bIns="0" rtlCol="0" anchor="ctr">
            <a:normAutofit/>
          </a:bodyPr>
          <a:lstStyle/>
          <a:p>
            <a:pPr algn="ctr"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RAS</a:t>
            </a:r>
            <a:endParaRPr lang="en-US" sz="1200" dirty="0"/>
          </a:p>
        </p:txBody>
      </p:sp>
      <p:sp>
        <p:nvSpPr>
          <p:cNvPr id="48" name="Text 44"/>
          <p:cNvSpPr/>
          <p:nvPr/>
        </p:nvSpPr>
        <p:spPr>
          <a:xfrm>
            <a:off x="4182851" y="5501639"/>
            <a:ext cx="4775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tipo</a:t>
            </a:r>
            <a:endParaRPr lang="en-US" sz="1200" dirty="0"/>
          </a:p>
        </p:txBody>
      </p:sp>
      <p:sp>
        <p:nvSpPr>
          <p:cNvPr id="49" name="Text 45"/>
          <p:cNvSpPr/>
          <p:nvPr/>
        </p:nvSpPr>
        <p:spPr>
          <a:xfrm>
            <a:off x="4685771" y="5173979"/>
            <a:ext cx="854181" cy="289560"/>
          </a:xfrm>
          <a:prstGeom prst="roundRect">
            <a:avLst>
              <a:gd name="adj" fmla="val 17544"/>
            </a:avLst>
          </a:prstGeom>
          <a:solidFill>
            <a:srgbClr val="EAF0F5"/>
          </a:solidFill>
          <a:ln/>
        </p:spPr>
        <p:txBody>
          <a:bodyPr wrap="square" lIns="61321" tIns="23221" rIns="10521" bIns="0" rtlCol="0" anchor="t">
            <a:normAutofit/>
          </a:bodyPr>
          <a:lstStyle/>
          <a:p>
            <a:pPr algn="l"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KERNEL</a:t>
            </a:r>
            <a:endParaRPr lang="en-US" sz="1200" dirty="0"/>
          </a:p>
        </p:txBody>
      </p:sp>
      <p:sp>
        <p:nvSpPr>
          <p:cNvPr id="50" name="Text 46"/>
          <p:cNvSpPr/>
          <p:nvPr/>
        </p:nvSpPr>
        <p:spPr>
          <a:xfrm>
            <a:off x="4685771" y="5501639"/>
            <a:ext cx="9303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componente</a:t>
            </a:r>
            <a:endParaRPr lang="en-US" sz="1200" dirty="0"/>
          </a:p>
        </p:txBody>
      </p:sp>
      <p:sp>
        <p:nvSpPr>
          <p:cNvPr id="51" name="Text 47"/>
          <p:cNvSpPr/>
          <p:nvPr/>
        </p:nvSpPr>
        <p:spPr>
          <a:xfrm>
            <a:off x="5616152" y="5173979"/>
            <a:ext cx="518160" cy="289560"/>
          </a:xfrm>
          <a:prstGeom prst="roundRect">
            <a:avLst>
              <a:gd name="adj" fmla="val 17544"/>
            </a:avLst>
          </a:prstGeom>
          <a:solidFill>
            <a:srgbClr val="EAF0F5"/>
          </a:solidFill>
          <a:ln/>
        </p:spPr>
        <p:txBody>
          <a:bodyPr wrap="none" lIns="0" tIns="0" rIns="0" bIns="0" rtlCol="0" anchor="ctr">
            <a:normAutofit/>
          </a:bodyPr>
          <a:lstStyle/>
          <a:p>
            <a:pPr algn="ctr"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INFO</a:t>
            </a:r>
            <a:endParaRPr lang="en-US" sz="1200" dirty="0"/>
          </a:p>
        </p:txBody>
      </p:sp>
      <p:sp>
        <p:nvSpPr>
          <p:cNvPr id="52" name="Text 48"/>
          <p:cNvSpPr/>
          <p:nvPr/>
        </p:nvSpPr>
        <p:spPr>
          <a:xfrm>
            <a:off x="5616152" y="5501639"/>
            <a:ext cx="568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nível</a:t>
            </a:r>
            <a:endParaRPr lang="en-US" sz="1200" dirty="0"/>
          </a:p>
        </p:txBody>
      </p:sp>
      <p:sp>
        <p:nvSpPr>
          <p:cNvPr id="53" name="Text 49"/>
          <p:cNvSpPr/>
          <p:nvPr/>
        </p:nvSpPr>
        <p:spPr>
          <a:xfrm>
            <a:off x="6210512" y="5173979"/>
            <a:ext cx="3810000" cy="289560"/>
          </a:xfrm>
          <a:prstGeom prst="roundRect">
            <a:avLst>
              <a:gd name="adj" fmla="val 17544"/>
            </a:avLst>
          </a:prstGeom>
          <a:solidFill>
            <a:srgbClr val="EAF0F5"/>
          </a:solidFill>
          <a:ln/>
        </p:spPr>
        <p:txBody>
          <a:bodyPr wrap="none" lIns="0" tIns="0" rIns="0" bIns="0" rtlCol="0" anchor="ctr">
            <a:normAutofit/>
          </a:bodyPr>
          <a:lstStyle/>
          <a:p>
            <a:pPr algn="ctr" indent="0" marL="0">
              <a:lnSpc>
                <a:spcPts val="1680"/>
              </a:lnSpc>
              <a:buNone/>
            </a:pPr>
            <a:r>
              <a:rPr lang="en-US" sz="1200" dirty="0">
                <a:solidFill>
                  <a:srgbClr val="1E5474"/>
                </a:solidFill>
                <a:latin typeface="Courier New" pitchFamily="49" charset="0"/>
                <a:ea typeface="Courier New" pitchFamily="49" charset="-122"/>
                <a:cs typeface="Courier New" pitchFamily="49" charset="-120"/>
              </a:rPr>
              <a:t>instruction cache parity error corrected</a:t>
            </a:r>
            <a:endParaRPr lang="en-US" sz="1200" dirty="0"/>
          </a:p>
        </p:txBody>
      </p:sp>
      <p:sp>
        <p:nvSpPr>
          <p:cNvPr id="54" name="Text 50"/>
          <p:cNvSpPr/>
          <p:nvPr/>
        </p:nvSpPr>
        <p:spPr>
          <a:xfrm>
            <a:off x="6210512" y="550163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mensagem</a:t>
            </a:r>
            <a:endParaRPr lang="en-US" sz="1200" dirty="0"/>
          </a:p>
        </p:txBody>
      </p:sp>
      <p:sp>
        <p:nvSpPr>
          <p:cNvPr id="55" name="Text 51"/>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56" name="Text 52"/>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LOGHUB: RESULTADOS</a:t>
            </a:r>
            <a:endParaRPr lang="en-US" sz="3600" dirty="0"/>
          </a:p>
        </p:txBody>
      </p:sp>
      <p:sp>
        <p:nvSpPr>
          <p:cNvPr id="5" name="Text 2"/>
          <p:cNvSpPr/>
          <p:nvPr/>
        </p:nvSpPr>
        <p:spPr>
          <a:xfrm>
            <a:off x="609600" y="886461"/>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A ANÁLISE EXPLORATÓRIA INICIAL REVELOU</a:t>
            </a:r>
            <a:endParaRPr lang="en-US" sz="1600" dirty="0"/>
          </a:p>
        </p:txBody>
      </p:sp>
      <p:sp>
        <p:nvSpPr>
          <p:cNvPr id="6" name="Shape 3"/>
          <p:cNvSpPr/>
          <p:nvPr/>
        </p:nvSpPr>
        <p:spPr>
          <a:xfrm>
            <a:off x="609600" y="1333500"/>
            <a:ext cx="5334000" cy="3169920"/>
          </a:xfrm>
          <a:prstGeom prst="roundRect">
            <a:avLst>
              <a:gd name="adj" fmla="val 3205"/>
            </a:avLst>
          </a:prstGeom>
          <a:solidFill>
            <a:srgbClr val="EAF0F5"/>
          </a:solidFill>
          <a:ln/>
        </p:spPr>
      </p:sp>
      <p:sp>
        <p:nvSpPr>
          <p:cNvPr id="7" name="Text 4"/>
          <p:cNvSpPr/>
          <p:nvPr/>
        </p:nvSpPr>
        <p:spPr>
          <a:xfrm>
            <a:off x="812800" y="1511300"/>
            <a:ext cx="5075428" cy="51308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HDFS_v1: o F1 depende de como se separa o teste</a:t>
            </a:r>
            <a:endParaRPr lang="en-US" sz="1600" dirty="0"/>
          </a:p>
        </p:txBody>
      </p:sp>
      <p:sp>
        <p:nvSpPr>
          <p:cNvPr id="8" name="Text 5"/>
          <p:cNvSpPr/>
          <p:nvPr/>
        </p:nvSpPr>
        <p:spPr>
          <a:xfrm>
            <a:off x="812800" y="2100579"/>
            <a:ext cx="5075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Divisão aleatória dos traces</a:t>
            </a:r>
            <a:endParaRPr lang="en-US" sz="1200" dirty="0"/>
          </a:p>
        </p:txBody>
      </p:sp>
      <p:sp>
        <p:nvSpPr>
          <p:cNvPr id="9" name="Shape 6"/>
          <p:cNvSpPr/>
          <p:nvPr/>
        </p:nvSpPr>
        <p:spPr>
          <a:xfrm>
            <a:off x="812800" y="2379979"/>
            <a:ext cx="3302000" cy="254000"/>
          </a:xfrm>
          <a:prstGeom prst="rect">
            <a:avLst/>
          </a:prstGeom>
          <a:solidFill>
            <a:srgbClr val="DCE5EE"/>
          </a:solidFill>
          <a:ln/>
        </p:spPr>
      </p:sp>
      <p:sp>
        <p:nvSpPr>
          <p:cNvPr id="10" name="Shape 7"/>
          <p:cNvSpPr/>
          <p:nvPr/>
        </p:nvSpPr>
        <p:spPr>
          <a:xfrm>
            <a:off x="812800" y="2379979"/>
            <a:ext cx="3295650" cy="254000"/>
          </a:xfrm>
          <a:prstGeom prst="rect">
            <a:avLst/>
          </a:prstGeom>
          <a:solidFill>
            <a:srgbClr val="8FA9BF"/>
          </a:solidFill>
          <a:ln/>
        </p:spPr>
      </p:sp>
      <p:sp>
        <p:nvSpPr>
          <p:cNvPr id="11" name="Text 8"/>
          <p:cNvSpPr/>
          <p:nvPr/>
        </p:nvSpPr>
        <p:spPr>
          <a:xfrm>
            <a:off x="4216400" y="2364739"/>
            <a:ext cx="62687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0,999</a:t>
            </a:r>
            <a:endParaRPr lang="en-US" sz="1600" dirty="0"/>
          </a:p>
        </p:txBody>
      </p:sp>
      <p:sp>
        <p:nvSpPr>
          <p:cNvPr id="12" name="Text 9"/>
          <p:cNvSpPr/>
          <p:nvPr/>
        </p:nvSpPr>
        <p:spPr>
          <a:xfrm>
            <a:off x="812800" y="2750821"/>
            <a:ext cx="5075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Teste só com combinações de eventos nunca vistas</a:t>
            </a:r>
            <a:endParaRPr lang="en-US" sz="1200" dirty="0"/>
          </a:p>
        </p:txBody>
      </p:sp>
      <p:sp>
        <p:nvSpPr>
          <p:cNvPr id="13" name="Shape 10"/>
          <p:cNvSpPr/>
          <p:nvPr/>
        </p:nvSpPr>
        <p:spPr>
          <a:xfrm>
            <a:off x="812800" y="3030221"/>
            <a:ext cx="3302000" cy="254000"/>
          </a:xfrm>
          <a:prstGeom prst="rect">
            <a:avLst/>
          </a:prstGeom>
          <a:solidFill>
            <a:srgbClr val="DCE5EE"/>
          </a:solidFill>
          <a:ln/>
        </p:spPr>
      </p:sp>
      <p:sp>
        <p:nvSpPr>
          <p:cNvPr id="14" name="Shape 11"/>
          <p:cNvSpPr/>
          <p:nvPr/>
        </p:nvSpPr>
        <p:spPr>
          <a:xfrm>
            <a:off x="812800" y="3030221"/>
            <a:ext cx="3194050" cy="254000"/>
          </a:xfrm>
          <a:prstGeom prst="rect">
            <a:avLst/>
          </a:prstGeom>
          <a:solidFill>
            <a:srgbClr val="2C5070"/>
          </a:solidFill>
          <a:ln/>
        </p:spPr>
      </p:sp>
      <p:sp>
        <p:nvSpPr>
          <p:cNvPr id="15" name="Text 12"/>
          <p:cNvSpPr/>
          <p:nvPr/>
        </p:nvSpPr>
        <p:spPr>
          <a:xfrm>
            <a:off x="4216400" y="3014979"/>
            <a:ext cx="62649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0,968</a:t>
            </a:r>
            <a:endParaRPr lang="en-US" sz="1600" dirty="0"/>
          </a:p>
        </p:txBody>
      </p:sp>
      <p:sp>
        <p:nvSpPr>
          <p:cNvPr id="16" name="Text 13"/>
          <p:cNvSpPr/>
          <p:nvPr/>
        </p:nvSpPr>
        <p:spPr>
          <a:xfrm>
            <a:off x="812800" y="3401061"/>
            <a:ext cx="5075428"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Na divisão aleatória, 100% das combinações do teste já estavam no treino, e o número alto vem de reconhecer o que já foi visto. Com combinações novas, o F1 fica em 0,968 (random forest) e 0,952 (regressão logística).</a:t>
            </a:r>
            <a:endParaRPr lang="en-US" sz="1300" dirty="0"/>
          </a:p>
        </p:txBody>
      </p:sp>
      <p:sp>
        <p:nvSpPr>
          <p:cNvPr id="17" name="Shape 14"/>
          <p:cNvSpPr/>
          <p:nvPr/>
        </p:nvSpPr>
        <p:spPr>
          <a:xfrm>
            <a:off x="6248400" y="1333500"/>
            <a:ext cx="5334000" cy="3169920"/>
          </a:xfrm>
          <a:prstGeom prst="roundRect">
            <a:avLst>
              <a:gd name="adj" fmla="val 3205"/>
            </a:avLst>
          </a:prstGeom>
          <a:solidFill>
            <a:srgbClr val="EAF0F5"/>
          </a:solidFill>
          <a:ln/>
        </p:spPr>
      </p:sp>
      <p:sp>
        <p:nvSpPr>
          <p:cNvPr id="18" name="Text 15"/>
          <p:cNvSpPr/>
          <p:nvPr/>
        </p:nvSpPr>
        <p:spPr>
          <a:xfrm>
            <a:off x="6451600" y="1511300"/>
            <a:ext cx="507542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BGL: o futuro traz alertas novos</a:t>
            </a:r>
            <a:endParaRPr lang="en-US" sz="1600" dirty="0"/>
          </a:p>
        </p:txBody>
      </p:sp>
      <p:sp>
        <p:nvSpPr>
          <p:cNvPr id="19" name="Text 16"/>
          <p:cNvSpPr/>
          <p:nvPr/>
        </p:nvSpPr>
        <p:spPr>
          <a:xfrm>
            <a:off x="6451600" y="1856739"/>
            <a:ext cx="5075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Alertas do período final com molde de mensagem já visto no treino</a:t>
            </a:r>
            <a:endParaRPr lang="en-US" sz="1200" dirty="0"/>
          </a:p>
        </p:txBody>
      </p:sp>
      <p:sp>
        <p:nvSpPr>
          <p:cNvPr id="20" name="Shape 17"/>
          <p:cNvSpPr/>
          <p:nvPr/>
        </p:nvSpPr>
        <p:spPr>
          <a:xfrm>
            <a:off x="6451600" y="2136139"/>
            <a:ext cx="3302000" cy="254000"/>
          </a:xfrm>
          <a:prstGeom prst="rect">
            <a:avLst/>
          </a:prstGeom>
          <a:solidFill>
            <a:srgbClr val="DCE5EE"/>
          </a:solidFill>
          <a:ln/>
        </p:spPr>
      </p:sp>
      <p:sp>
        <p:nvSpPr>
          <p:cNvPr id="21" name="Shape 18"/>
          <p:cNvSpPr/>
          <p:nvPr/>
        </p:nvSpPr>
        <p:spPr>
          <a:xfrm>
            <a:off x="6451600" y="2136139"/>
            <a:ext cx="1847850" cy="254000"/>
          </a:xfrm>
          <a:prstGeom prst="rect">
            <a:avLst/>
          </a:prstGeom>
          <a:solidFill>
            <a:srgbClr val="2C5070"/>
          </a:solidFill>
          <a:ln/>
        </p:spPr>
      </p:sp>
      <p:sp>
        <p:nvSpPr>
          <p:cNvPr id="22" name="Text 19"/>
          <p:cNvSpPr/>
          <p:nvPr/>
        </p:nvSpPr>
        <p:spPr>
          <a:xfrm>
            <a:off x="9855200" y="2120900"/>
            <a:ext cx="66611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55,9%</a:t>
            </a:r>
            <a:endParaRPr lang="en-US" sz="1600" dirty="0"/>
          </a:p>
        </p:txBody>
      </p:sp>
      <p:sp>
        <p:nvSpPr>
          <p:cNvPr id="23" name="Text 20"/>
          <p:cNvSpPr/>
          <p:nvPr/>
        </p:nvSpPr>
        <p:spPr>
          <a:xfrm>
            <a:off x="6451600" y="2506979"/>
            <a:ext cx="5075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F1 com treino no passado e teste no futuro (janelas de 100 linhas)</a:t>
            </a:r>
            <a:endParaRPr lang="en-US" sz="1200" dirty="0"/>
          </a:p>
        </p:txBody>
      </p:sp>
      <p:sp>
        <p:nvSpPr>
          <p:cNvPr id="24" name="Shape 21"/>
          <p:cNvSpPr/>
          <p:nvPr/>
        </p:nvSpPr>
        <p:spPr>
          <a:xfrm>
            <a:off x="6451600" y="2786379"/>
            <a:ext cx="3302000" cy="254000"/>
          </a:xfrm>
          <a:prstGeom prst="rect">
            <a:avLst/>
          </a:prstGeom>
          <a:solidFill>
            <a:srgbClr val="DCE5EE"/>
          </a:solidFill>
          <a:ln/>
        </p:spPr>
      </p:sp>
      <p:sp>
        <p:nvSpPr>
          <p:cNvPr id="25" name="Shape 22"/>
          <p:cNvSpPr/>
          <p:nvPr/>
        </p:nvSpPr>
        <p:spPr>
          <a:xfrm>
            <a:off x="6451600" y="2786379"/>
            <a:ext cx="2374900" cy="254000"/>
          </a:xfrm>
          <a:prstGeom prst="rect">
            <a:avLst/>
          </a:prstGeom>
          <a:solidFill>
            <a:srgbClr val="2C5070"/>
          </a:solidFill>
          <a:ln/>
        </p:spPr>
      </p:sp>
      <p:sp>
        <p:nvSpPr>
          <p:cNvPr id="26" name="Text 23"/>
          <p:cNvSpPr/>
          <p:nvPr/>
        </p:nvSpPr>
        <p:spPr>
          <a:xfrm>
            <a:off x="9855200" y="2771139"/>
            <a:ext cx="4833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0,72</a:t>
            </a:r>
            <a:endParaRPr lang="en-US" sz="1600" dirty="0"/>
          </a:p>
        </p:txBody>
      </p:sp>
      <p:sp>
        <p:nvSpPr>
          <p:cNvPr id="27" name="Text 24"/>
          <p:cNvSpPr/>
          <p:nvPr/>
        </p:nvSpPr>
        <p:spPr>
          <a:xfrm>
            <a:off x="6451600" y="3157221"/>
            <a:ext cx="507542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Precisão de 0,94 e recall de 0,58: o modelo erra pouco quando alerta, mas perde quatro em cada dez alertas. A regra nível = FATAL acha 99,98% dos alertas com precisão de só 40,76%.</a:t>
            </a:r>
            <a:endParaRPr lang="en-US" sz="1300" dirty="0"/>
          </a:p>
        </p:txBody>
      </p:sp>
      <p:sp>
        <p:nvSpPr>
          <p:cNvPr id="28" name="Text 25"/>
          <p:cNvSpPr/>
          <p:nvPr/>
        </p:nvSpPr>
        <p:spPr>
          <a:xfrm>
            <a:off x="609600" y="4706621"/>
            <a:ext cx="113019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Como ler: F1 vai de 0 a 1 e só fica alto quando o modelo acha os casos positivos sem gerar muitos alarmes falsos. Recall é a fração dos alertas encontrados; precisão é a fração dos alarmes que eram alertas de fato.</a:t>
            </a:r>
            <a:endParaRPr lang="en-US" sz="1200" dirty="0"/>
          </a:p>
        </p:txBody>
      </p:sp>
      <p:sp>
        <p:nvSpPr>
          <p:cNvPr id="29" name="Text 26"/>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30" name="Text 27"/>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LOGHUB: AVALIAÇÃO</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VANTAGENS, DESAFIOS E LIMITAÇÕES</a:t>
            </a:r>
            <a:endParaRPr lang="en-US" sz="1600" dirty="0"/>
          </a:p>
        </p:txBody>
      </p:sp>
      <p:sp>
        <p:nvSpPr>
          <p:cNvPr id="6" name="Shape 3"/>
          <p:cNvSpPr/>
          <p:nvPr/>
        </p:nvSpPr>
        <p:spPr>
          <a:xfrm>
            <a:off x="609600" y="1352550"/>
            <a:ext cx="3488267" cy="0"/>
          </a:xfrm>
          <a:prstGeom prst="line">
            <a:avLst/>
          </a:prstGeom>
          <a:noFill/>
          <a:ln w="38100">
            <a:solidFill>
              <a:srgbClr val="2C5070"/>
            </a:solidFill>
            <a:prstDash val="solid"/>
          </a:ln>
        </p:spPr>
      </p:sp>
      <p:pic>
        <p:nvPicPr>
          <p:cNvPr id="7" name="Image 1" descr="CheckCircle">    </p:cNvPr>
          <p:cNvPicPr>
            <a:picLocks noChangeAspect="1"/>
          </p:cNvPicPr>
          <p:nvPr/>
        </p:nvPicPr>
        <p:blipFill>
          <a:blip r:embed="rId2"/>
          <a:srcRect l="0" r="0" t="0" b="0"/>
          <a:stretch/>
        </p:blipFill>
        <p:spPr>
          <a:xfrm>
            <a:off x="609600" y="1497540"/>
            <a:ext cx="254000" cy="254000"/>
          </a:xfrm>
          <a:prstGeom prst="rect">
            <a:avLst/>
          </a:prstGeom>
        </p:spPr>
      </p:pic>
      <p:sp>
        <p:nvSpPr>
          <p:cNvPr id="8" name="Text 4"/>
          <p:cNvSpPr/>
          <p:nvPr/>
        </p:nvSpPr>
        <p:spPr>
          <a:xfrm>
            <a:off x="939800" y="1502625"/>
            <a:ext cx="141655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Vantagens</a:t>
            </a:r>
            <a:endParaRPr lang="en-US" sz="1600" dirty="0"/>
          </a:p>
        </p:txBody>
      </p:sp>
      <p:sp>
        <p:nvSpPr>
          <p:cNvPr id="9" name="Text 5"/>
          <p:cNvSpPr/>
          <p:nvPr/>
        </p:nvSpPr>
        <p:spPr>
          <a:xfrm>
            <a:off x="713994" y="1853140"/>
            <a:ext cx="3480901" cy="2563601"/>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Os rótulos são consistentes: os dois arquivos do HDFS concordam em 100% dos traces, e os totais do BGL batem com a documentação.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Há sinal para IA: F1 de 0,968 no HDFS com combinações novas e de 0,72 no BGL com teste no futuro.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Licença aberta (CC-BY-4.0) e arquivos conferidos pelo hash publicado.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Cabe na máquina: a matriz de eventos do HDFS ocupa 165 MB.</a:t>
            </a:r>
            <a:endParaRPr lang="en-US" sz="1300" dirty="0"/>
          </a:p>
        </p:txBody>
      </p:sp>
      <p:sp>
        <p:nvSpPr>
          <p:cNvPr id="10" name="Shape 6"/>
          <p:cNvSpPr/>
          <p:nvPr/>
        </p:nvSpPr>
        <p:spPr>
          <a:xfrm>
            <a:off x="4351867" y="1352550"/>
            <a:ext cx="3488267" cy="0"/>
          </a:xfrm>
          <a:prstGeom prst="line">
            <a:avLst/>
          </a:prstGeom>
          <a:noFill/>
          <a:ln w="38100">
            <a:solidFill>
              <a:srgbClr val="2C5070"/>
            </a:solidFill>
            <a:prstDash val="solid"/>
          </a:ln>
        </p:spPr>
      </p:sp>
      <p:pic>
        <p:nvPicPr>
          <p:cNvPr id="11" name="Image 2" descr="Warning">    </p:cNvPr>
          <p:cNvPicPr>
            <a:picLocks noChangeAspect="1"/>
          </p:cNvPicPr>
          <p:nvPr/>
        </p:nvPicPr>
        <p:blipFill>
          <a:blip r:embed="rId3"/>
          <a:srcRect l="0" r="0" t="0" b="0"/>
          <a:stretch/>
        </p:blipFill>
        <p:spPr>
          <a:xfrm>
            <a:off x="4351867" y="1497540"/>
            <a:ext cx="254000" cy="254000"/>
          </a:xfrm>
          <a:prstGeom prst="rect">
            <a:avLst/>
          </a:prstGeom>
        </p:spPr>
      </p:pic>
      <p:sp>
        <p:nvSpPr>
          <p:cNvPr id="12" name="Text 7"/>
          <p:cNvSpPr/>
          <p:nvPr/>
        </p:nvSpPr>
        <p:spPr>
          <a:xfrm>
            <a:off x="4682067" y="1502625"/>
            <a:ext cx="113842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Desafios</a:t>
            </a:r>
            <a:endParaRPr lang="en-US" sz="1600" dirty="0"/>
          </a:p>
        </p:txBody>
      </p:sp>
      <p:sp>
        <p:nvSpPr>
          <p:cNvPr id="13" name="Text 8"/>
          <p:cNvSpPr/>
          <p:nvPr/>
        </p:nvSpPr>
        <p:spPr>
          <a:xfrm>
            <a:off x="4456261" y="1853140"/>
            <a:ext cx="3480901" cy="2563601"/>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No HDFS, 575 mil traces se resumem a 589 combinações de eventos, e a divisão aleatória infla o F1 para 0,999.</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No BGL, 44% dos alertas do período final vêm de moldes de mensagem que nunca tinham aparecido.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Classes desbalanceadas: 33 traces normais para cada anômalo no HDFS e 12,6 linhas comuns para cada alerta no BGL.</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34.786 linhas do BGL (0,73%) têm formato irregular.</a:t>
            </a:r>
            <a:endParaRPr lang="en-US" sz="1300" dirty="0"/>
          </a:p>
        </p:txBody>
      </p:sp>
      <p:sp>
        <p:nvSpPr>
          <p:cNvPr id="14" name="Shape 9"/>
          <p:cNvSpPr/>
          <p:nvPr/>
        </p:nvSpPr>
        <p:spPr>
          <a:xfrm>
            <a:off x="8094133" y="1352550"/>
            <a:ext cx="3488267" cy="0"/>
          </a:xfrm>
          <a:prstGeom prst="line">
            <a:avLst/>
          </a:prstGeom>
          <a:noFill/>
          <a:ln w="38100">
            <a:solidFill>
              <a:srgbClr val="2C5070"/>
            </a:solidFill>
            <a:prstDash val="solid"/>
          </a:ln>
        </p:spPr>
      </p:sp>
      <p:pic>
        <p:nvPicPr>
          <p:cNvPr id="15" name="Image 3" descr="Lock">    </p:cNvPr>
          <p:cNvPicPr>
            <a:picLocks noChangeAspect="1"/>
          </p:cNvPicPr>
          <p:nvPr/>
        </p:nvPicPr>
        <p:blipFill>
          <a:blip r:embed="rId4"/>
          <a:srcRect l="0" r="0" t="0" b="0"/>
          <a:stretch/>
        </p:blipFill>
        <p:spPr>
          <a:xfrm>
            <a:off x="8094133" y="1497540"/>
            <a:ext cx="254000" cy="254000"/>
          </a:xfrm>
          <a:prstGeom prst="rect">
            <a:avLst/>
          </a:prstGeom>
        </p:spPr>
      </p:pic>
      <p:sp>
        <p:nvSpPr>
          <p:cNvPr id="16" name="Text 10"/>
          <p:cNvSpPr/>
          <p:nvPr/>
        </p:nvSpPr>
        <p:spPr>
          <a:xfrm>
            <a:off x="8424333" y="1502625"/>
            <a:ext cx="1476883"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Limitações</a:t>
            </a:r>
            <a:endParaRPr lang="en-US" sz="1600" dirty="0"/>
          </a:p>
        </p:txBody>
      </p:sp>
      <p:sp>
        <p:nvSpPr>
          <p:cNvPr id="17" name="Text 11"/>
          <p:cNvSpPr/>
          <p:nvPr/>
        </p:nvSpPr>
        <p:spPr>
          <a:xfrm>
            <a:off x="8198527" y="1853140"/>
            <a:ext cx="3480901" cy="3019319"/>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rótulo vem de regras manuais (HDFS) e das categorias da própria fonte (BGL); o modelo aprende a reproduzir esse rótulo, que pode diferir de um incidente real.</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12 dos 29 eventos do HDFS só aparecem em anomalias, e parte do desempenho pode vir das regras que criaram o rótulo (hipótese não testada).</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Os logs são antigos: o BGL cobre 2005 e 2006.</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Os moldes de mensagem são aproximados; um parser dedicado, como o Drain, seria mais fiel.</a:t>
            </a:r>
            <a:endParaRPr lang="en-US" sz="1300" dirty="0"/>
          </a:p>
        </p:txBody>
      </p:sp>
      <p:sp>
        <p:nvSpPr>
          <p:cNvPr id="18" name="Text 12"/>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9" name="Text 13"/>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COMOFOD</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É, QUEM CRIOU E COMO A BASE É ORGANIZADA</a:t>
            </a:r>
            <a:endParaRPr lang="en-US" sz="1600" dirty="0"/>
          </a:p>
        </p:txBody>
      </p:sp>
      <p:sp>
        <p:nvSpPr>
          <p:cNvPr id="6" name="Text 3"/>
          <p:cNvSpPr/>
          <p:nvPr/>
        </p:nvSpPr>
        <p:spPr>
          <a:xfrm>
            <a:off x="609600" y="1333500"/>
            <a:ext cx="4578350"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CoMoFoD (Copy-Move Forgery Detection) reúne imagens em que um trecho da foto foi copiado e colado em outro ponto da mesma imagem, às vezes girado, redimensionado ou distorcido.</a:t>
            </a:r>
            <a:endParaRPr lang="en-US" sz="1400" dirty="0"/>
          </a:p>
        </p:txBody>
      </p:sp>
      <p:sp>
        <p:nvSpPr>
          <p:cNvPr id="7" name="Text 4"/>
          <p:cNvSpPr/>
          <p:nvPr/>
        </p:nvSpPr>
        <p:spPr>
          <a:xfrm>
            <a:off x="609600" y="2456179"/>
            <a:ext cx="45783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Foi criada na Universidade de Zagreb, Croácia, por Tralić, Zupančić, Grgić e Grgić (ELMAR 2013).</a:t>
            </a:r>
            <a:endParaRPr lang="en-US" sz="1400" dirty="0"/>
          </a:p>
        </p:txBody>
      </p:sp>
      <p:sp>
        <p:nvSpPr>
          <p:cNvPr id="8" name="Text 5"/>
          <p:cNvSpPr/>
          <p:nvPr/>
        </p:nvSpPr>
        <p:spPr>
          <a:xfrm>
            <a:off x="609600" y="3081021"/>
            <a:ext cx="457835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O estudo usa a versão Small: imagens de 512x512 pixels em 200 cenas, num arquivo .rar de 3,0 GiB com download direto. A versão Large (3000x2000) só sai por contato com os autores.</a:t>
            </a:r>
            <a:endParaRPr lang="en-US" sz="1300" dirty="0"/>
          </a:p>
        </p:txBody>
      </p:sp>
      <p:sp>
        <p:nvSpPr>
          <p:cNvPr id="9" name="Text 6"/>
          <p:cNvSpPr/>
          <p:nvPr/>
        </p:nvSpPr>
        <p:spPr>
          <a:xfrm>
            <a:off x="609600" y="4132579"/>
            <a:ext cx="457835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Dois arquivos de texto acompanham as imagens: readme.txt, com a categoria da manipulação e a área copiada, e psnr.txt, com a qualidade de parte das versões degradadas.</a:t>
            </a:r>
            <a:endParaRPr lang="en-US" sz="1300" dirty="0"/>
          </a:p>
        </p:txBody>
      </p:sp>
      <p:sp>
        <p:nvSpPr>
          <p:cNvPr id="10" name="Shape 7"/>
          <p:cNvSpPr/>
          <p:nvPr/>
        </p:nvSpPr>
        <p:spPr>
          <a:xfrm>
            <a:off x="5359400" y="1333500"/>
            <a:ext cx="6223000" cy="3737187"/>
          </a:xfrm>
          <a:prstGeom prst="roundRect">
            <a:avLst>
              <a:gd name="adj" fmla="val 2719"/>
            </a:avLst>
          </a:prstGeom>
          <a:solidFill>
            <a:srgbClr val="EAF0F5"/>
          </a:solidFill>
          <a:ln/>
        </p:spPr>
      </p:sp>
      <p:sp>
        <p:nvSpPr>
          <p:cNvPr id="11" name="Text 8"/>
          <p:cNvSpPr/>
          <p:nvPr/>
        </p:nvSpPr>
        <p:spPr>
          <a:xfrm>
            <a:off x="5562600" y="1536700"/>
            <a:ext cx="599109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Os 52 arquivos de uma cena</a:t>
            </a:r>
            <a:endParaRPr lang="en-US" sz="1600" dirty="0"/>
          </a:p>
        </p:txBody>
      </p:sp>
      <p:sp>
        <p:nvSpPr>
          <p:cNvPr id="12" name="Shape 9"/>
          <p:cNvSpPr/>
          <p:nvPr/>
        </p:nvSpPr>
        <p:spPr>
          <a:xfrm>
            <a:off x="5568950" y="1913892"/>
            <a:ext cx="1365250" cy="1080347"/>
          </a:xfrm>
          <a:prstGeom prst="roundRect">
            <a:avLst>
              <a:gd name="adj" fmla="val 6466"/>
            </a:avLst>
          </a:prstGeom>
          <a:solidFill>
            <a:srgbClr val="FFFFFF"/>
          </a:solidFill>
          <a:ln w="12700">
            <a:solidFill>
              <a:srgbClr val="2C5070"/>
            </a:solidFill>
            <a:prstDash val="solid"/>
          </a:ln>
        </p:spPr>
      </p:sp>
      <p:sp>
        <p:nvSpPr>
          <p:cNvPr id="13" name="Text 10"/>
          <p:cNvSpPr/>
          <p:nvPr/>
        </p:nvSpPr>
        <p:spPr>
          <a:xfrm>
            <a:off x="6122458" y="2019722"/>
            <a:ext cx="258127"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1E5474"/>
                </a:solidFill>
                <a:latin typeface="League Spartan" pitchFamily="34" charset="0"/>
                <a:ea typeface="League Spartan" pitchFamily="34" charset="-122"/>
                <a:cs typeface="League Spartan" pitchFamily="34" charset="-120"/>
              </a:rPr>
              <a:t>O</a:t>
            </a:r>
            <a:endParaRPr lang="en-US" sz="2200" dirty="0"/>
          </a:p>
        </p:txBody>
      </p:sp>
      <p:sp>
        <p:nvSpPr>
          <p:cNvPr id="14" name="Text 11"/>
          <p:cNvSpPr/>
          <p:nvPr/>
        </p:nvSpPr>
        <p:spPr>
          <a:xfrm>
            <a:off x="5955157" y="2436285"/>
            <a:ext cx="5928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C5070"/>
                </a:solidFill>
                <a:latin typeface="Archivo" pitchFamily="34" charset="0"/>
                <a:ea typeface="Archivo" pitchFamily="34" charset="-122"/>
                <a:cs typeface="Archivo" pitchFamily="34" charset="-120"/>
              </a:rPr>
              <a:t>original</a:t>
            </a:r>
            <a:endParaRPr lang="en-US" sz="1200" dirty="0"/>
          </a:p>
        </p:txBody>
      </p:sp>
      <p:sp>
        <p:nvSpPr>
          <p:cNvPr id="15" name="Text 12"/>
          <p:cNvSpPr/>
          <p:nvPr/>
        </p:nvSpPr>
        <p:spPr>
          <a:xfrm>
            <a:off x="6050671" y="2675043"/>
            <a:ext cx="4017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6378"/>
                </a:solidFill>
                <a:latin typeface="Archivo" pitchFamily="34" charset="0"/>
                <a:ea typeface="Archivo" pitchFamily="34" charset="-122"/>
                <a:cs typeface="Archivo" pitchFamily="34" charset="-120"/>
              </a:rPr>
              <a:t>PNG</a:t>
            </a:r>
            <a:endParaRPr lang="en-US" sz="1200" dirty="0"/>
          </a:p>
        </p:txBody>
      </p:sp>
      <p:sp>
        <p:nvSpPr>
          <p:cNvPr id="16" name="Shape 13"/>
          <p:cNvSpPr/>
          <p:nvPr/>
        </p:nvSpPr>
        <p:spPr>
          <a:xfrm>
            <a:off x="7048500" y="1913892"/>
            <a:ext cx="1365250" cy="1080347"/>
          </a:xfrm>
          <a:prstGeom prst="roundRect">
            <a:avLst>
              <a:gd name="adj" fmla="val 6466"/>
            </a:avLst>
          </a:prstGeom>
          <a:solidFill>
            <a:srgbClr val="FFFFFF"/>
          </a:solidFill>
          <a:ln w="12700">
            <a:solidFill>
              <a:srgbClr val="2C5070"/>
            </a:solidFill>
            <a:prstDash val="solid"/>
          </a:ln>
        </p:spPr>
      </p:sp>
      <p:sp>
        <p:nvSpPr>
          <p:cNvPr id="17" name="Text 14"/>
          <p:cNvSpPr/>
          <p:nvPr/>
        </p:nvSpPr>
        <p:spPr>
          <a:xfrm>
            <a:off x="7638627" y="2019722"/>
            <a:ext cx="184891"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1E5474"/>
                </a:solidFill>
                <a:latin typeface="League Spartan" pitchFamily="34" charset="0"/>
                <a:ea typeface="League Spartan" pitchFamily="34" charset="-122"/>
                <a:cs typeface="League Spartan" pitchFamily="34" charset="-120"/>
              </a:rPr>
              <a:t>F</a:t>
            </a:r>
            <a:endParaRPr lang="en-US" sz="2200" dirty="0"/>
          </a:p>
        </p:txBody>
      </p:sp>
      <p:sp>
        <p:nvSpPr>
          <p:cNvPr id="18" name="Text 15"/>
          <p:cNvSpPr/>
          <p:nvPr/>
        </p:nvSpPr>
        <p:spPr>
          <a:xfrm>
            <a:off x="7323084" y="2436285"/>
            <a:ext cx="8159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C5070"/>
                </a:solidFill>
                <a:latin typeface="Archivo" pitchFamily="34" charset="0"/>
                <a:ea typeface="Archivo" pitchFamily="34" charset="-122"/>
                <a:cs typeface="Archivo" pitchFamily="34" charset="-120"/>
              </a:rPr>
              <a:t>falsificada</a:t>
            </a:r>
            <a:endParaRPr lang="en-US" sz="1200" dirty="0"/>
          </a:p>
        </p:txBody>
      </p:sp>
      <p:sp>
        <p:nvSpPr>
          <p:cNvPr id="19" name="Text 16"/>
          <p:cNvSpPr/>
          <p:nvPr/>
        </p:nvSpPr>
        <p:spPr>
          <a:xfrm>
            <a:off x="7530221" y="2675043"/>
            <a:ext cx="4017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6378"/>
                </a:solidFill>
                <a:latin typeface="Archivo" pitchFamily="34" charset="0"/>
                <a:ea typeface="Archivo" pitchFamily="34" charset="-122"/>
                <a:cs typeface="Archivo" pitchFamily="34" charset="-120"/>
              </a:rPr>
              <a:t>PNG</a:t>
            </a:r>
            <a:endParaRPr lang="en-US" sz="1200" dirty="0"/>
          </a:p>
        </p:txBody>
      </p:sp>
      <p:sp>
        <p:nvSpPr>
          <p:cNvPr id="20" name="Shape 17"/>
          <p:cNvSpPr/>
          <p:nvPr/>
        </p:nvSpPr>
        <p:spPr>
          <a:xfrm>
            <a:off x="8528050" y="1913892"/>
            <a:ext cx="1365250" cy="1080347"/>
          </a:xfrm>
          <a:prstGeom prst="roundRect">
            <a:avLst>
              <a:gd name="adj" fmla="val 6466"/>
            </a:avLst>
          </a:prstGeom>
          <a:solidFill>
            <a:srgbClr val="FFFFFF"/>
          </a:solidFill>
          <a:ln w="12700">
            <a:solidFill>
              <a:srgbClr val="2C5070"/>
            </a:solidFill>
            <a:prstDash val="solid"/>
          </a:ln>
        </p:spPr>
      </p:sp>
      <p:sp>
        <p:nvSpPr>
          <p:cNvPr id="21" name="Text 18"/>
          <p:cNvSpPr/>
          <p:nvPr/>
        </p:nvSpPr>
        <p:spPr>
          <a:xfrm>
            <a:off x="9107170" y="2019722"/>
            <a:ext cx="207010"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1E5474"/>
                </a:solidFill>
                <a:latin typeface="League Spartan" pitchFamily="34" charset="0"/>
                <a:ea typeface="League Spartan" pitchFamily="34" charset="-122"/>
                <a:cs typeface="League Spartan" pitchFamily="34" charset="-120"/>
              </a:rPr>
              <a:t>B</a:t>
            </a:r>
            <a:endParaRPr lang="en-US" sz="2200" dirty="0"/>
          </a:p>
        </p:txBody>
      </p:sp>
      <p:sp>
        <p:nvSpPr>
          <p:cNvPr id="22" name="Text 19"/>
          <p:cNvSpPr/>
          <p:nvPr/>
        </p:nvSpPr>
        <p:spPr>
          <a:xfrm>
            <a:off x="8565388" y="2436285"/>
            <a:ext cx="129057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C5070"/>
                </a:solidFill>
                <a:latin typeface="Archivo" pitchFamily="34" charset="0"/>
                <a:ea typeface="Archivo" pitchFamily="34" charset="-122"/>
                <a:cs typeface="Archivo" pitchFamily="34" charset="-120"/>
              </a:rPr>
              <a:t>máscara binária</a:t>
            </a:r>
            <a:endParaRPr lang="en-US" sz="1200" dirty="0"/>
          </a:p>
        </p:txBody>
      </p:sp>
      <p:sp>
        <p:nvSpPr>
          <p:cNvPr id="23" name="Text 20"/>
          <p:cNvSpPr/>
          <p:nvPr/>
        </p:nvSpPr>
        <p:spPr>
          <a:xfrm>
            <a:off x="9009771" y="2675043"/>
            <a:ext cx="4017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6378"/>
                </a:solidFill>
                <a:latin typeface="Archivo" pitchFamily="34" charset="0"/>
                <a:ea typeface="Archivo" pitchFamily="34" charset="-122"/>
                <a:cs typeface="Archivo" pitchFamily="34" charset="-120"/>
              </a:rPr>
              <a:t>PNG</a:t>
            </a:r>
            <a:endParaRPr lang="en-US" sz="1200" dirty="0"/>
          </a:p>
        </p:txBody>
      </p:sp>
      <p:sp>
        <p:nvSpPr>
          <p:cNvPr id="24" name="Shape 21"/>
          <p:cNvSpPr/>
          <p:nvPr/>
        </p:nvSpPr>
        <p:spPr>
          <a:xfrm>
            <a:off x="10007600" y="1913892"/>
            <a:ext cx="1365250" cy="1080347"/>
          </a:xfrm>
          <a:prstGeom prst="roundRect">
            <a:avLst>
              <a:gd name="adj" fmla="val 6466"/>
            </a:avLst>
          </a:prstGeom>
          <a:solidFill>
            <a:srgbClr val="FFFFFF"/>
          </a:solidFill>
          <a:ln w="12700">
            <a:solidFill>
              <a:srgbClr val="2C5070"/>
            </a:solidFill>
            <a:prstDash val="solid"/>
          </a:ln>
        </p:spPr>
      </p:sp>
      <p:sp>
        <p:nvSpPr>
          <p:cNvPr id="25" name="Text 22"/>
          <p:cNvSpPr/>
          <p:nvPr/>
        </p:nvSpPr>
        <p:spPr>
          <a:xfrm>
            <a:off x="10549996" y="2019722"/>
            <a:ext cx="280458"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1E5474"/>
                </a:solidFill>
                <a:latin typeface="League Spartan" pitchFamily="34" charset="0"/>
                <a:ea typeface="League Spartan" pitchFamily="34" charset="-122"/>
                <a:cs typeface="League Spartan" pitchFamily="34" charset="-120"/>
              </a:rPr>
              <a:t>M</a:t>
            </a:r>
            <a:endParaRPr lang="en-US" sz="2200" dirty="0"/>
          </a:p>
        </p:txBody>
      </p:sp>
      <p:sp>
        <p:nvSpPr>
          <p:cNvPr id="26" name="Text 23"/>
          <p:cNvSpPr/>
          <p:nvPr/>
        </p:nvSpPr>
        <p:spPr>
          <a:xfrm>
            <a:off x="10013950" y="2436285"/>
            <a:ext cx="13524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C5070"/>
                </a:solidFill>
                <a:latin typeface="Archivo" pitchFamily="34" charset="0"/>
                <a:ea typeface="Archivo" pitchFamily="34" charset="-122"/>
                <a:cs typeface="Archivo" pitchFamily="34" charset="-120"/>
              </a:rPr>
              <a:t>máscara colorida</a:t>
            </a:r>
            <a:endParaRPr lang="en-US" sz="1200" dirty="0"/>
          </a:p>
        </p:txBody>
      </p:sp>
      <p:sp>
        <p:nvSpPr>
          <p:cNvPr id="27" name="Text 24"/>
          <p:cNvSpPr/>
          <p:nvPr/>
        </p:nvSpPr>
        <p:spPr>
          <a:xfrm>
            <a:off x="10489321" y="2675043"/>
            <a:ext cx="40170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6378"/>
                </a:solidFill>
                <a:latin typeface="Archivo" pitchFamily="34" charset="0"/>
                <a:ea typeface="Archivo" pitchFamily="34" charset="-122"/>
                <a:cs typeface="Archivo" pitchFamily="34" charset="-120"/>
              </a:rPr>
              <a:t>PNG</a:t>
            </a:r>
            <a:endParaRPr lang="en-US" sz="1200" dirty="0"/>
          </a:p>
        </p:txBody>
      </p:sp>
      <p:sp>
        <p:nvSpPr>
          <p:cNvPr id="28" name="Text 25"/>
          <p:cNvSpPr/>
          <p:nvPr/>
        </p:nvSpPr>
        <p:spPr>
          <a:xfrm>
            <a:off x="5562600" y="3127586"/>
            <a:ext cx="59910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Para O e para F, 24 versões degradadas:</a:t>
            </a:r>
            <a:endParaRPr lang="en-US" sz="1300" dirty="0"/>
          </a:p>
        </p:txBody>
      </p:sp>
      <p:sp>
        <p:nvSpPr>
          <p:cNvPr id="29" name="Shape 26"/>
          <p:cNvSpPr/>
          <p:nvPr/>
        </p:nvSpPr>
        <p:spPr>
          <a:xfrm>
            <a:off x="5562600" y="3485728"/>
            <a:ext cx="1888067" cy="553720"/>
          </a:xfrm>
          <a:prstGeom prst="roundRect">
            <a:avLst>
              <a:gd name="adj" fmla="val 11468"/>
            </a:avLst>
          </a:prstGeom>
          <a:solidFill>
            <a:srgbClr val="FFFFFF"/>
          </a:solidFill>
          <a:ln/>
        </p:spPr>
      </p:sp>
      <p:sp>
        <p:nvSpPr>
          <p:cNvPr id="30" name="Text 27"/>
          <p:cNvSpPr/>
          <p:nvPr/>
        </p:nvSpPr>
        <p:spPr>
          <a:xfrm>
            <a:off x="5651500" y="3655907"/>
            <a:ext cx="2878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5474"/>
                </a:solidFill>
                <a:latin typeface="Archivo Black" pitchFamily="34" charset="0"/>
                <a:ea typeface="Archivo Black" pitchFamily="34" charset="-122"/>
                <a:cs typeface="Archivo Black" pitchFamily="34" charset="-120"/>
              </a:rPr>
              <a:t>BC</a:t>
            </a:r>
            <a:endParaRPr lang="en-US" sz="1200" dirty="0"/>
          </a:p>
        </p:txBody>
      </p:sp>
      <p:sp>
        <p:nvSpPr>
          <p:cNvPr id="31" name="Text 28"/>
          <p:cNvSpPr/>
          <p:nvPr/>
        </p:nvSpPr>
        <p:spPr>
          <a:xfrm>
            <a:off x="5952067" y="3663528"/>
            <a:ext cx="115582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brilho, 3 níveis</a:t>
            </a:r>
            <a:endParaRPr lang="en-US" sz="1200" dirty="0"/>
          </a:p>
        </p:txBody>
      </p:sp>
      <p:sp>
        <p:nvSpPr>
          <p:cNvPr id="32" name="Shape 29"/>
          <p:cNvSpPr/>
          <p:nvPr/>
        </p:nvSpPr>
        <p:spPr>
          <a:xfrm>
            <a:off x="7526867" y="3485728"/>
            <a:ext cx="1888067" cy="553720"/>
          </a:xfrm>
          <a:prstGeom prst="roundRect">
            <a:avLst>
              <a:gd name="adj" fmla="val 11468"/>
            </a:avLst>
          </a:prstGeom>
          <a:solidFill>
            <a:srgbClr val="FFFFFF"/>
          </a:solidFill>
          <a:ln/>
        </p:spPr>
      </p:sp>
      <p:sp>
        <p:nvSpPr>
          <p:cNvPr id="33" name="Text 30"/>
          <p:cNvSpPr/>
          <p:nvPr/>
        </p:nvSpPr>
        <p:spPr>
          <a:xfrm>
            <a:off x="7615767" y="3655907"/>
            <a:ext cx="2878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5474"/>
                </a:solidFill>
                <a:latin typeface="Archivo Black" pitchFamily="34" charset="0"/>
                <a:ea typeface="Archivo Black" pitchFamily="34" charset="-122"/>
                <a:cs typeface="Archivo Black" pitchFamily="34" charset="-120"/>
              </a:rPr>
              <a:t>CA</a:t>
            </a:r>
            <a:endParaRPr lang="en-US" sz="1200" dirty="0"/>
          </a:p>
        </p:txBody>
      </p:sp>
      <p:sp>
        <p:nvSpPr>
          <p:cNvPr id="34" name="Text 31"/>
          <p:cNvSpPr/>
          <p:nvPr/>
        </p:nvSpPr>
        <p:spPr>
          <a:xfrm>
            <a:off x="7916333" y="3663528"/>
            <a:ext cx="146481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contraste, 3 níveis</a:t>
            </a:r>
            <a:endParaRPr lang="en-US" sz="1200" dirty="0"/>
          </a:p>
        </p:txBody>
      </p:sp>
      <p:sp>
        <p:nvSpPr>
          <p:cNvPr id="35" name="Shape 32"/>
          <p:cNvSpPr/>
          <p:nvPr/>
        </p:nvSpPr>
        <p:spPr>
          <a:xfrm>
            <a:off x="9491133" y="3485728"/>
            <a:ext cx="1888067" cy="553720"/>
          </a:xfrm>
          <a:prstGeom prst="roundRect">
            <a:avLst>
              <a:gd name="adj" fmla="val 11468"/>
            </a:avLst>
          </a:prstGeom>
          <a:solidFill>
            <a:srgbClr val="FFFFFF"/>
          </a:solidFill>
          <a:ln/>
        </p:spPr>
      </p:sp>
      <p:sp>
        <p:nvSpPr>
          <p:cNvPr id="36" name="Text 33"/>
          <p:cNvSpPr/>
          <p:nvPr/>
        </p:nvSpPr>
        <p:spPr>
          <a:xfrm>
            <a:off x="9580033" y="3549228"/>
            <a:ext cx="24743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5474"/>
                </a:solidFill>
                <a:latin typeface="Archivo Black" pitchFamily="34" charset="0"/>
                <a:ea typeface="Archivo Black" pitchFamily="34" charset="-122"/>
                <a:cs typeface="Archivo Black" pitchFamily="34" charset="-120"/>
              </a:rPr>
              <a:t>CR</a:t>
            </a:r>
            <a:endParaRPr lang="en-US" sz="1200" dirty="0"/>
          </a:p>
        </p:txBody>
      </p:sp>
      <p:sp>
        <p:nvSpPr>
          <p:cNvPr id="37" name="Text 34"/>
          <p:cNvSpPr/>
          <p:nvPr/>
        </p:nvSpPr>
        <p:spPr>
          <a:xfrm>
            <a:off x="9840171" y="3564465"/>
            <a:ext cx="150092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redução de cores, 3 níveis</a:t>
            </a:r>
            <a:endParaRPr lang="en-US" sz="1200" dirty="0"/>
          </a:p>
        </p:txBody>
      </p:sp>
      <p:sp>
        <p:nvSpPr>
          <p:cNvPr id="38" name="Shape 35"/>
          <p:cNvSpPr/>
          <p:nvPr/>
        </p:nvSpPr>
        <p:spPr>
          <a:xfrm>
            <a:off x="5562600" y="4115650"/>
            <a:ext cx="1888067" cy="340360"/>
          </a:xfrm>
          <a:prstGeom prst="roundRect">
            <a:avLst>
              <a:gd name="adj" fmla="val 18657"/>
            </a:avLst>
          </a:prstGeom>
          <a:solidFill>
            <a:srgbClr val="FFFFFF"/>
          </a:solidFill>
          <a:ln/>
        </p:spPr>
      </p:sp>
      <p:sp>
        <p:nvSpPr>
          <p:cNvPr id="39" name="Text 36"/>
          <p:cNvSpPr/>
          <p:nvPr/>
        </p:nvSpPr>
        <p:spPr>
          <a:xfrm>
            <a:off x="5651500" y="4179150"/>
            <a:ext cx="22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5474"/>
                </a:solidFill>
                <a:latin typeface="Archivo Black" pitchFamily="34" charset="0"/>
                <a:ea typeface="Archivo Black" pitchFamily="34" charset="-122"/>
                <a:cs typeface="Archivo Black" pitchFamily="34" charset="-120"/>
              </a:rPr>
              <a:t>IB</a:t>
            </a:r>
            <a:endParaRPr lang="en-US" sz="1200" dirty="0"/>
          </a:p>
        </p:txBody>
      </p:sp>
      <p:sp>
        <p:nvSpPr>
          <p:cNvPr id="40" name="Text 37"/>
          <p:cNvSpPr/>
          <p:nvPr/>
        </p:nvSpPr>
        <p:spPr>
          <a:xfrm>
            <a:off x="5892800" y="4186765"/>
            <a:ext cx="146011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desfoque, 3 níveis</a:t>
            </a:r>
            <a:endParaRPr lang="en-US" sz="1200" dirty="0"/>
          </a:p>
        </p:txBody>
      </p:sp>
      <p:sp>
        <p:nvSpPr>
          <p:cNvPr id="41" name="Shape 38"/>
          <p:cNvSpPr/>
          <p:nvPr/>
        </p:nvSpPr>
        <p:spPr>
          <a:xfrm>
            <a:off x="7526867" y="4115650"/>
            <a:ext cx="1888067" cy="340360"/>
          </a:xfrm>
          <a:prstGeom prst="roundRect">
            <a:avLst>
              <a:gd name="adj" fmla="val 18657"/>
            </a:avLst>
          </a:prstGeom>
          <a:solidFill>
            <a:srgbClr val="FFFFFF"/>
          </a:solidFill>
          <a:ln/>
        </p:spPr>
      </p:sp>
      <p:sp>
        <p:nvSpPr>
          <p:cNvPr id="42" name="Text 39"/>
          <p:cNvSpPr/>
          <p:nvPr/>
        </p:nvSpPr>
        <p:spPr>
          <a:xfrm>
            <a:off x="7615767" y="4179150"/>
            <a:ext cx="294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5474"/>
                </a:solidFill>
                <a:latin typeface="Archivo Black" pitchFamily="34" charset="0"/>
                <a:ea typeface="Archivo Black" pitchFamily="34" charset="-122"/>
                <a:cs typeface="Archivo Black" pitchFamily="34" charset="-120"/>
              </a:rPr>
              <a:t>NA</a:t>
            </a:r>
            <a:endParaRPr lang="en-US" sz="1200" dirty="0"/>
          </a:p>
        </p:txBody>
      </p:sp>
      <p:sp>
        <p:nvSpPr>
          <p:cNvPr id="43" name="Text 40"/>
          <p:cNvSpPr/>
          <p:nvPr/>
        </p:nvSpPr>
        <p:spPr>
          <a:xfrm>
            <a:off x="7923213" y="4186765"/>
            <a:ext cx="111442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ruído, 3 níveis</a:t>
            </a:r>
            <a:endParaRPr lang="en-US" sz="1200" dirty="0"/>
          </a:p>
        </p:txBody>
      </p:sp>
      <p:sp>
        <p:nvSpPr>
          <p:cNvPr id="44" name="Shape 41"/>
          <p:cNvSpPr/>
          <p:nvPr/>
        </p:nvSpPr>
        <p:spPr>
          <a:xfrm>
            <a:off x="9491133" y="4115650"/>
            <a:ext cx="1888067" cy="340360"/>
          </a:xfrm>
          <a:prstGeom prst="roundRect">
            <a:avLst>
              <a:gd name="adj" fmla="val 18657"/>
            </a:avLst>
          </a:prstGeom>
          <a:solidFill>
            <a:srgbClr val="FFFFFF"/>
          </a:solidFill>
          <a:ln/>
        </p:spPr>
      </p:sp>
      <p:sp>
        <p:nvSpPr>
          <p:cNvPr id="45" name="Text 42"/>
          <p:cNvSpPr/>
          <p:nvPr/>
        </p:nvSpPr>
        <p:spPr>
          <a:xfrm>
            <a:off x="9580033" y="4179150"/>
            <a:ext cx="2709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5474"/>
                </a:solidFill>
                <a:latin typeface="Archivo Black" pitchFamily="34" charset="0"/>
                <a:ea typeface="Archivo Black" pitchFamily="34" charset="-122"/>
                <a:cs typeface="Archivo Black" pitchFamily="34" charset="-120"/>
              </a:rPr>
              <a:t>JC</a:t>
            </a:r>
            <a:endParaRPr lang="en-US" sz="1200" dirty="0"/>
          </a:p>
        </p:txBody>
      </p:sp>
      <p:sp>
        <p:nvSpPr>
          <p:cNvPr id="46" name="Text 43"/>
          <p:cNvSpPr/>
          <p:nvPr/>
        </p:nvSpPr>
        <p:spPr>
          <a:xfrm>
            <a:off x="9863667" y="4186765"/>
            <a:ext cx="15155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JPEG, 9 níveis (.jpg)</a:t>
            </a:r>
            <a:endParaRPr lang="en-US" sz="1200" dirty="0"/>
          </a:p>
        </p:txBody>
      </p:sp>
      <p:sp>
        <p:nvSpPr>
          <p:cNvPr id="47" name="Text 44"/>
          <p:cNvSpPr/>
          <p:nvPr/>
        </p:nvSpPr>
        <p:spPr>
          <a:xfrm>
            <a:off x="5562600" y="4583007"/>
            <a:ext cx="599109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4 imagens-base + 2 × 24 versões = 52 arquivos</a:t>
            </a:r>
            <a:endParaRPr lang="en-US" sz="1600" dirty="0"/>
          </a:p>
        </p:txBody>
      </p:sp>
      <p:sp>
        <p:nvSpPr>
          <p:cNvPr id="48" name="Text 45"/>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49" name="Text 46"/>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COMOFOD: NÚMEROS DA BASE</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ESTATÍSTICAS DOS REGISTROS</a:t>
            </a:r>
            <a:endParaRPr lang="en-US" sz="1600" dirty="0"/>
          </a:p>
        </p:txBody>
      </p:sp>
      <p:sp>
        <p:nvSpPr>
          <p:cNvPr id="6" name="Shape 3"/>
          <p:cNvSpPr/>
          <p:nvPr/>
        </p:nvSpPr>
        <p:spPr>
          <a:xfrm>
            <a:off x="609600" y="1333500"/>
            <a:ext cx="2628900" cy="1173480"/>
          </a:xfrm>
          <a:prstGeom prst="roundRect">
            <a:avLst>
              <a:gd name="adj" fmla="val 8658"/>
            </a:avLst>
          </a:prstGeom>
          <a:solidFill>
            <a:srgbClr val="EAF0F5"/>
          </a:solidFill>
          <a:ln/>
        </p:spPr>
      </p:sp>
      <p:sp>
        <p:nvSpPr>
          <p:cNvPr id="7" name="Text 4"/>
          <p:cNvSpPr/>
          <p:nvPr/>
        </p:nvSpPr>
        <p:spPr>
          <a:xfrm>
            <a:off x="7620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10.400</a:t>
            </a:r>
            <a:endParaRPr lang="en-US" sz="2800" dirty="0"/>
          </a:p>
        </p:txBody>
      </p:sp>
      <p:sp>
        <p:nvSpPr>
          <p:cNvPr id="8" name="Text 5"/>
          <p:cNvSpPr/>
          <p:nvPr/>
        </p:nvSpPr>
        <p:spPr>
          <a:xfrm>
            <a:off x="762000" y="1927858"/>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arquivos: 6.800 PNG e 3.600 JPEG (3,21 GB)</a:t>
            </a:r>
            <a:endParaRPr lang="en-US" sz="1200" dirty="0"/>
          </a:p>
        </p:txBody>
      </p:sp>
      <p:sp>
        <p:nvSpPr>
          <p:cNvPr id="9" name="Shape 6"/>
          <p:cNvSpPr/>
          <p:nvPr/>
        </p:nvSpPr>
        <p:spPr>
          <a:xfrm>
            <a:off x="3390900" y="1333500"/>
            <a:ext cx="2628900" cy="1173480"/>
          </a:xfrm>
          <a:prstGeom prst="roundRect">
            <a:avLst>
              <a:gd name="adj" fmla="val 8658"/>
            </a:avLst>
          </a:prstGeom>
          <a:solidFill>
            <a:srgbClr val="EAF0F5"/>
          </a:solidFill>
          <a:ln/>
        </p:spPr>
      </p:sp>
      <p:sp>
        <p:nvSpPr>
          <p:cNvPr id="10" name="Text 7"/>
          <p:cNvSpPr/>
          <p:nvPr/>
        </p:nvSpPr>
        <p:spPr>
          <a:xfrm>
            <a:off x="35433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200</a:t>
            </a:r>
            <a:endParaRPr lang="en-US" sz="2800" dirty="0"/>
          </a:p>
        </p:txBody>
      </p:sp>
      <p:sp>
        <p:nvSpPr>
          <p:cNvPr id="11" name="Text 8"/>
          <p:cNvSpPr/>
          <p:nvPr/>
        </p:nvSpPr>
        <p:spPr>
          <a:xfrm>
            <a:off x="3543300" y="1927858"/>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cenas, todas com os 52 arquivos esperados</a:t>
            </a:r>
            <a:endParaRPr lang="en-US" sz="1200" dirty="0"/>
          </a:p>
        </p:txBody>
      </p:sp>
      <p:sp>
        <p:nvSpPr>
          <p:cNvPr id="12" name="Shape 9"/>
          <p:cNvSpPr/>
          <p:nvPr/>
        </p:nvSpPr>
        <p:spPr>
          <a:xfrm>
            <a:off x="6172200" y="1333500"/>
            <a:ext cx="2628900" cy="1173480"/>
          </a:xfrm>
          <a:prstGeom prst="roundRect">
            <a:avLst>
              <a:gd name="adj" fmla="val 8658"/>
            </a:avLst>
          </a:prstGeom>
          <a:solidFill>
            <a:srgbClr val="EAF0F5"/>
          </a:solidFill>
          <a:ln/>
        </p:spPr>
      </p:sp>
      <p:sp>
        <p:nvSpPr>
          <p:cNvPr id="13" name="Text 10"/>
          <p:cNvSpPr/>
          <p:nvPr/>
        </p:nvSpPr>
        <p:spPr>
          <a:xfrm>
            <a:off x="63246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10.000</a:t>
            </a:r>
            <a:endParaRPr lang="en-US" sz="2800" dirty="0"/>
          </a:p>
        </p:txBody>
      </p:sp>
      <p:sp>
        <p:nvSpPr>
          <p:cNvPr id="14" name="Text 11"/>
          <p:cNvSpPr/>
          <p:nvPr/>
        </p:nvSpPr>
        <p:spPr>
          <a:xfrm>
            <a:off x="6324600" y="1927858"/>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imagens para classificar: 5.000 originais e 5.000 falsificadas</a:t>
            </a:r>
            <a:endParaRPr lang="en-US" sz="1200" dirty="0"/>
          </a:p>
        </p:txBody>
      </p:sp>
      <p:sp>
        <p:nvSpPr>
          <p:cNvPr id="15" name="Shape 12"/>
          <p:cNvSpPr/>
          <p:nvPr/>
        </p:nvSpPr>
        <p:spPr>
          <a:xfrm>
            <a:off x="8953500" y="1333500"/>
            <a:ext cx="2628900" cy="1173480"/>
          </a:xfrm>
          <a:prstGeom prst="roundRect">
            <a:avLst>
              <a:gd name="adj" fmla="val 8658"/>
            </a:avLst>
          </a:prstGeom>
          <a:solidFill>
            <a:srgbClr val="EAF0F5"/>
          </a:solidFill>
          <a:ln/>
        </p:spPr>
      </p:sp>
      <p:sp>
        <p:nvSpPr>
          <p:cNvPr id="16" name="Text 13"/>
          <p:cNvSpPr/>
          <p:nvPr/>
        </p:nvSpPr>
        <p:spPr>
          <a:xfrm>
            <a:off x="91059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41</a:t>
            </a:r>
            <a:endParaRPr lang="en-US" sz="2800" dirty="0"/>
          </a:p>
        </p:txBody>
      </p:sp>
      <p:sp>
        <p:nvSpPr>
          <p:cNvPr id="17" name="Text 14"/>
          <p:cNvSpPr/>
          <p:nvPr/>
        </p:nvSpPr>
        <p:spPr>
          <a:xfrm>
            <a:off x="9105900" y="1927858"/>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fotografias distintas por trás das 200 cenas</a:t>
            </a:r>
            <a:endParaRPr lang="en-US" sz="1200" dirty="0"/>
          </a:p>
        </p:txBody>
      </p:sp>
      <p:sp>
        <p:nvSpPr>
          <p:cNvPr id="18" name="Text 15"/>
          <p:cNvSpPr/>
          <p:nvPr/>
        </p:nvSpPr>
        <p:spPr>
          <a:xfrm>
            <a:off x="609600" y="2710179"/>
            <a:ext cx="497078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Cenas por tipo de manipulação</a:t>
            </a:r>
            <a:endParaRPr lang="en-US" sz="1600" dirty="0"/>
          </a:p>
        </p:txBody>
      </p:sp>
      <p:sp>
        <p:nvSpPr>
          <p:cNvPr id="19" name="Text 16"/>
          <p:cNvSpPr/>
          <p:nvPr/>
        </p:nvSpPr>
        <p:spPr>
          <a:xfrm>
            <a:off x="609600" y="30378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Combinação</a:t>
            </a:r>
            <a:endParaRPr lang="en-US" sz="1200" dirty="0"/>
          </a:p>
        </p:txBody>
      </p:sp>
      <p:sp>
        <p:nvSpPr>
          <p:cNvPr id="20" name="Shape 17"/>
          <p:cNvSpPr/>
          <p:nvPr/>
        </p:nvSpPr>
        <p:spPr>
          <a:xfrm>
            <a:off x="1981200" y="3030221"/>
            <a:ext cx="2286000" cy="228600"/>
          </a:xfrm>
          <a:prstGeom prst="rect">
            <a:avLst/>
          </a:prstGeom>
          <a:solidFill>
            <a:srgbClr val="2C5070"/>
          </a:solidFill>
          <a:ln/>
        </p:spPr>
      </p:sp>
      <p:sp>
        <p:nvSpPr>
          <p:cNvPr id="21" name="Text 18"/>
          <p:cNvSpPr/>
          <p:nvPr/>
        </p:nvSpPr>
        <p:spPr>
          <a:xfrm>
            <a:off x="4368800" y="3037842"/>
            <a:ext cx="43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41</a:t>
            </a:r>
            <a:endParaRPr lang="en-US" sz="1200" dirty="0"/>
          </a:p>
        </p:txBody>
      </p:sp>
      <p:sp>
        <p:nvSpPr>
          <p:cNvPr id="22" name="Text 19"/>
          <p:cNvSpPr/>
          <p:nvPr/>
        </p:nvSpPr>
        <p:spPr>
          <a:xfrm>
            <a:off x="609600" y="33426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Translação</a:t>
            </a:r>
            <a:endParaRPr lang="en-US" sz="1200" dirty="0"/>
          </a:p>
        </p:txBody>
      </p:sp>
      <p:sp>
        <p:nvSpPr>
          <p:cNvPr id="23" name="Shape 20"/>
          <p:cNvSpPr/>
          <p:nvPr/>
        </p:nvSpPr>
        <p:spPr>
          <a:xfrm>
            <a:off x="1981200" y="3335021"/>
            <a:ext cx="2286000" cy="228600"/>
          </a:xfrm>
          <a:prstGeom prst="rect">
            <a:avLst/>
          </a:prstGeom>
          <a:solidFill>
            <a:srgbClr val="DCE5EE"/>
          </a:solidFill>
          <a:ln/>
        </p:spPr>
      </p:sp>
      <p:sp>
        <p:nvSpPr>
          <p:cNvPr id="24" name="Shape 21"/>
          <p:cNvSpPr/>
          <p:nvPr/>
        </p:nvSpPr>
        <p:spPr>
          <a:xfrm>
            <a:off x="1981200" y="3335021"/>
            <a:ext cx="2228850" cy="228600"/>
          </a:xfrm>
          <a:prstGeom prst="rect">
            <a:avLst/>
          </a:prstGeom>
          <a:solidFill>
            <a:srgbClr val="2C5070"/>
          </a:solidFill>
          <a:ln/>
        </p:spPr>
      </p:sp>
      <p:sp>
        <p:nvSpPr>
          <p:cNvPr id="25" name="Text 22"/>
          <p:cNvSpPr/>
          <p:nvPr/>
        </p:nvSpPr>
        <p:spPr>
          <a:xfrm>
            <a:off x="4368800" y="3342642"/>
            <a:ext cx="43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40</a:t>
            </a:r>
            <a:endParaRPr lang="en-US" sz="1200" dirty="0"/>
          </a:p>
        </p:txBody>
      </p:sp>
      <p:sp>
        <p:nvSpPr>
          <p:cNvPr id="26" name="Text 23"/>
          <p:cNvSpPr/>
          <p:nvPr/>
        </p:nvSpPr>
        <p:spPr>
          <a:xfrm>
            <a:off x="609600" y="36474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Rotação</a:t>
            </a:r>
            <a:endParaRPr lang="en-US" sz="1200" dirty="0"/>
          </a:p>
        </p:txBody>
      </p:sp>
      <p:sp>
        <p:nvSpPr>
          <p:cNvPr id="27" name="Shape 24"/>
          <p:cNvSpPr/>
          <p:nvPr/>
        </p:nvSpPr>
        <p:spPr>
          <a:xfrm>
            <a:off x="1981200" y="3639821"/>
            <a:ext cx="2286000" cy="228600"/>
          </a:xfrm>
          <a:prstGeom prst="rect">
            <a:avLst/>
          </a:prstGeom>
          <a:solidFill>
            <a:srgbClr val="DCE5EE"/>
          </a:solidFill>
          <a:ln/>
        </p:spPr>
      </p:sp>
      <p:sp>
        <p:nvSpPr>
          <p:cNvPr id="28" name="Shape 25"/>
          <p:cNvSpPr/>
          <p:nvPr/>
        </p:nvSpPr>
        <p:spPr>
          <a:xfrm>
            <a:off x="1981200" y="3639821"/>
            <a:ext cx="2228850" cy="228600"/>
          </a:xfrm>
          <a:prstGeom prst="rect">
            <a:avLst/>
          </a:prstGeom>
          <a:solidFill>
            <a:srgbClr val="2C5070"/>
          </a:solidFill>
          <a:ln/>
        </p:spPr>
      </p:sp>
      <p:sp>
        <p:nvSpPr>
          <p:cNvPr id="29" name="Text 26"/>
          <p:cNvSpPr/>
          <p:nvPr/>
        </p:nvSpPr>
        <p:spPr>
          <a:xfrm>
            <a:off x="4368800" y="3647442"/>
            <a:ext cx="43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40</a:t>
            </a:r>
            <a:endParaRPr lang="en-US" sz="1200" dirty="0"/>
          </a:p>
        </p:txBody>
      </p:sp>
      <p:sp>
        <p:nvSpPr>
          <p:cNvPr id="30" name="Text 27"/>
          <p:cNvSpPr/>
          <p:nvPr/>
        </p:nvSpPr>
        <p:spPr>
          <a:xfrm>
            <a:off x="609600" y="3952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Escala</a:t>
            </a:r>
            <a:endParaRPr lang="en-US" sz="1200" dirty="0"/>
          </a:p>
        </p:txBody>
      </p:sp>
      <p:sp>
        <p:nvSpPr>
          <p:cNvPr id="31" name="Shape 28"/>
          <p:cNvSpPr/>
          <p:nvPr/>
        </p:nvSpPr>
        <p:spPr>
          <a:xfrm>
            <a:off x="1981200" y="3944621"/>
            <a:ext cx="2286000" cy="228600"/>
          </a:xfrm>
          <a:prstGeom prst="rect">
            <a:avLst/>
          </a:prstGeom>
          <a:solidFill>
            <a:srgbClr val="DCE5EE"/>
          </a:solidFill>
          <a:ln/>
        </p:spPr>
      </p:sp>
      <p:sp>
        <p:nvSpPr>
          <p:cNvPr id="32" name="Shape 29"/>
          <p:cNvSpPr/>
          <p:nvPr/>
        </p:nvSpPr>
        <p:spPr>
          <a:xfrm>
            <a:off x="1981200" y="3944621"/>
            <a:ext cx="2228850" cy="228600"/>
          </a:xfrm>
          <a:prstGeom prst="rect">
            <a:avLst/>
          </a:prstGeom>
          <a:solidFill>
            <a:srgbClr val="2C5070"/>
          </a:solidFill>
          <a:ln/>
        </p:spPr>
      </p:sp>
      <p:sp>
        <p:nvSpPr>
          <p:cNvPr id="33" name="Text 30"/>
          <p:cNvSpPr/>
          <p:nvPr/>
        </p:nvSpPr>
        <p:spPr>
          <a:xfrm>
            <a:off x="4368800" y="3952242"/>
            <a:ext cx="43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40</a:t>
            </a:r>
            <a:endParaRPr lang="en-US" sz="1200" dirty="0"/>
          </a:p>
        </p:txBody>
      </p:sp>
      <p:sp>
        <p:nvSpPr>
          <p:cNvPr id="34" name="Text 31"/>
          <p:cNvSpPr/>
          <p:nvPr/>
        </p:nvSpPr>
        <p:spPr>
          <a:xfrm>
            <a:off x="609600" y="42570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Distorção</a:t>
            </a:r>
            <a:endParaRPr lang="en-US" sz="1200" dirty="0"/>
          </a:p>
        </p:txBody>
      </p:sp>
      <p:sp>
        <p:nvSpPr>
          <p:cNvPr id="35" name="Shape 32"/>
          <p:cNvSpPr/>
          <p:nvPr/>
        </p:nvSpPr>
        <p:spPr>
          <a:xfrm>
            <a:off x="1981200" y="4249421"/>
            <a:ext cx="2286000" cy="228600"/>
          </a:xfrm>
          <a:prstGeom prst="rect">
            <a:avLst/>
          </a:prstGeom>
          <a:solidFill>
            <a:srgbClr val="DCE5EE"/>
          </a:solidFill>
          <a:ln/>
        </p:spPr>
      </p:sp>
      <p:sp>
        <p:nvSpPr>
          <p:cNvPr id="36" name="Shape 33"/>
          <p:cNvSpPr/>
          <p:nvPr/>
        </p:nvSpPr>
        <p:spPr>
          <a:xfrm>
            <a:off x="1981200" y="4249421"/>
            <a:ext cx="2171700" cy="228600"/>
          </a:xfrm>
          <a:prstGeom prst="rect">
            <a:avLst/>
          </a:prstGeom>
          <a:solidFill>
            <a:srgbClr val="2C5070"/>
          </a:solidFill>
          <a:ln/>
        </p:spPr>
      </p:sp>
      <p:sp>
        <p:nvSpPr>
          <p:cNvPr id="37" name="Text 34"/>
          <p:cNvSpPr/>
          <p:nvPr/>
        </p:nvSpPr>
        <p:spPr>
          <a:xfrm>
            <a:off x="4368800" y="4257042"/>
            <a:ext cx="43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39</a:t>
            </a:r>
            <a:endParaRPr lang="en-US" sz="1200" dirty="0"/>
          </a:p>
        </p:txBody>
      </p:sp>
      <p:sp>
        <p:nvSpPr>
          <p:cNvPr id="38" name="Text 35"/>
          <p:cNvSpPr/>
          <p:nvPr/>
        </p:nvSpPr>
        <p:spPr>
          <a:xfrm>
            <a:off x="5740400" y="2710179"/>
            <a:ext cx="601726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Região adulterada e qualidade</a:t>
            </a:r>
            <a:endParaRPr lang="en-US" sz="1600" dirty="0"/>
          </a:p>
        </p:txBody>
      </p:sp>
      <p:sp>
        <p:nvSpPr>
          <p:cNvPr id="39" name="Text 36"/>
          <p:cNvSpPr/>
          <p:nvPr/>
        </p:nvSpPr>
        <p:spPr>
          <a:xfrm>
            <a:off x="5844794" y="3030221"/>
            <a:ext cx="5905246" cy="167513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A área copiada vai de 360 a 37.542 pixels, com mediana de 3.369, numa imagem de 262.144 pixels.</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A máscara B marca, em mediana, 2,6% da imagem (de 0,3% a 29%).</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O modo de cor é misto: 74 das 200 máscaras B estão em RGBA, e as demais em RGB.</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O psnr.txt cobre só o ruído aplicado às originais: 600 de 9.600 versões degradadas (6,25%), com mediana de 20,7, 23,1 e 33,0 dB nos três níveis.</a:t>
            </a:r>
            <a:endParaRPr lang="en-US" sz="1300" dirty="0"/>
          </a:p>
        </p:txBody>
      </p:sp>
      <p:sp>
        <p:nvSpPr>
          <p:cNvPr id="40" name="Text 37"/>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41" name="Text 38"/>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COMOFOD: RESULTADOS</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AS 200 CENAS VÊM DE 41 FOTOGRAFIAS</a:t>
            </a:r>
            <a:endParaRPr lang="en-US" sz="1600" dirty="0"/>
          </a:p>
        </p:txBody>
      </p:sp>
      <p:sp>
        <p:nvSpPr>
          <p:cNvPr id="6" name="Text 3"/>
          <p:cNvSpPr/>
          <p:nvPr/>
        </p:nvSpPr>
        <p:spPr>
          <a:xfrm>
            <a:off x="609600" y="1333500"/>
            <a:ext cx="497078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Comparando as 200 fotos originais entre si, as cenas se agrupam em 41 fotografias distintas. O resultado se repete com três limiares de semelhança.</a:t>
            </a:r>
            <a:endParaRPr lang="en-US" sz="1400" dirty="0"/>
          </a:p>
        </p:txBody>
      </p:sp>
      <p:sp>
        <p:nvSpPr>
          <p:cNvPr id="7" name="Shape 4"/>
          <p:cNvSpPr/>
          <p:nvPr/>
        </p:nvSpPr>
        <p:spPr>
          <a:xfrm>
            <a:off x="609600" y="2207258"/>
            <a:ext cx="1540933" cy="1214120"/>
          </a:xfrm>
          <a:prstGeom prst="roundRect">
            <a:avLst>
              <a:gd name="adj" fmla="val 6276"/>
            </a:avLst>
          </a:prstGeom>
          <a:solidFill>
            <a:srgbClr val="EAF0F5"/>
          </a:solidFill>
          <a:ln/>
        </p:spPr>
      </p:sp>
      <p:sp>
        <p:nvSpPr>
          <p:cNvPr id="8" name="Text 5"/>
          <p:cNvSpPr/>
          <p:nvPr/>
        </p:nvSpPr>
        <p:spPr>
          <a:xfrm>
            <a:off x="736600" y="2308858"/>
            <a:ext cx="133773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13</a:t>
            </a:r>
            <a:endParaRPr lang="en-US" sz="2800" dirty="0"/>
          </a:p>
        </p:txBody>
      </p:sp>
      <p:sp>
        <p:nvSpPr>
          <p:cNvPr id="9" name="Text 6"/>
          <p:cNvSpPr/>
          <p:nvPr/>
        </p:nvSpPr>
        <p:spPr>
          <a:xfrm>
            <a:off x="736600" y="2725421"/>
            <a:ext cx="1337733"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cenas no máximo por foto</a:t>
            </a:r>
            <a:endParaRPr lang="en-US" sz="1200" dirty="0"/>
          </a:p>
        </p:txBody>
      </p:sp>
      <p:sp>
        <p:nvSpPr>
          <p:cNvPr id="10" name="Shape 7"/>
          <p:cNvSpPr/>
          <p:nvPr/>
        </p:nvSpPr>
        <p:spPr>
          <a:xfrm>
            <a:off x="2252133" y="2207258"/>
            <a:ext cx="1540933" cy="1214120"/>
          </a:xfrm>
          <a:prstGeom prst="roundRect">
            <a:avLst>
              <a:gd name="adj" fmla="val 6276"/>
            </a:avLst>
          </a:prstGeom>
          <a:solidFill>
            <a:srgbClr val="EAF0F5"/>
          </a:solidFill>
          <a:ln/>
        </p:spPr>
      </p:sp>
      <p:sp>
        <p:nvSpPr>
          <p:cNvPr id="11" name="Text 8"/>
          <p:cNvSpPr/>
          <p:nvPr/>
        </p:nvSpPr>
        <p:spPr>
          <a:xfrm>
            <a:off x="2379133" y="2308858"/>
            <a:ext cx="133773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37</a:t>
            </a:r>
            <a:endParaRPr lang="en-US" sz="2800" dirty="0"/>
          </a:p>
        </p:txBody>
      </p:sp>
      <p:sp>
        <p:nvSpPr>
          <p:cNvPr id="12" name="Text 9"/>
          <p:cNvSpPr/>
          <p:nvPr/>
        </p:nvSpPr>
        <p:spPr>
          <a:xfrm>
            <a:off x="2379133" y="2725421"/>
            <a:ext cx="1337733"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das 41 fotos usadas em mais de uma cena</a:t>
            </a:r>
            <a:endParaRPr lang="en-US" sz="1200" dirty="0"/>
          </a:p>
        </p:txBody>
      </p:sp>
      <p:sp>
        <p:nvSpPr>
          <p:cNvPr id="13" name="Shape 10"/>
          <p:cNvSpPr/>
          <p:nvPr/>
        </p:nvSpPr>
        <p:spPr>
          <a:xfrm>
            <a:off x="3894667" y="2207258"/>
            <a:ext cx="1540933" cy="1214120"/>
          </a:xfrm>
          <a:prstGeom prst="roundRect">
            <a:avLst>
              <a:gd name="adj" fmla="val 6276"/>
            </a:avLst>
          </a:prstGeom>
          <a:solidFill>
            <a:srgbClr val="EAF0F5"/>
          </a:solidFill>
          <a:ln/>
        </p:spPr>
      </p:sp>
      <p:sp>
        <p:nvSpPr>
          <p:cNvPr id="14" name="Text 11"/>
          <p:cNvSpPr/>
          <p:nvPr/>
        </p:nvSpPr>
        <p:spPr>
          <a:xfrm>
            <a:off x="4021667" y="2308858"/>
            <a:ext cx="133773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8</a:t>
            </a:r>
            <a:endParaRPr lang="en-US" sz="2800" dirty="0"/>
          </a:p>
        </p:txBody>
      </p:sp>
      <p:sp>
        <p:nvSpPr>
          <p:cNvPr id="15" name="Text 12"/>
          <p:cNvSpPr/>
          <p:nvPr/>
        </p:nvSpPr>
        <p:spPr>
          <a:xfrm>
            <a:off x="4021667" y="2725421"/>
            <a:ext cx="1337733"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5070"/>
                </a:solidFill>
                <a:latin typeface="Archivo" pitchFamily="34" charset="0"/>
                <a:ea typeface="Archivo" pitchFamily="34" charset="-122"/>
                <a:cs typeface="Archivo" pitchFamily="34" charset="-120"/>
              </a:rPr>
              <a:t>fotos presentes nas 5 categorias</a:t>
            </a:r>
            <a:endParaRPr lang="en-US" sz="1200" dirty="0"/>
          </a:p>
        </p:txBody>
      </p:sp>
      <p:sp>
        <p:nvSpPr>
          <p:cNvPr id="16" name="Text 13"/>
          <p:cNvSpPr/>
          <p:nvPr/>
        </p:nvSpPr>
        <p:spPr>
          <a:xfrm>
            <a:off x="609600" y="3548379"/>
            <a:ext cx="49707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Se a mesma fotografia cai no treino e no teste, o modelo pode acertar por reconhecer a foto. Essa explicação combina com os números, mas não foi testada diretamente.</a:t>
            </a:r>
            <a:endParaRPr lang="en-US" sz="1300" dirty="0"/>
          </a:p>
        </p:txBody>
      </p:sp>
      <p:sp>
        <p:nvSpPr>
          <p:cNvPr id="17" name="Shape 14"/>
          <p:cNvSpPr/>
          <p:nvPr/>
        </p:nvSpPr>
        <p:spPr>
          <a:xfrm>
            <a:off x="5740400" y="1333500"/>
            <a:ext cx="5842000" cy="3263900"/>
          </a:xfrm>
          <a:prstGeom prst="roundRect">
            <a:avLst>
              <a:gd name="adj" fmla="val 3113"/>
            </a:avLst>
          </a:prstGeom>
          <a:solidFill>
            <a:srgbClr val="EAF0F5"/>
          </a:solidFill>
          <a:ln/>
        </p:spPr>
      </p:sp>
      <p:sp>
        <p:nvSpPr>
          <p:cNvPr id="18" name="Text 15"/>
          <p:cNvSpPr/>
          <p:nvPr/>
        </p:nvSpPr>
        <p:spPr>
          <a:xfrm>
            <a:off x="5943600" y="1536700"/>
            <a:ext cx="5598668" cy="51308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AUC do random forest conforme a separação entre treino e teste</a:t>
            </a:r>
            <a:endParaRPr lang="en-US" sz="1600" dirty="0"/>
          </a:p>
        </p:txBody>
      </p:sp>
      <p:sp>
        <p:nvSpPr>
          <p:cNvPr id="19" name="Text 16"/>
          <p:cNvSpPr/>
          <p:nvPr/>
        </p:nvSpPr>
        <p:spPr>
          <a:xfrm>
            <a:off x="5943600" y="21767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5070"/>
                </a:solidFill>
                <a:latin typeface="Archivo" pitchFamily="34" charset="0"/>
                <a:ea typeface="Archivo" pitchFamily="34" charset="-122"/>
                <a:cs typeface="Archivo" pitchFamily="34" charset="-120"/>
              </a:rPr>
              <a:t>Por imagem</a:t>
            </a:r>
            <a:endParaRPr lang="en-US" sz="1300" dirty="0"/>
          </a:p>
        </p:txBody>
      </p:sp>
      <p:sp>
        <p:nvSpPr>
          <p:cNvPr id="20" name="Text 17"/>
          <p:cNvSpPr/>
          <p:nvPr/>
        </p:nvSpPr>
        <p:spPr>
          <a:xfrm>
            <a:off x="5943600" y="2407921"/>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fotos nos dois lados</a:t>
            </a:r>
            <a:endParaRPr lang="en-US" sz="1200" dirty="0"/>
          </a:p>
        </p:txBody>
      </p:sp>
      <p:sp>
        <p:nvSpPr>
          <p:cNvPr id="21" name="Shape 18"/>
          <p:cNvSpPr/>
          <p:nvPr/>
        </p:nvSpPr>
        <p:spPr>
          <a:xfrm>
            <a:off x="7569200" y="2246629"/>
            <a:ext cx="2921000" cy="304800"/>
          </a:xfrm>
          <a:prstGeom prst="rect">
            <a:avLst/>
          </a:prstGeom>
          <a:solidFill>
            <a:srgbClr val="FFFFFF"/>
          </a:solidFill>
          <a:ln/>
        </p:spPr>
      </p:sp>
      <p:sp>
        <p:nvSpPr>
          <p:cNvPr id="22" name="Shape 19"/>
          <p:cNvSpPr/>
          <p:nvPr/>
        </p:nvSpPr>
        <p:spPr>
          <a:xfrm>
            <a:off x="7569200" y="2246629"/>
            <a:ext cx="2876550" cy="304800"/>
          </a:xfrm>
          <a:prstGeom prst="rect">
            <a:avLst/>
          </a:prstGeom>
          <a:solidFill>
            <a:srgbClr val="8FA9BF"/>
          </a:solidFill>
          <a:ln/>
        </p:spPr>
      </p:sp>
      <p:sp>
        <p:nvSpPr>
          <p:cNvPr id="23" name="Shape 20"/>
          <p:cNvSpPr/>
          <p:nvPr/>
        </p:nvSpPr>
        <p:spPr>
          <a:xfrm>
            <a:off x="9023350" y="2246629"/>
            <a:ext cx="19050" cy="304800"/>
          </a:xfrm>
          <a:prstGeom prst="rect">
            <a:avLst/>
          </a:prstGeom>
          <a:solidFill>
            <a:srgbClr val="1E5474"/>
          </a:solidFill>
          <a:ln/>
        </p:spPr>
      </p:sp>
      <p:sp>
        <p:nvSpPr>
          <p:cNvPr id="24" name="Text 21"/>
          <p:cNvSpPr/>
          <p:nvPr/>
        </p:nvSpPr>
        <p:spPr>
          <a:xfrm>
            <a:off x="10541000" y="2256792"/>
            <a:ext cx="685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0,984</a:t>
            </a:r>
            <a:endParaRPr lang="en-US" sz="1600" dirty="0"/>
          </a:p>
        </p:txBody>
      </p:sp>
      <p:sp>
        <p:nvSpPr>
          <p:cNvPr id="25" name="Text 22"/>
          <p:cNvSpPr/>
          <p:nvPr/>
        </p:nvSpPr>
        <p:spPr>
          <a:xfrm>
            <a:off x="5943600" y="27736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5070"/>
                </a:solidFill>
                <a:latin typeface="Archivo" pitchFamily="34" charset="0"/>
                <a:ea typeface="Archivo" pitchFamily="34" charset="-122"/>
                <a:cs typeface="Archivo" pitchFamily="34" charset="-120"/>
              </a:rPr>
              <a:t>Por cena</a:t>
            </a:r>
            <a:endParaRPr lang="en-US" sz="1300" dirty="0"/>
          </a:p>
        </p:txBody>
      </p:sp>
      <p:sp>
        <p:nvSpPr>
          <p:cNvPr id="26" name="Text 23"/>
          <p:cNvSpPr/>
          <p:nvPr/>
        </p:nvSpPr>
        <p:spPr>
          <a:xfrm>
            <a:off x="5943600" y="3004821"/>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fotos nos dois lados</a:t>
            </a:r>
            <a:endParaRPr lang="en-US" sz="1200" dirty="0"/>
          </a:p>
        </p:txBody>
      </p:sp>
      <p:sp>
        <p:nvSpPr>
          <p:cNvPr id="27" name="Shape 24"/>
          <p:cNvSpPr/>
          <p:nvPr/>
        </p:nvSpPr>
        <p:spPr>
          <a:xfrm>
            <a:off x="7569200" y="2843529"/>
            <a:ext cx="2921000" cy="304800"/>
          </a:xfrm>
          <a:prstGeom prst="rect">
            <a:avLst/>
          </a:prstGeom>
          <a:solidFill>
            <a:srgbClr val="FFFFFF"/>
          </a:solidFill>
          <a:ln/>
        </p:spPr>
      </p:sp>
      <p:sp>
        <p:nvSpPr>
          <p:cNvPr id="28" name="Shape 25"/>
          <p:cNvSpPr/>
          <p:nvPr/>
        </p:nvSpPr>
        <p:spPr>
          <a:xfrm>
            <a:off x="7569200" y="2843529"/>
            <a:ext cx="2825750" cy="304800"/>
          </a:xfrm>
          <a:prstGeom prst="rect">
            <a:avLst/>
          </a:prstGeom>
          <a:solidFill>
            <a:srgbClr val="8FA9BF"/>
          </a:solidFill>
          <a:ln/>
        </p:spPr>
      </p:sp>
      <p:sp>
        <p:nvSpPr>
          <p:cNvPr id="29" name="Shape 26"/>
          <p:cNvSpPr/>
          <p:nvPr/>
        </p:nvSpPr>
        <p:spPr>
          <a:xfrm>
            <a:off x="9023350" y="2843529"/>
            <a:ext cx="19050" cy="304800"/>
          </a:xfrm>
          <a:prstGeom prst="rect">
            <a:avLst/>
          </a:prstGeom>
          <a:solidFill>
            <a:srgbClr val="1E5474"/>
          </a:solidFill>
          <a:ln/>
        </p:spPr>
      </p:sp>
      <p:sp>
        <p:nvSpPr>
          <p:cNvPr id="30" name="Text 27"/>
          <p:cNvSpPr/>
          <p:nvPr/>
        </p:nvSpPr>
        <p:spPr>
          <a:xfrm>
            <a:off x="10541000" y="2853692"/>
            <a:ext cx="685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0,967</a:t>
            </a:r>
            <a:endParaRPr lang="en-US" sz="1600" dirty="0"/>
          </a:p>
        </p:txBody>
      </p:sp>
      <p:sp>
        <p:nvSpPr>
          <p:cNvPr id="31" name="Text 28"/>
          <p:cNvSpPr/>
          <p:nvPr/>
        </p:nvSpPr>
        <p:spPr>
          <a:xfrm>
            <a:off x="5943600" y="33705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C5070"/>
                </a:solidFill>
                <a:latin typeface="Archivo" pitchFamily="34" charset="0"/>
                <a:ea typeface="Archivo" pitchFamily="34" charset="-122"/>
                <a:cs typeface="Archivo" pitchFamily="34" charset="-120"/>
              </a:rPr>
              <a:t>Por fotografia</a:t>
            </a:r>
            <a:endParaRPr lang="en-US" sz="1300" dirty="0"/>
          </a:p>
        </p:txBody>
      </p:sp>
      <p:sp>
        <p:nvSpPr>
          <p:cNvPr id="32" name="Text 29"/>
          <p:cNvSpPr/>
          <p:nvPr/>
        </p:nvSpPr>
        <p:spPr>
          <a:xfrm>
            <a:off x="5943600" y="3601721"/>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separação correta</a:t>
            </a:r>
            <a:endParaRPr lang="en-US" sz="1200" dirty="0"/>
          </a:p>
        </p:txBody>
      </p:sp>
      <p:sp>
        <p:nvSpPr>
          <p:cNvPr id="33" name="Shape 30"/>
          <p:cNvSpPr/>
          <p:nvPr/>
        </p:nvSpPr>
        <p:spPr>
          <a:xfrm>
            <a:off x="7569200" y="3440429"/>
            <a:ext cx="2921000" cy="304800"/>
          </a:xfrm>
          <a:prstGeom prst="rect">
            <a:avLst/>
          </a:prstGeom>
          <a:solidFill>
            <a:srgbClr val="FFFFFF"/>
          </a:solidFill>
          <a:ln/>
        </p:spPr>
      </p:sp>
      <p:sp>
        <p:nvSpPr>
          <p:cNvPr id="34" name="Shape 31"/>
          <p:cNvSpPr/>
          <p:nvPr/>
        </p:nvSpPr>
        <p:spPr>
          <a:xfrm>
            <a:off x="7569200" y="3440429"/>
            <a:ext cx="1447800" cy="304800"/>
          </a:xfrm>
          <a:prstGeom prst="rect">
            <a:avLst/>
          </a:prstGeom>
          <a:solidFill>
            <a:srgbClr val="2C5070"/>
          </a:solidFill>
          <a:ln/>
        </p:spPr>
      </p:sp>
      <p:sp>
        <p:nvSpPr>
          <p:cNvPr id="35" name="Shape 32"/>
          <p:cNvSpPr/>
          <p:nvPr/>
        </p:nvSpPr>
        <p:spPr>
          <a:xfrm>
            <a:off x="9023350" y="3440429"/>
            <a:ext cx="19050" cy="304800"/>
          </a:xfrm>
          <a:prstGeom prst="rect">
            <a:avLst/>
          </a:prstGeom>
          <a:solidFill>
            <a:srgbClr val="1E5474"/>
          </a:solidFill>
          <a:ln/>
        </p:spPr>
      </p:sp>
      <p:sp>
        <p:nvSpPr>
          <p:cNvPr id="36" name="Text 33"/>
          <p:cNvSpPr/>
          <p:nvPr/>
        </p:nvSpPr>
        <p:spPr>
          <a:xfrm>
            <a:off x="10541000" y="3450592"/>
            <a:ext cx="685800"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0,495</a:t>
            </a:r>
            <a:endParaRPr lang="en-US" sz="1600" dirty="0"/>
          </a:p>
        </p:txBody>
      </p:sp>
      <p:sp>
        <p:nvSpPr>
          <p:cNvPr id="37" name="Text 34"/>
          <p:cNvSpPr/>
          <p:nvPr/>
        </p:nvSpPr>
        <p:spPr>
          <a:xfrm>
            <a:off x="5943600" y="3967479"/>
            <a:ext cx="55986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A linha vertical marca AUC 0,5, o nível do acaso; 1,0 seria acerto perfeito. A regressão logística ficou em 0,502, 0,521 e 0,510.</a:t>
            </a:r>
            <a:endParaRPr lang="en-US" sz="1200" dirty="0"/>
          </a:p>
        </p:txBody>
      </p:sp>
      <p:sp>
        <p:nvSpPr>
          <p:cNvPr id="38" name="Text 35"/>
          <p:cNvSpPr/>
          <p:nvPr/>
        </p:nvSpPr>
        <p:spPr>
          <a:xfrm>
            <a:off x="609600" y="4800600"/>
            <a:ext cx="113019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Nenhuma das 12 características globais separa as classes sozinha (AUC de 0,49 a 0,51). Em 35 cenas, todas de rotação ou escala, original e falsificada diferem em mais de 50% dos pixels, o que pode servir de atalho para um detector.</a:t>
            </a:r>
            <a:endParaRPr lang="en-US" sz="1300" dirty="0"/>
          </a:p>
        </p:txBody>
      </p:sp>
      <p:sp>
        <p:nvSpPr>
          <p:cNvPr id="39" name="Text 36"/>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40" name="Text 37"/>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COMOFOD: AVALIAÇÃO</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VANTAGENS, DESAFIOS E LIMITAÇÕES</a:t>
            </a:r>
            <a:endParaRPr lang="en-US" sz="1600" dirty="0"/>
          </a:p>
        </p:txBody>
      </p:sp>
      <p:sp>
        <p:nvSpPr>
          <p:cNvPr id="6" name="Shape 3"/>
          <p:cNvSpPr/>
          <p:nvPr/>
        </p:nvSpPr>
        <p:spPr>
          <a:xfrm>
            <a:off x="609600" y="1352550"/>
            <a:ext cx="3488267" cy="0"/>
          </a:xfrm>
          <a:prstGeom prst="line">
            <a:avLst/>
          </a:prstGeom>
          <a:noFill/>
          <a:ln w="38100">
            <a:solidFill>
              <a:srgbClr val="2C5070"/>
            </a:solidFill>
            <a:prstDash val="solid"/>
          </a:ln>
        </p:spPr>
      </p:sp>
      <p:pic>
        <p:nvPicPr>
          <p:cNvPr id="7" name="Image 1" descr="CheckCircle">    </p:cNvPr>
          <p:cNvPicPr>
            <a:picLocks noChangeAspect="1"/>
          </p:cNvPicPr>
          <p:nvPr/>
        </p:nvPicPr>
        <p:blipFill>
          <a:blip r:embed="rId2"/>
          <a:srcRect l="0" r="0" t="0" b="0"/>
          <a:stretch/>
        </p:blipFill>
        <p:spPr>
          <a:xfrm>
            <a:off x="609600" y="1497540"/>
            <a:ext cx="254000" cy="254000"/>
          </a:xfrm>
          <a:prstGeom prst="rect">
            <a:avLst/>
          </a:prstGeom>
        </p:spPr>
      </p:pic>
      <p:sp>
        <p:nvSpPr>
          <p:cNvPr id="8" name="Text 4"/>
          <p:cNvSpPr/>
          <p:nvPr/>
        </p:nvSpPr>
        <p:spPr>
          <a:xfrm>
            <a:off x="939800" y="1502625"/>
            <a:ext cx="141655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Vantagens</a:t>
            </a:r>
            <a:endParaRPr lang="en-US" sz="1600" dirty="0"/>
          </a:p>
        </p:txBody>
      </p:sp>
      <p:sp>
        <p:nvSpPr>
          <p:cNvPr id="9" name="Text 5"/>
          <p:cNvSpPr/>
          <p:nvPr/>
        </p:nvSpPr>
        <p:spPr>
          <a:xfrm>
            <a:off x="713994" y="1853140"/>
            <a:ext cx="3480901" cy="2335742"/>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 estrutura está íntegra: as 200 cenas têm os 52 arquivos esperados e nenhum nome foge do padrão.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As classes são balanceadas: 5.000 imagens originais e 5.000 falsificadas.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Toda cena tem máscara da região alterada, e a área marcada acompanha a do readme (correlação de 0,976).</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As 24 versões degradadas de cada imagem permitem medir a robustez de um detector.</a:t>
            </a:r>
            <a:endParaRPr lang="en-US" sz="1300" dirty="0"/>
          </a:p>
        </p:txBody>
      </p:sp>
      <p:sp>
        <p:nvSpPr>
          <p:cNvPr id="10" name="Shape 6"/>
          <p:cNvSpPr/>
          <p:nvPr/>
        </p:nvSpPr>
        <p:spPr>
          <a:xfrm>
            <a:off x="4351867" y="1352550"/>
            <a:ext cx="3488267" cy="0"/>
          </a:xfrm>
          <a:prstGeom prst="line">
            <a:avLst/>
          </a:prstGeom>
          <a:noFill/>
          <a:ln w="38100">
            <a:solidFill>
              <a:srgbClr val="2C5070"/>
            </a:solidFill>
            <a:prstDash val="solid"/>
          </a:ln>
        </p:spPr>
      </p:sp>
      <p:pic>
        <p:nvPicPr>
          <p:cNvPr id="11" name="Image 2" descr="Warning">    </p:cNvPr>
          <p:cNvPicPr>
            <a:picLocks noChangeAspect="1"/>
          </p:cNvPicPr>
          <p:nvPr/>
        </p:nvPicPr>
        <p:blipFill>
          <a:blip r:embed="rId3"/>
          <a:srcRect l="0" r="0" t="0" b="0"/>
          <a:stretch/>
        </p:blipFill>
        <p:spPr>
          <a:xfrm>
            <a:off x="4351867" y="1497540"/>
            <a:ext cx="254000" cy="254000"/>
          </a:xfrm>
          <a:prstGeom prst="rect">
            <a:avLst/>
          </a:prstGeom>
        </p:spPr>
      </p:pic>
      <p:sp>
        <p:nvSpPr>
          <p:cNvPr id="12" name="Text 7"/>
          <p:cNvSpPr/>
          <p:nvPr/>
        </p:nvSpPr>
        <p:spPr>
          <a:xfrm>
            <a:off x="4682067" y="1502625"/>
            <a:ext cx="113842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Desafios</a:t>
            </a:r>
            <a:endParaRPr lang="en-US" sz="1600" dirty="0"/>
          </a:p>
        </p:txBody>
      </p:sp>
      <p:sp>
        <p:nvSpPr>
          <p:cNvPr id="13" name="Text 8"/>
          <p:cNvSpPr/>
          <p:nvPr/>
        </p:nvSpPr>
        <p:spPr>
          <a:xfrm>
            <a:off x="4456261" y="1853140"/>
            <a:ext cx="3480901" cy="2563601"/>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 unidade independente é a fotografia: separando por fotografia, o modelo simples cai de AUC 0,984 para 0,495.</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 região alterada é pequena (mediana de 2,6% da imagem), o que desbalanceia os pixels num modelo que localiza a fraude.</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Em 35 cenas de rotação e escala, a imagem inteira muda, e um detector pode aprender esse atalho.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modo de cor misto (RGB e RGBA) exige conversão antes de comparar imagens.</a:t>
            </a:r>
            <a:endParaRPr lang="en-US" sz="1300" dirty="0"/>
          </a:p>
        </p:txBody>
      </p:sp>
      <p:sp>
        <p:nvSpPr>
          <p:cNvPr id="14" name="Shape 9"/>
          <p:cNvSpPr/>
          <p:nvPr/>
        </p:nvSpPr>
        <p:spPr>
          <a:xfrm>
            <a:off x="8094133" y="1352550"/>
            <a:ext cx="3488267" cy="0"/>
          </a:xfrm>
          <a:prstGeom prst="line">
            <a:avLst/>
          </a:prstGeom>
          <a:noFill/>
          <a:ln w="38100">
            <a:solidFill>
              <a:srgbClr val="2C5070"/>
            </a:solidFill>
            <a:prstDash val="solid"/>
          </a:ln>
        </p:spPr>
      </p:sp>
      <p:pic>
        <p:nvPicPr>
          <p:cNvPr id="15" name="Image 3" descr="Lock">    </p:cNvPr>
          <p:cNvPicPr>
            <a:picLocks noChangeAspect="1"/>
          </p:cNvPicPr>
          <p:nvPr/>
        </p:nvPicPr>
        <p:blipFill>
          <a:blip r:embed="rId4"/>
          <a:srcRect l="0" r="0" t="0" b="0"/>
          <a:stretch/>
        </p:blipFill>
        <p:spPr>
          <a:xfrm>
            <a:off x="8094133" y="1497540"/>
            <a:ext cx="254000" cy="254000"/>
          </a:xfrm>
          <a:prstGeom prst="rect">
            <a:avLst/>
          </a:prstGeom>
        </p:spPr>
      </p:pic>
      <p:sp>
        <p:nvSpPr>
          <p:cNvPr id="16" name="Text 10"/>
          <p:cNvSpPr/>
          <p:nvPr/>
        </p:nvSpPr>
        <p:spPr>
          <a:xfrm>
            <a:off x="8424333" y="1502625"/>
            <a:ext cx="1476883"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Limitações</a:t>
            </a:r>
            <a:endParaRPr lang="en-US" sz="1600" dirty="0"/>
          </a:p>
        </p:txBody>
      </p:sp>
      <p:sp>
        <p:nvSpPr>
          <p:cNvPr id="17" name="Text 11"/>
          <p:cNvSpPr/>
          <p:nvPr/>
        </p:nvSpPr>
        <p:spPr>
          <a:xfrm>
            <a:off x="8198527" y="1853140"/>
            <a:ext cx="3480901" cy="3482975"/>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41 fotografias é pouco para treinar um modelo profundo. O uso mais realista é testar robustez e transferência de detectores treinados em outras bases (hipótese).</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PSNR cobre só 6,25% das versões degradadas.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papel da máscara B (marcar origem e cópia) foi deduzido dos números e não está documentado.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modelo simples usou só características globais; a localização da região não foi avaliada.</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Uso só acadêmico, sem redistribuir nem modificar as imagens.</a:t>
            </a:r>
            <a:endParaRPr lang="en-US" sz="1300" dirty="0"/>
          </a:p>
        </p:txBody>
      </p:sp>
      <p:sp>
        <p:nvSpPr>
          <p:cNvPr id="18" name="Text 12"/>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9" name="Text 13"/>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CIC-IOT2023</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É, QUEM CRIOU E COMO OS DADOS SÃO GERADOS</a:t>
            </a:r>
            <a:endParaRPr lang="en-US" sz="1600" dirty="0"/>
          </a:p>
        </p:txBody>
      </p:sp>
      <p:sp>
        <p:nvSpPr>
          <p:cNvPr id="6" name="Text 3"/>
          <p:cNvSpPr/>
          <p:nvPr/>
        </p:nvSpPr>
        <p:spPr>
          <a:xfrm>
            <a:off x="609600" y="1333500"/>
            <a:ext cx="536321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Base de tráfego de rede criada pelo Canadian Institute for Cybersecurity (CIC), da University of New Brunswick, Canadá, e descrita por Neto et al. (Sensors, 2023).</a:t>
            </a:r>
            <a:endParaRPr lang="en-US" sz="1400" dirty="0"/>
          </a:p>
        </p:txBody>
      </p:sp>
      <p:sp>
        <p:nvSpPr>
          <p:cNvPr id="7" name="Text 4"/>
          <p:cNvSpPr/>
          <p:nvPr/>
        </p:nvSpPr>
        <p:spPr>
          <a:xfrm>
            <a:off x="609600" y="2207258"/>
            <a:ext cx="536321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Os autores montaram uma rede com 105 dispositivos IoT reais e executaram 33 ataques, agrupados em 7 categorias:</a:t>
            </a:r>
            <a:endParaRPr lang="en-US" sz="1400" dirty="0"/>
          </a:p>
        </p:txBody>
      </p:sp>
      <p:sp>
        <p:nvSpPr>
          <p:cNvPr id="8" name="Text 5"/>
          <p:cNvSpPr/>
          <p:nvPr/>
        </p:nvSpPr>
        <p:spPr>
          <a:xfrm>
            <a:off x="609600" y="2832100"/>
            <a:ext cx="643149" cy="264160"/>
          </a:xfrm>
          <a:custGeom>
            <a:avLst/>
            <a:gdLst/>
            <a:ahLst/>
            <a:cxnLst/>
            <a:rect l="l" t="t" r="r" b="b"/>
            <a:pathLst>
              <a:path w="643149" h="264160">
                <a:moveTo>
                  <a:pt x="132080" y="0"/>
                </a:moveTo>
                <a:lnTo>
                  <a:pt x="511069" y="0"/>
                </a:lnTo>
                <a:arcTo hR="132080" wR="132080" stAng="16200000" swAng="5400000"/>
                <a:lnTo>
                  <a:pt x="643149"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DDoS</a:t>
            </a:r>
            <a:endParaRPr lang="en-US" sz="1200" dirty="0"/>
          </a:p>
        </p:txBody>
      </p:sp>
      <p:sp>
        <p:nvSpPr>
          <p:cNvPr id="9" name="Text 6"/>
          <p:cNvSpPr/>
          <p:nvPr/>
        </p:nvSpPr>
        <p:spPr>
          <a:xfrm>
            <a:off x="1328949" y="2832100"/>
            <a:ext cx="532236" cy="264160"/>
          </a:xfrm>
          <a:custGeom>
            <a:avLst/>
            <a:gdLst/>
            <a:ahLst/>
            <a:cxnLst/>
            <a:rect l="l" t="t" r="r" b="b"/>
            <a:pathLst>
              <a:path w="532236" h="264160">
                <a:moveTo>
                  <a:pt x="132080" y="0"/>
                </a:moveTo>
                <a:lnTo>
                  <a:pt x="400156" y="0"/>
                </a:lnTo>
                <a:arcTo hR="132080" wR="132080" stAng="16200000" swAng="5400000"/>
                <a:lnTo>
                  <a:pt x="532236"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DoS</a:t>
            </a:r>
            <a:endParaRPr lang="en-US" sz="1200" dirty="0"/>
          </a:p>
        </p:txBody>
      </p:sp>
      <p:sp>
        <p:nvSpPr>
          <p:cNvPr id="10" name="Text 7"/>
          <p:cNvSpPr/>
          <p:nvPr/>
        </p:nvSpPr>
        <p:spPr>
          <a:xfrm>
            <a:off x="1937385" y="2832100"/>
            <a:ext cx="685377" cy="264160"/>
          </a:xfrm>
          <a:custGeom>
            <a:avLst/>
            <a:gdLst/>
            <a:ahLst/>
            <a:cxnLst/>
            <a:rect l="l" t="t" r="r" b="b"/>
            <a:pathLst>
              <a:path w="685377" h="264160">
                <a:moveTo>
                  <a:pt x="132080" y="0"/>
                </a:moveTo>
                <a:lnTo>
                  <a:pt x="553297" y="0"/>
                </a:lnTo>
                <a:arcTo hR="132080" wR="132080" stAng="16200000" swAng="5400000"/>
                <a:lnTo>
                  <a:pt x="685377"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Recon</a:t>
            </a:r>
            <a:endParaRPr lang="en-US" sz="1200" dirty="0"/>
          </a:p>
        </p:txBody>
      </p:sp>
      <p:sp>
        <p:nvSpPr>
          <p:cNvPr id="11" name="Text 8"/>
          <p:cNvSpPr/>
          <p:nvPr/>
        </p:nvSpPr>
        <p:spPr>
          <a:xfrm>
            <a:off x="2698962" y="2832100"/>
            <a:ext cx="1025842" cy="264160"/>
          </a:xfrm>
          <a:custGeom>
            <a:avLst/>
            <a:gdLst/>
            <a:ahLst/>
            <a:cxnLst/>
            <a:rect l="l" t="t" r="r" b="b"/>
            <a:pathLst>
              <a:path w="1025842" h="264160">
                <a:moveTo>
                  <a:pt x="132080" y="0"/>
                </a:moveTo>
                <a:lnTo>
                  <a:pt x="893762" y="0"/>
                </a:lnTo>
                <a:arcTo hR="132080" wR="132080" stAng="16200000" swAng="5400000"/>
                <a:lnTo>
                  <a:pt x="1025842"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Web-based</a:t>
            </a:r>
            <a:endParaRPr lang="en-US" sz="1200" dirty="0"/>
          </a:p>
        </p:txBody>
      </p:sp>
      <p:sp>
        <p:nvSpPr>
          <p:cNvPr id="12" name="Text 9"/>
          <p:cNvSpPr/>
          <p:nvPr/>
        </p:nvSpPr>
        <p:spPr>
          <a:xfrm>
            <a:off x="3801004" y="2832100"/>
            <a:ext cx="1045951" cy="264160"/>
          </a:xfrm>
          <a:custGeom>
            <a:avLst/>
            <a:gdLst/>
            <a:ahLst/>
            <a:cxnLst/>
            <a:rect l="l" t="t" r="r" b="b"/>
            <a:pathLst>
              <a:path w="1045951" h="264160">
                <a:moveTo>
                  <a:pt x="132080" y="0"/>
                </a:moveTo>
                <a:lnTo>
                  <a:pt x="913871" y="0"/>
                </a:lnTo>
                <a:arcTo hR="132080" wR="132080" stAng="16200000" swAng="5400000"/>
                <a:lnTo>
                  <a:pt x="1045951"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Brute Force</a:t>
            </a:r>
            <a:endParaRPr lang="en-US" sz="1200" dirty="0"/>
          </a:p>
        </p:txBody>
      </p:sp>
      <p:sp>
        <p:nvSpPr>
          <p:cNvPr id="13" name="Text 10"/>
          <p:cNvSpPr/>
          <p:nvPr/>
        </p:nvSpPr>
        <p:spPr>
          <a:xfrm>
            <a:off x="4923155" y="2832100"/>
            <a:ext cx="866881" cy="264160"/>
          </a:xfrm>
          <a:custGeom>
            <a:avLst/>
            <a:gdLst/>
            <a:ahLst/>
            <a:cxnLst/>
            <a:rect l="l" t="t" r="r" b="b"/>
            <a:pathLst>
              <a:path w="866881" h="264160">
                <a:moveTo>
                  <a:pt x="132080" y="0"/>
                </a:moveTo>
                <a:lnTo>
                  <a:pt x="734801" y="0"/>
                </a:lnTo>
                <a:arcTo hR="132080" wR="132080" stAng="16200000" swAng="5400000"/>
                <a:lnTo>
                  <a:pt x="866881"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Spoofing</a:t>
            </a:r>
            <a:endParaRPr lang="en-US" sz="1200" dirty="0"/>
          </a:p>
        </p:txBody>
      </p:sp>
      <p:sp>
        <p:nvSpPr>
          <p:cNvPr id="14" name="Text 11"/>
          <p:cNvSpPr/>
          <p:nvPr/>
        </p:nvSpPr>
        <p:spPr>
          <a:xfrm>
            <a:off x="609600" y="3172458"/>
            <a:ext cx="572452" cy="264160"/>
          </a:xfrm>
          <a:custGeom>
            <a:avLst/>
            <a:gdLst/>
            <a:ahLst/>
            <a:cxnLst/>
            <a:rect l="l" t="t" r="r" b="b"/>
            <a:pathLst>
              <a:path w="572452" h="264160">
                <a:moveTo>
                  <a:pt x="132080" y="0"/>
                </a:moveTo>
                <a:lnTo>
                  <a:pt x="440372" y="0"/>
                </a:lnTo>
                <a:arcTo hR="132080" wR="132080" stAng="16200000" swAng="5400000"/>
                <a:lnTo>
                  <a:pt x="572452" y="132080"/>
                </a:lnTo>
                <a:arcTo hR="132080" wR="132080" stAng="0" swAng="5400000"/>
                <a:lnTo>
                  <a:pt x="132080" y="264160"/>
                </a:lnTo>
                <a:arcTo hR="132080" wR="132080" stAng="5400000" swAng="5400000"/>
                <a:lnTo>
                  <a:pt x="0" y="132080"/>
                </a:lnTo>
                <a:arcTo hR="132080" wR="132080" stAng="10800000" swAng="5400000"/>
                <a:close/>
              </a:path>
            </a:pathLst>
          </a:custGeom>
          <a:solidFill>
            <a:srgbClr val="2C5070"/>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Archivo" pitchFamily="34" charset="0"/>
                <a:ea typeface="Archivo" pitchFamily="34" charset="-122"/>
                <a:cs typeface="Archivo" pitchFamily="34" charset="-120"/>
              </a:rPr>
              <a:t>Mirai</a:t>
            </a:r>
            <a:endParaRPr lang="en-US" sz="1200" dirty="0"/>
          </a:p>
        </p:txBody>
      </p:sp>
      <p:sp>
        <p:nvSpPr>
          <p:cNvPr id="15" name="Text 12"/>
          <p:cNvSpPr/>
          <p:nvPr/>
        </p:nvSpPr>
        <p:spPr>
          <a:xfrm>
            <a:off x="609600" y="3563621"/>
            <a:ext cx="536321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Segundo a documentação, a base tem 46.686.579 registros e 46 atributos. O download exige formulário de cadastro no site do CIC.</a:t>
            </a:r>
            <a:endParaRPr lang="en-US" sz="1300" dirty="0"/>
          </a:p>
        </p:txBody>
      </p:sp>
      <p:sp>
        <p:nvSpPr>
          <p:cNvPr id="16" name="Shape 13"/>
          <p:cNvSpPr/>
          <p:nvPr/>
        </p:nvSpPr>
        <p:spPr>
          <a:xfrm>
            <a:off x="6121400" y="1333500"/>
            <a:ext cx="5461000" cy="4177030"/>
          </a:xfrm>
          <a:prstGeom prst="roundRect">
            <a:avLst>
              <a:gd name="adj" fmla="val 2432"/>
            </a:avLst>
          </a:prstGeom>
          <a:solidFill>
            <a:srgbClr val="EAF0F5"/>
          </a:solidFill>
          <a:ln/>
        </p:spPr>
      </p:sp>
      <p:sp>
        <p:nvSpPr>
          <p:cNvPr id="17" name="Text 14"/>
          <p:cNvSpPr/>
          <p:nvPr/>
        </p:nvSpPr>
        <p:spPr>
          <a:xfrm>
            <a:off x="6324600" y="1536700"/>
            <a:ext cx="520623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Do tráfego à tabela</a:t>
            </a:r>
            <a:endParaRPr lang="en-US" sz="1600" dirty="0"/>
          </a:p>
        </p:txBody>
      </p:sp>
      <p:sp>
        <p:nvSpPr>
          <p:cNvPr id="18" name="Shape 15"/>
          <p:cNvSpPr/>
          <p:nvPr/>
        </p:nvSpPr>
        <p:spPr>
          <a:xfrm>
            <a:off x="6324600" y="1856742"/>
            <a:ext cx="5054600" cy="436880"/>
          </a:xfrm>
          <a:prstGeom prst="roundRect">
            <a:avLst>
              <a:gd name="adj" fmla="val 17442"/>
            </a:avLst>
          </a:prstGeom>
          <a:solidFill>
            <a:srgbClr val="FFFFFF"/>
          </a:solidFill>
          <a:ln/>
        </p:spPr>
      </p:sp>
      <p:sp>
        <p:nvSpPr>
          <p:cNvPr id="19" name="Text 16"/>
          <p:cNvSpPr/>
          <p:nvPr/>
        </p:nvSpPr>
        <p:spPr>
          <a:xfrm>
            <a:off x="6451600" y="1932942"/>
            <a:ext cx="11736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1</a:t>
            </a:r>
            <a:endParaRPr lang="en-US" sz="1600" dirty="0"/>
          </a:p>
        </p:txBody>
      </p:sp>
      <p:sp>
        <p:nvSpPr>
          <p:cNvPr id="20" name="Text 17"/>
          <p:cNvSpPr/>
          <p:nvPr/>
        </p:nvSpPr>
        <p:spPr>
          <a:xfrm>
            <a:off x="6619770" y="1963738"/>
            <a:ext cx="475943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C5070"/>
                </a:solidFill>
                <a:latin typeface="Archivo" pitchFamily="34" charset="0"/>
                <a:ea typeface="Archivo" pitchFamily="34" charset="-122"/>
                <a:cs typeface="Archivo" pitchFamily="34" charset="-120"/>
              </a:rPr>
              <a:t>Captura do tráfego durante os ataques, em arquivos PCAP</a:t>
            </a:r>
            <a:endParaRPr lang="en-US" sz="1300" dirty="0"/>
          </a:p>
        </p:txBody>
      </p:sp>
      <p:pic>
        <p:nvPicPr>
          <p:cNvPr id="21" name="Image 1" descr="arrow-down">    </p:cNvPr>
          <p:cNvPicPr>
            <a:picLocks noChangeAspect="1"/>
          </p:cNvPicPr>
          <p:nvPr/>
        </p:nvPicPr>
        <p:blipFill>
          <a:blip r:embed="rId2"/>
          <a:srcRect l="0" r="0" t="0" b="0"/>
          <a:stretch/>
        </p:blipFill>
        <p:spPr>
          <a:xfrm>
            <a:off x="8775700" y="2369821"/>
            <a:ext cx="152400" cy="254000"/>
          </a:xfrm>
          <a:prstGeom prst="rect">
            <a:avLst/>
          </a:prstGeom>
        </p:spPr>
      </p:pic>
      <p:sp>
        <p:nvSpPr>
          <p:cNvPr id="22" name="Shape 18"/>
          <p:cNvSpPr/>
          <p:nvPr/>
        </p:nvSpPr>
        <p:spPr>
          <a:xfrm>
            <a:off x="6324600" y="2700021"/>
            <a:ext cx="5054600" cy="598170"/>
          </a:xfrm>
          <a:prstGeom prst="roundRect">
            <a:avLst>
              <a:gd name="adj" fmla="val 12739"/>
            </a:avLst>
          </a:prstGeom>
          <a:solidFill>
            <a:srgbClr val="FFFFFF"/>
          </a:solidFill>
          <a:ln/>
        </p:spPr>
      </p:sp>
      <p:sp>
        <p:nvSpPr>
          <p:cNvPr id="23" name="Text 19"/>
          <p:cNvSpPr/>
          <p:nvPr/>
        </p:nvSpPr>
        <p:spPr>
          <a:xfrm>
            <a:off x="6451600" y="2856867"/>
            <a:ext cx="1485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2</a:t>
            </a:r>
            <a:endParaRPr lang="en-US" sz="1600" dirty="0"/>
          </a:p>
        </p:txBody>
      </p:sp>
      <p:sp>
        <p:nvSpPr>
          <p:cNvPr id="24" name="Text 20"/>
          <p:cNvSpPr/>
          <p:nvPr/>
        </p:nvSpPr>
        <p:spPr>
          <a:xfrm>
            <a:off x="6650990" y="2776221"/>
            <a:ext cx="473924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C5070"/>
                </a:solidFill>
                <a:latin typeface="Archivo" pitchFamily="34" charset="0"/>
                <a:ea typeface="Archivo" pitchFamily="34" charset="-122"/>
                <a:cs typeface="Archivo" pitchFamily="34" charset="-120"/>
              </a:rPr>
              <a:t>TCPDump divide os PCAP em arquivos menores; Mergecap junta capturas</a:t>
            </a:r>
            <a:endParaRPr lang="en-US" sz="1300" dirty="0"/>
          </a:p>
        </p:txBody>
      </p:sp>
      <p:pic>
        <p:nvPicPr>
          <p:cNvPr id="25" name="Image 2" descr="arrow-down">    </p:cNvPr>
          <p:cNvPicPr>
            <a:picLocks noChangeAspect="1"/>
          </p:cNvPicPr>
          <p:nvPr/>
        </p:nvPicPr>
        <p:blipFill>
          <a:blip r:embed="rId3"/>
          <a:srcRect l="0" r="0" t="0" b="0"/>
          <a:stretch/>
        </p:blipFill>
        <p:spPr>
          <a:xfrm>
            <a:off x="8775700" y="3374392"/>
            <a:ext cx="152400" cy="254000"/>
          </a:xfrm>
          <a:prstGeom prst="rect">
            <a:avLst/>
          </a:prstGeom>
        </p:spPr>
      </p:pic>
      <p:sp>
        <p:nvSpPr>
          <p:cNvPr id="26" name="Shape 21"/>
          <p:cNvSpPr/>
          <p:nvPr/>
        </p:nvSpPr>
        <p:spPr>
          <a:xfrm>
            <a:off x="6324600" y="3704592"/>
            <a:ext cx="5054600" cy="598170"/>
          </a:xfrm>
          <a:prstGeom prst="roundRect">
            <a:avLst>
              <a:gd name="adj" fmla="val 12739"/>
            </a:avLst>
          </a:prstGeom>
          <a:solidFill>
            <a:srgbClr val="FFFFFF"/>
          </a:solidFill>
          <a:ln/>
        </p:spPr>
      </p:sp>
      <p:sp>
        <p:nvSpPr>
          <p:cNvPr id="27" name="Text 22"/>
          <p:cNvSpPr/>
          <p:nvPr/>
        </p:nvSpPr>
        <p:spPr>
          <a:xfrm>
            <a:off x="6451600" y="3861433"/>
            <a:ext cx="15684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3</a:t>
            </a:r>
            <a:endParaRPr lang="en-US" sz="1600" dirty="0"/>
          </a:p>
        </p:txBody>
      </p:sp>
      <p:sp>
        <p:nvSpPr>
          <p:cNvPr id="28" name="Text 23"/>
          <p:cNvSpPr/>
          <p:nvPr/>
        </p:nvSpPr>
        <p:spPr>
          <a:xfrm>
            <a:off x="6659245" y="3780792"/>
            <a:ext cx="473074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C5070"/>
                </a:solidFill>
                <a:latin typeface="Archivo" pitchFamily="34" charset="0"/>
                <a:ea typeface="Archivo" pitchFamily="34" charset="-122"/>
                <a:cs typeface="Archivo" pitchFamily="34" charset="-120"/>
              </a:rPr>
              <a:t>DPKT extrai os atributos de cada arquivo; PySpark trata os dados</a:t>
            </a:r>
            <a:endParaRPr lang="en-US" sz="1300" dirty="0"/>
          </a:p>
        </p:txBody>
      </p:sp>
      <p:pic>
        <p:nvPicPr>
          <p:cNvPr id="29" name="Image 3" descr="arrow-down">    </p:cNvPr>
          <p:cNvPicPr>
            <a:picLocks noChangeAspect="1"/>
          </p:cNvPicPr>
          <p:nvPr/>
        </p:nvPicPr>
        <p:blipFill>
          <a:blip r:embed="rId4"/>
          <a:srcRect l="0" r="0" t="0" b="0"/>
          <a:stretch/>
        </p:blipFill>
        <p:spPr>
          <a:xfrm>
            <a:off x="8775700" y="4378958"/>
            <a:ext cx="152400" cy="254000"/>
          </a:xfrm>
          <a:prstGeom prst="rect">
            <a:avLst/>
          </a:prstGeom>
        </p:spPr>
      </p:pic>
      <p:sp>
        <p:nvSpPr>
          <p:cNvPr id="30" name="Shape 24"/>
          <p:cNvSpPr/>
          <p:nvPr/>
        </p:nvSpPr>
        <p:spPr>
          <a:xfrm>
            <a:off x="6324600" y="4709158"/>
            <a:ext cx="5054600" cy="598170"/>
          </a:xfrm>
          <a:prstGeom prst="roundRect">
            <a:avLst>
              <a:gd name="adj" fmla="val 12739"/>
            </a:avLst>
          </a:prstGeom>
          <a:solidFill>
            <a:srgbClr val="FFFFFF"/>
          </a:solidFill>
          <a:ln/>
        </p:spPr>
      </p:sp>
      <p:sp>
        <p:nvSpPr>
          <p:cNvPr id="31" name="Text 25"/>
          <p:cNvSpPr/>
          <p:nvPr/>
        </p:nvSpPr>
        <p:spPr>
          <a:xfrm>
            <a:off x="6451600" y="4866004"/>
            <a:ext cx="15038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4</a:t>
            </a:r>
            <a:endParaRPr lang="en-US" sz="1600" dirty="0"/>
          </a:p>
        </p:txBody>
      </p:sp>
      <p:sp>
        <p:nvSpPr>
          <p:cNvPr id="32" name="Text 26"/>
          <p:cNvSpPr/>
          <p:nvPr/>
        </p:nvSpPr>
        <p:spPr>
          <a:xfrm>
            <a:off x="6652789" y="4785358"/>
            <a:ext cx="473739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C5070"/>
                </a:solidFill>
                <a:latin typeface="Archivo" pitchFamily="34" charset="0"/>
                <a:ea typeface="Archivo" pitchFamily="34" charset="-122"/>
                <a:cs typeface="Archivo" pitchFamily="34" charset="-120"/>
              </a:rPr>
              <a:t>CSV com atributos numéricos, pronto para aprendizado de máquina</a:t>
            </a:r>
            <a:endParaRPr lang="en-US" sz="1300" dirty="0"/>
          </a:p>
        </p:txBody>
      </p:sp>
      <p:sp>
        <p:nvSpPr>
          <p:cNvPr id="33" name="Text 27"/>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34" name="Text 28"/>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CIC-IOT2023: ARQUIVOS RECEBIDOS</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CHEGOU E COMO AS 39 COLUNAS SE ORGANIZAM</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83" y="1344083"/>
          <a:ext cx="5196417" cy="1653117"/>
        </p:xfrm>
        <a:graphic>
          <a:graphicData uri="http://schemas.openxmlformats.org/drawingml/2006/table">
            <a:tbl>
              <a:tblPr/>
              <a:tblGrid>
                <a:gridCol w="3117850"/>
                <a:gridCol w="1039283"/>
                <a:gridCol w="1039283"/>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Arquivo CSV (um por ataque)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Linhas</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Tamanho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DoS-HTTP_Flood.pcap.csv</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40.686</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8,6 MB</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DoS-HTTP_Flood1.pcap.csv</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31.175</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6,6 MB</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DDoS-HTTP_Flood-.pcap.csv</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28.790</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6,2 MB</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DictionaryBruteForce.pcap.csv</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13.064</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2,6 MB</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713994" y="3124200"/>
            <a:ext cx="5251196" cy="1675130"/>
          </a:xfrm>
          <a:prstGeom prst="rect">
            <a:avLst/>
          </a:prstGeom>
          <a:noFill/>
          <a:ln/>
        </p:spPr>
        <p:txBody>
          <a:bodyPr wrap="square" lIns="0" tIns="0" rIns="0" bIns="0" rtlCol="0" anchor="t">
            <a:normAutofit/>
          </a:bodyPr>
          <a:lstStyle/>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Os quatro têm as mesmas 39 colunas numéricas e nenhuma coluna de rótulo: a classe só aparece no nome do arquivo.</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DoS-HTTP_Flood e DoS-HTTP_Flood1 têm só 42 linhas em comum e parecem ser dois pedaços da mesma captura.</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Esses dois arquivos têm linhas repetidas: 24 e 306.</a:t>
            </a:r>
            <a:endParaRPr lang="en-US" sz="1300" dirty="0"/>
          </a:p>
          <a:p>
            <a:pPr algn="l" marL="149606" indent="-149606">
              <a:lnSpc>
                <a:spcPts val="1820"/>
              </a:lnSpc>
              <a:buSzPct val="100000"/>
              <a:buChar char="•"/>
            </a:pPr>
            <a:r>
              <a:rPr lang="en-US" sz="1300" dirty="0">
                <a:solidFill>
                  <a:srgbClr val="2C5070"/>
                </a:solidFill>
                <a:latin typeface="Archivo" pitchFamily="34" charset="0"/>
                <a:ea typeface="Archivo" pitchFamily="34" charset="-122"/>
                <a:cs typeface="Archivo" pitchFamily="34" charset="-120"/>
              </a:rPr>
              <a:t>A documentação lista 46 atributos, com nomes em parte diferentes, como flow_duration e Radius.</a:t>
            </a:r>
            <a:endParaRPr lang="en-US" sz="1300" dirty="0"/>
          </a:p>
        </p:txBody>
      </p:sp>
      <p:sp>
        <p:nvSpPr>
          <p:cNvPr id="8" name="Text 4"/>
          <p:cNvSpPr/>
          <p:nvPr/>
        </p:nvSpPr>
        <p:spPr>
          <a:xfrm>
            <a:off x="6121400" y="1333500"/>
            <a:ext cx="562483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As 39 colunas em seis grupos</a:t>
            </a:r>
            <a:endParaRPr lang="en-US" sz="1600" dirty="0"/>
          </a:p>
        </p:txBody>
      </p:sp>
      <p:sp>
        <p:nvSpPr>
          <p:cNvPr id="9" name="Shape 5"/>
          <p:cNvSpPr/>
          <p:nvPr/>
        </p:nvSpPr>
        <p:spPr>
          <a:xfrm>
            <a:off x="6140450" y="1666242"/>
            <a:ext cx="0" cy="474980"/>
          </a:xfrm>
          <a:prstGeom prst="line">
            <a:avLst/>
          </a:prstGeom>
          <a:noFill/>
          <a:ln w="38100">
            <a:solidFill>
              <a:srgbClr val="2C5070"/>
            </a:solidFill>
            <a:prstDash val="solid"/>
          </a:ln>
        </p:spPr>
      </p:sp>
      <p:sp>
        <p:nvSpPr>
          <p:cNvPr id="10" name="Text 6"/>
          <p:cNvSpPr/>
          <p:nvPr/>
        </p:nvSpPr>
        <p:spPr>
          <a:xfrm>
            <a:off x="6260042" y="1691642"/>
            <a:ext cx="54820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5474"/>
                </a:solidFill>
                <a:latin typeface="Archivo" pitchFamily="34" charset="0"/>
                <a:ea typeface="Archivo" pitchFamily="34" charset="-122"/>
                <a:cs typeface="Archivo" pitchFamily="34" charset="-120"/>
              </a:rPr>
              <a:t>Cabeçalho e taxa (4)</a:t>
            </a:r>
            <a:endParaRPr lang="en-US" sz="1200" dirty="0"/>
          </a:p>
        </p:txBody>
      </p:sp>
      <p:sp>
        <p:nvSpPr>
          <p:cNvPr id="11" name="Text 7"/>
          <p:cNvSpPr/>
          <p:nvPr/>
        </p:nvSpPr>
        <p:spPr>
          <a:xfrm>
            <a:off x="6260042" y="1917700"/>
            <a:ext cx="54820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6378"/>
                </a:solidFill>
                <a:latin typeface="Archivo" pitchFamily="34" charset="0"/>
                <a:ea typeface="Archivo" pitchFamily="34" charset="-122"/>
                <a:cs typeface="Archivo" pitchFamily="34" charset="-120"/>
              </a:rPr>
              <a:t>Header_Length, Protocol Type, Time_To_Live, Rate</a:t>
            </a:r>
            <a:endParaRPr lang="en-US" sz="1200" dirty="0"/>
          </a:p>
        </p:txBody>
      </p:sp>
      <p:sp>
        <p:nvSpPr>
          <p:cNvPr id="12" name="Shape 8"/>
          <p:cNvSpPr/>
          <p:nvPr/>
        </p:nvSpPr>
        <p:spPr>
          <a:xfrm>
            <a:off x="6140450" y="2230121"/>
            <a:ext cx="0" cy="474980"/>
          </a:xfrm>
          <a:prstGeom prst="line">
            <a:avLst/>
          </a:prstGeom>
          <a:noFill/>
          <a:ln w="38100">
            <a:solidFill>
              <a:srgbClr val="2C5070"/>
            </a:solidFill>
            <a:prstDash val="solid"/>
          </a:ln>
        </p:spPr>
      </p:sp>
      <p:sp>
        <p:nvSpPr>
          <p:cNvPr id="13" name="Text 9"/>
          <p:cNvSpPr/>
          <p:nvPr/>
        </p:nvSpPr>
        <p:spPr>
          <a:xfrm>
            <a:off x="6260042" y="2255521"/>
            <a:ext cx="54820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5474"/>
                </a:solidFill>
                <a:latin typeface="Archivo" pitchFamily="34" charset="0"/>
                <a:ea typeface="Archivo" pitchFamily="34" charset="-122"/>
                <a:cs typeface="Archivo" pitchFamily="34" charset="-120"/>
              </a:rPr>
              <a:t>Flags TCP em fração (7)</a:t>
            </a:r>
            <a:endParaRPr lang="en-US" sz="1200" dirty="0"/>
          </a:p>
        </p:txBody>
      </p:sp>
      <p:sp>
        <p:nvSpPr>
          <p:cNvPr id="14" name="Text 10"/>
          <p:cNvSpPr/>
          <p:nvPr/>
        </p:nvSpPr>
        <p:spPr>
          <a:xfrm>
            <a:off x="6260042" y="2481579"/>
            <a:ext cx="54820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6378"/>
                </a:solidFill>
                <a:latin typeface="Archivo" pitchFamily="34" charset="0"/>
                <a:ea typeface="Archivo" pitchFamily="34" charset="-122"/>
                <a:cs typeface="Archivo" pitchFamily="34" charset="-120"/>
              </a:rPr>
              <a:t>fin, syn, rst, psh, ack, ece e cwr _flag_number</a:t>
            </a:r>
            <a:endParaRPr lang="en-US" sz="1200" dirty="0"/>
          </a:p>
        </p:txBody>
      </p:sp>
      <p:sp>
        <p:nvSpPr>
          <p:cNvPr id="15" name="Shape 11"/>
          <p:cNvSpPr/>
          <p:nvPr/>
        </p:nvSpPr>
        <p:spPr>
          <a:xfrm>
            <a:off x="6140450" y="2794000"/>
            <a:ext cx="0" cy="474980"/>
          </a:xfrm>
          <a:prstGeom prst="line">
            <a:avLst/>
          </a:prstGeom>
          <a:noFill/>
          <a:ln w="38100">
            <a:solidFill>
              <a:srgbClr val="2C5070"/>
            </a:solidFill>
            <a:prstDash val="solid"/>
          </a:ln>
        </p:spPr>
      </p:sp>
      <p:sp>
        <p:nvSpPr>
          <p:cNvPr id="16" name="Text 12"/>
          <p:cNvSpPr/>
          <p:nvPr/>
        </p:nvSpPr>
        <p:spPr>
          <a:xfrm>
            <a:off x="6260042" y="2819400"/>
            <a:ext cx="54820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5474"/>
                </a:solidFill>
                <a:latin typeface="Archivo" pitchFamily="34" charset="0"/>
                <a:ea typeface="Archivo" pitchFamily="34" charset="-122"/>
                <a:cs typeface="Archivo" pitchFamily="34" charset="-120"/>
              </a:rPr>
              <a:t>Contagem de flags (4)</a:t>
            </a:r>
            <a:endParaRPr lang="en-US" sz="1200" dirty="0"/>
          </a:p>
        </p:txBody>
      </p:sp>
      <p:sp>
        <p:nvSpPr>
          <p:cNvPr id="17" name="Text 13"/>
          <p:cNvSpPr/>
          <p:nvPr/>
        </p:nvSpPr>
        <p:spPr>
          <a:xfrm>
            <a:off x="6260042" y="3045458"/>
            <a:ext cx="54820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6378"/>
                </a:solidFill>
                <a:latin typeface="Archivo" pitchFamily="34" charset="0"/>
                <a:ea typeface="Archivo" pitchFamily="34" charset="-122"/>
                <a:cs typeface="Archivo" pitchFamily="34" charset="-120"/>
              </a:rPr>
              <a:t>ack_count, syn_count, fin_count, rst_count</a:t>
            </a:r>
            <a:endParaRPr lang="en-US" sz="1200" dirty="0"/>
          </a:p>
        </p:txBody>
      </p:sp>
      <p:sp>
        <p:nvSpPr>
          <p:cNvPr id="18" name="Shape 14"/>
          <p:cNvSpPr/>
          <p:nvPr/>
        </p:nvSpPr>
        <p:spPr>
          <a:xfrm>
            <a:off x="6140450" y="3357879"/>
            <a:ext cx="0" cy="673100"/>
          </a:xfrm>
          <a:prstGeom prst="line">
            <a:avLst/>
          </a:prstGeom>
          <a:noFill/>
          <a:ln w="38100">
            <a:solidFill>
              <a:srgbClr val="2C5070"/>
            </a:solidFill>
            <a:prstDash val="solid"/>
          </a:ln>
        </p:spPr>
      </p:sp>
      <p:sp>
        <p:nvSpPr>
          <p:cNvPr id="19" name="Text 15"/>
          <p:cNvSpPr/>
          <p:nvPr/>
        </p:nvSpPr>
        <p:spPr>
          <a:xfrm>
            <a:off x="6260042" y="3383279"/>
            <a:ext cx="54820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5474"/>
                </a:solidFill>
                <a:latin typeface="Archivo" pitchFamily="34" charset="0"/>
                <a:ea typeface="Archivo" pitchFamily="34" charset="-122"/>
                <a:cs typeface="Archivo" pitchFamily="34" charset="-120"/>
              </a:rPr>
              <a:t>Protocolos presentes (15)</a:t>
            </a:r>
            <a:endParaRPr lang="en-US" sz="1200" dirty="0"/>
          </a:p>
        </p:txBody>
      </p:sp>
      <p:sp>
        <p:nvSpPr>
          <p:cNvPr id="20" name="Text 16"/>
          <p:cNvSpPr/>
          <p:nvPr/>
        </p:nvSpPr>
        <p:spPr>
          <a:xfrm>
            <a:off x="6260042" y="3609342"/>
            <a:ext cx="5482029"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6378"/>
                </a:solidFill>
                <a:latin typeface="Archivo" pitchFamily="34" charset="0"/>
                <a:ea typeface="Archivo" pitchFamily="34" charset="-122"/>
                <a:cs typeface="Archivo" pitchFamily="34" charset="-120"/>
              </a:rPr>
              <a:t>HTTP, HTTPS, DNS, Telnet, SMTP, SSH, IRC, TCP, UDP, DHCP, ARP, ICMP, IGMP, IPv, LLC</a:t>
            </a:r>
            <a:endParaRPr lang="en-US" sz="1200" dirty="0"/>
          </a:p>
        </p:txBody>
      </p:sp>
      <p:sp>
        <p:nvSpPr>
          <p:cNvPr id="21" name="Shape 17"/>
          <p:cNvSpPr/>
          <p:nvPr/>
        </p:nvSpPr>
        <p:spPr>
          <a:xfrm>
            <a:off x="6140450" y="4119879"/>
            <a:ext cx="0" cy="474980"/>
          </a:xfrm>
          <a:prstGeom prst="line">
            <a:avLst/>
          </a:prstGeom>
          <a:noFill/>
          <a:ln w="38100">
            <a:solidFill>
              <a:srgbClr val="2C5070"/>
            </a:solidFill>
            <a:prstDash val="solid"/>
          </a:ln>
        </p:spPr>
      </p:sp>
      <p:sp>
        <p:nvSpPr>
          <p:cNvPr id="22" name="Text 18"/>
          <p:cNvSpPr/>
          <p:nvPr/>
        </p:nvSpPr>
        <p:spPr>
          <a:xfrm>
            <a:off x="6260042" y="4145279"/>
            <a:ext cx="54820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5474"/>
                </a:solidFill>
                <a:latin typeface="Archivo" pitchFamily="34" charset="0"/>
                <a:ea typeface="Archivo" pitchFamily="34" charset="-122"/>
                <a:cs typeface="Archivo" pitchFamily="34" charset="-120"/>
              </a:rPr>
              <a:t>Tamanho dos pacotes (7)</a:t>
            </a:r>
            <a:endParaRPr lang="en-US" sz="1200" dirty="0"/>
          </a:p>
        </p:txBody>
      </p:sp>
      <p:sp>
        <p:nvSpPr>
          <p:cNvPr id="23" name="Text 19"/>
          <p:cNvSpPr/>
          <p:nvPr/>
        </p:nvSpPr>
        <p:spPr>
          <a:xfrm>
            <a:off x="6260042" y="4371342"/>
            <a:ext cx="54820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6378"/>
                </a:solidFill>
                <a:latin typeface="Archivo" pitchFamily="34" charset="0"/>
                <a:ea typeface="Archivo" pitchFamily="34" charset="-122"/>
                <a:cs typeface="Archivo" pitchFamily="34" charset="-120"/>
              </a:rPr>
              <a:t>Tot sum, Min, Max, AVG, Std, Tot size, Variance</a:t>
            </a:r>
            <a:endParaRPr lang="en-US" sz="1200" dirty="0"/>
          </a:p>
        </p:txBody>
      </p:sp>
      <p:sp>
        <p:nvSpPr>
          <p:cNvPr id="24" name="Shape 20"/>
          <p:cNvSpPr/>
          <p:nvPr/>
        </p:nvSpPr>
        <p:spPr>
          <a:xfrm>
            <a:off x="6140450" y="4683758"/>
            <a:ext cx="0" cy="474980"/>
          </a:xfrm>
          <a:prstGeom prst="line">
            <a:avLst/>
          </a:prstGeom>
          <a:noFill/>
          <a:ln w="38100">
            <a:solidFill>
              <a:srgbClr val="2C5070"/>
            </a:solidFill>
            <a:prstDash val="solid"/>
          </a:ln>
        </p:spPr>
      </p:sp>
      <p:sp>
        <p:nvSpPr>
          <p:cNvPr id="25" name="Text 21"/>
          <p:cNvSpPr/>
          <p:nvPr/>
        </p:nvSpPr>
        <p:spPr>
          <a:xfrm>
            <a:off x="6260042" y="4709158"/>
            <a:ext cx="548202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5474"/>
                </a:solidFill>
                <a:latin typeface="Archivo" pitchFamily="34" charset="0"/>
                <a:ea typeface="Archivo" pitchFamily="34" charset="-122"/>
                <a:cs typeface="Archivo" pitchFamily="34" charset="-120"/>
              </a:rPr>
              <a:t>Tempo e volume (2)</a:t>
            </a:r>
            <a:endParaRPr lang="en-US" sz="1200" dirty="0"/>
          </a:p>
        </p:txBody>
      </p:sp>
      <p:sp>
        <p:nvSpPr>
          <p:cNvPr id="26" name="Text 22"/>
          <p:cNvSpPr/>
          <p:nvPr/>
        </p:nvSpPr>
        <p:spPr>
          <a:xfrm>
            <a:off x="6260042" y="4935221"/>
            <a:ext cx="548202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6378"/>
                </a:solidFill>
                <a:latin typeface="Archivo" pitchFamily="34" charset="0"/>
                <a:ea typeface="Archivo" pitchFamily="34" charset="-122"/>
                <a:cs typeface="Archivo" pitchFamily="34" charset="-120"/>
              </a:rPr>
              <a:t>IAT (tempo entre pacotes), Number</a:t>
            </a:r>
            <a:endParaRPr lang="en-US" sz="1200" dirty="0"/>
          </a:p>
        </p:txBody>
      </p:sp>
      <p:sp>
        <p:nvSpPr>
          <p:cNvPr id="27" name="Text 23"/>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28" name="Text 24"/>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CIC-IOT2023: DDOS-HTTP_FLOOD</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ESTATÍSTICAS DO ARQUIVO ANALISADO</a:t>
            </a:r>
            <a:endParaRPr lang="en-US" sz="1600" dirty="0"/>
          </a:p>
        </p:txBody>
      </p:sp>
      <p:sp>
        <p:nvSpPr>
          <p:cNvPr id="6" name="Shape 3"/>
          <p:cNvSpPr/>
          <p:nvPr/>
        </p:nvSpPr>
        <p:spPr>
          <a:xfrm>
            <a:off x="609600" y="1333500"/>
            <a:ext cx="2628900" cy="1173480"/>
          </a:xfrm>
          <a:prstGeom prst="roundRect">
            <a:avLst>
              <a:gd name="adj" fmla="val 8658"/>
            </a:avLst>
          </a:prstGeom>
          <a:solidFill>
            <a:srgbClr val="EAF0F5"/>
          </a:solidFill>
          <a:ln/>
        </p:spPr>
      </p:sp>
      <p:sp>
        <p:nvSpPr>
          <p:cNvPr id="7" name="Text 4"/>
          <p:cNvSpPr/>
          <p:nvPr/>
        </p:nvSpPr>
        <p:spPr>
          <a:xfrm>
            <a:off x="7620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28.790</a:t>
            </a:r>
            <a:endParaRPr lang="en-US" sz="2800" dirty="0"/>
          </a:p>
        </p:txBody>
      </p:sp>
      <p:sp>
        <p:nvSpPr>
          <p:cNvPr id="8" name="Text 5"/>
          <p:cNvSpPr/>
          <p:nvPr/>
        </p:nvSpPr>
        <p:spPr>
          <a:xfrm>
            <a:off x="762000" y="1927858"/>
            <a:ext cx="23938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linhas (6,45 MB)</a:t>
            </a:r>
            <a:endParaRPr lang="en-US" sz="1200" dirty="0"/>
          </a:p>
        </p:txBody>
      </p:sp>
      <p:sp>
        <p:nvSpPr>
          <p:cNvPr id="9" name="Shape 6"/>
          <p:cNvSpPr/>
          <p:nvPr/>
        </p:nvSpPr>
        <p:spPr>
          <a:xfrm>
            <a:off x="3390900" y="1333500"/>
            <a:ext cx="2628900" cy="1173480"/>
          </a:xfrm>
          <a:prstGeom prst="roundRect">
            <a:avLst>
              <a:gd name="adj" fmla="val 8658"/>
            </a:avLst>
          </a:prstGeom>
          <a:solidFill>
            <a:srgbClr val="EAF0F5"/>
          </a:solidFill>
          <a:ln/>
        </p:spPr>
      </p:sp>
      <p:sp>
        <p:nvSpPr>
          <p:cNvPr id="10" name="Text 7"/>
          <p:cNvSpPr/>
          <p:nvPr/>
        </p:nvSpPr>
        <p:spPr>
          <a:xfrm>
            <a:off x="35433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39</a:t>
            </a:r>
            <a:endParaRPr lang="en-US" sz="2800" dirty="0"/>
          </a:p>
        </p:txBody>
      </p:sp>
      <p:sp>
        <p:nvSpPr>
          <p:cNvPr id="11" name="Text 8"/>
          <p:cNvSpPr/>
          <p:nvPr/>
        </p:nvSpPr>
        <p:spPr>
          <a:xfrm>
            <a:off x="3543300" y="1927858"/>
            <a:ext cx="23938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colunas: 30 decimais e 9 inteiras</a:t>
            </a:r>
            <a:endParaRPr lang="en-US" sz="1200" dirty="0"/>
          </a:p>
        </p:txBody>
      </p:sp>
      <p:sp>
        <p:nvSpPr>
          <p:cNvPr id="12" name="Shape 9"/>
          <p:cNvSpPr/>
          <p:nvPr/>
        </p:nvSpPr>
        <p:spPr>
          <a:xfrm>
            <a:off x="6172200" y="1333500"/>
            <a:ext cx="2628900" cy="1173480"/>
          </a:xfrm>
          <a:prstGeom prst="roundRect">
            <a:avLst>
              <a:gd name="adj" fmla="val 8658"/>
            </a:avLst>
          </a:prstGeom>
          <a:solidFill>
            <a:srgbClr val="EAF0F5"/>
          </a:solidFill>
          <a:ln/>
        </p:spPr>
      </p:sp>
      <p:sp>
        <p:nvSpPr>
          <p:cNvPr id="13" name="Text 10"/>
          <p:cNvSpPr/>
          <p:nvPr/>
        </p:nvSpPr>
        <p:spPr>
          <a:xfrm>
            <a:off x="63246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0</a:t>
            </a:r>
            <a:endParaRPr lang="en-US" sz="2800" dirty="0"/>
          </a:p>
        </p:txBody>
      </p:sp>
      <p:sp>
        <p:nvSpPr>
          <p:cNvPr id="14" name="Text 11"/>
          <p:cNvSpPr/>
          <p:nvPr/>
        </p:nvSpPr>
        <p:spPr>
          <a:xfrm>
            <a:off x="6324600" y="1927858"/>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nulos, linhas duplicadas ou valores infinitos</a:t>
            </a:r>
            <a:endParaRPr lang="en-US" sz="1200" dirty="0"/>
          </a:p>
        </p:txBody>
      </p:sp>
      <p:sp>
        <p:nvSpPr>
          <p:cNvPr id="15" name="Shape 12"/>
          <p:cNvSpPr/>
          <p:nvPr/>
        </p:nvSpPr>
        <p:spPr>
          <a:xfrm>
            <a:off x="8953500" y="1333500"/>
            <a:ext cx="2628900" cy="1173480"/>
          </a:xfrm>
          <a:prstGeom prst="roundRect">
            <a:avLst>
              <a:gd name="adj" fmla="val 8658"/>
            </a:avLst>
          </a:prstGeom>
          <a:solidFill>
            <a:srgbClr val="EAF0F5"/>
          </a:solidFill>
          <a:ln/>
        </p:spPr>
      </p:sp>
      <p:sp>
        <p:nvSpPr>
          <p:cNvPr id="16" name="Text 13"/>
          <p:cNvSpPr/>
          <p:nvPr/>
        </p:nvSpPr>
        <p:spPr>
          <a:xfrm>
            <a:off x="9105900" y="1485900"/>
            <a:ext cx="23938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3</a:t>
            </a:r>
            <a:endParaRPr lang="en-US" sz="2800" dirty="0"/>
          </a:p>
        </p:txBody>
      </p:sp>
      <p:sp>
        <p:nvSpPr>
          <p:cNvPr id="17" name="Text 14"/>
          <p:cNvSpPr/>
          <p:nvPr/>
        </p:nvSpPr>
        <p:spPr>
          <a:xfrm>
            <a:off x="9105900" y="1927858"/>
            <a:ext cx="23938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colunas constantes: Telnet, SMTP e IRC</a:t>
            </a:r>
            <a:endParaRPr lang="en-US" sz="1200" dirty="0"/>
          </a:p>
        </p:txBody>
      </p:sp>
      <p:sp>
        <p:nvSpPr>
          <p:cNvPr id="18" name="Text 15"/>
          <p:cNvSpPr/>
          <p:nvPr/>
        </p:nvSpPr>
        <p:spPr>
          <a:xfrm>
            <a:off x="609600" y="2710185"/>
            <a:ext cx="562483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Distribuição de variáveis-chave</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0183" y="3040798"/>
          <a:ext cx="5450417" cy="1866477"/>
        </p:xfrm>
        <a:graphic>
          <a:graphicData uri="http://schemas.openxmlformats.org/drawingml/2006/table">
            <a:tbl>
              <a:tblPr/>
              <a:tblGrid>
                <a:gridCol w="1308100"/>
                <a:gridCol w="981075"/>
                <a:gridCol w="981075"/>
                <a:gridCol w="2180167"/>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Variável</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Mediana</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Máximo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Observação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Rate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811</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699.051</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máximo 862 vezes a mediana</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IAT (s)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0,0012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46.665</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8 linhas acima de 1 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Time_To_Live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64,8</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207,2</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cauda longa à direita</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Number</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100</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100</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61 linhas abaixo de 100</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0" name="Text 16"/>
          <p:cNvSpPr/>
          <p:nvPr/>
        </p:nvSpPr>
        <p:spPr>
          <a:xfrm>
            <a:off x="609600" y="4983485"/>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19 das 39 colunas têm assimetria acima de 5 em módulo.</a:t>
            </a:r>
            <a:endParaRPr lang="en-US" sz="1200" dirty="0"/>
          </a:p>
        </p:txBody>
      </p:sp>
      <p:sp>
        <p:nvSpPr>
          <p:cNvPr id="21" name="Text 17"/>
          <p:cNvSpPr/>
          <p:nvPr/>
        </p:nvSpPr>
        <p:spPr>
          <a:xfrm>
            <a:off x="6375400" y="2710185"/>
            <a:ext cx="536321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Protocolos presentes (média por linha)</a:t>
            </a:r>
            <a:endParaRPr lang="en-US" sz="1600" dirty="0"/>
          </a:p>
        </p:txBody>
      </p:sp>
      <p:sp>
        <p:nvSpPr>
          <p:cNvPr id="22" name="Text 18"/>
          <p:cNvSpPr/>
          <p:nvPr/>
        </p:nvSpPr>
        <p:spPr>
          <a:xfrm>
            <a:off x="6375400" y="3030215"/>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TCP</a:t>
            </a:r>
            <a:endParaRPr lang="en-US" sz="1200" dirty="0"/>
          </a:p>
        </p:txBody>
      </p:sp>
      <p:sp>
        <p:nvSpPr>
          <p:cNvPr id="23" name="Shape 19"/>
          <p:cNvSpPr/>
          <p:nvPr/>
        </p:nvSpPr>
        <p:spPr>
          <a:xfrm>
            <a:off x="7112000" y="3035300"/>
            <a:ext cx="2667000" cy="203200"/>
          </a:xfrm>
          <a:prstGeom prst="rect">
            <a:avLst/>
          </a:prstGeom>
          <a:solidFill>
            <a:srgbClr val="DCE5EE"/>
          </a:solidFill>
          <a:ln/>
        </p:spPr>
      </p:sp>
      <p:sp>
        <p:nvSpPr>
          <p:cNvPr id="24" name="Shape 20"/>
          <p:cNvSpPr/>
          <p:nvPr/>
        </p:nvSpPr>
        <p:spPr>
          <a:xfrm>
            <a:off x="7112000" y="3035300"/>
            <a:ext cx="2571750" cy="203200"/>
          </a:xfrm>
          <a:prstGeom prst="rect">
            <a:avLst/>
          </a:prstGeom>
          <a:solidFill>
            <a:srgbClr val="2C5070"/>
          </a:solidFill>
          <a:ln/>
        </p:spPr>
      </p:sp>
      <p:sp>
        <p:nvSpPr>
          <p:cNvPr id="25" name="Text 21"/>
          <p:cNvSpPr/>
          <p:nvPr/>
        </p:nvSpPr>
        <p:spPr>
          <a:xfrm>
            <a:off x="9880600" y="3030215"/>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96,4%</a:t>
            </a:r>
            <a:endParaRPr lang="en-US" sz="1200" dirty="0"/>
          </a:p>
        </p:txBody>
      </p:sp>
      <p:sp>
        <p:nvSpPr>
          <p:cNvPr id="26" name="Text 22"/>
          <p:cNvSpPr/>
          <p:nvPr/>
        </p:nvSpPr>
        <p:spPr>
          <a:xfrm>
            <a:off x="6375400" y="3319785"/>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HTTP</a:t>
            </a:r>
            <a:endParaRPr lang="en-US" sz="1200" dirty="0"/>
          </a:p>
        </p:txBody>
      </p:sp>
      <p:sp>
        <p:nvSpPr>
          <p:cNvPr id="27" name="Shape 23"/>
          <p:cNvSpPr/>
          <p:nvPr/>
        </p:nvSpPr>
        <p:spPr>
          <a:xfrm>
            <a:off x="7112000" y="3324858"/>
            <a:ext cx="2667000" cy="203200"/>
          </a:xfrm>
          <a:prstGeom prst="rect">
            <a:avLst/>
          </a:prstGeom>
          <a:solidFill>
            <a:srgbClr val="DCE5EE"/>
          </a:solidFill>
          <a:ln/>
        </p:spPr>
      </p:sp>
      <p:sp>
        <p:nvSpPr>
          <p:cNvPr id="28" name="Shape 24"/>
          <p:cNvSpPr/>
          <p:nvPr/>
        </p:nvSpPr>
        <p:spPr>
          <a:xfrm>
            <a:off x="7112000" y="3324858"/>
            <a:ext cx="2076450" cy="203200"/>
          </a:xfrm>
          <a:prstGeom prst="rect">
            <a:avLst/>
          </a:prstGeom>
          <a:solidFill>
            <a:srgbClr val="2C5070"/>
          </a:solidFill>
          <a:ln/>
        </p:spPr>
      </p:sp>
      <p:sp>
        <p:nvSpPr>
          <p:cNvPr id="29" name="Text 25"/>
          <p:cNvSpPr/>
          <p:nvPr/>
        </p:nvSpPr>
        <p:spPr>
          <a:xfrm>
            <a:off x="9880600" y="3319785"/>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77,8%</a:t>
            </a:r>
            <a:endParaRPr lang="en-US" sz="1200" dirty="0"/>
          </a:p>
        </p:txBody>
      </p:sp>
      <p:sp>
        <p:nvSpPr>
          <p:cNvPr id="30" name="Text 26"/>
          <p:cNvSpPr/>
          <p:nvPr/>
        </p:nvSpPr>
        <p:spPr>
          <a:xfrm>
            <a:off x="6375400" y="3609342"/>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HTTPS</a:t>
            </a:r>
            <a:endParaRPr lang="en-US" sz="1200" dirty="0"/>
          </a:p>
        </p:txBody>
      </p:sp>
      <p:sp>
        <p:nvSpPr>
          <p:cNvPr id="31" name="Shape 27"/>
          <p:cNvSpPr/>
          <p:nvPr/>
        </p:nvSpPr>
        <p:spPr>
          <a:xfrm>
            <a:off x="7112000" y="3614415"/>
            <a:ext cx="2667000" cy="203200"/>
          </a:xfrm>
          <a:prstGeom prst="rect">
            <a:avLst/>
          </a:prstGeom>
          <a:solidFill>
            <a:srgbClr val="DCE5EE"/>
          </a:solidFill>
          <a:ln/>
        </p:spPr>
      </p:sp>
      <p:sp>
        <p:nvSpPr>
          <p:cNvPr id="32" name="Shape 28"/>
          <p:cNvSpPr/>
          <p:nvPr/>
        </p:nvSpPr>
        <p:spPr>
          <a:xfrm>
            <a:off x="7112000" y="3614415"/>
            <a:ext cx="82550" cy="203200"/>
          </a:xfrm>
          <a:prstGeom prst="rect">
            <a:avLst/>
          </a:prstGeom>
          <a:solidFill>
            <a:srgbClr val="2C5070"/>
          </a:solidFill>
          <a:ln/>
        </p:spPr>
      </p:sp>
      <p:sp>
        <p:nvSpPr>
          <p:cNvPr id="33" name="Text 29"/>
          <p:cNvSpPr/>
          <p:nvPr/>
        </p:nvSpPr>
        <p:spPr>
          <a:xfrm>
            <a:off x="9880600" y="3609342"/>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3,2%</a:t>
            </a:r>
            <a:endParaRPr lang="en-US" sz="1200" dirty="0"/>
          </a:p>
        </p:txBody>
      </p:sp>
      <p:sp>
        <p:nvSpPr>
          <p:cNvPr id="34" name="Text 30"/>
          <p:cNvSpPr/>
          <p:nvPr/>
        </p:nvSpPr>
        <p:spPr>
          <a:xfrm>
            <a:off x="6375400" y="38989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UDP</a:t>
            </a:r>
            <a:endParaRPr lang="en-US" sz="1200" dirty="0"/>
          </a:p>
        </p:txBody>
      </p:sp>
      <p:sp>
        <p:nvSpPr>
          <p:cNvPr id="35" name="Shape 31"/>
          <p:cNvSpPr/>
          <p:nvPr/>
        </p:nvSpPr>
        <p:spPr>
          <a:xfrm>
            <a:off x="7112000" y="3903985"/>
            <a:ext cx="2667000" cy="203200"/>
          </a:xfrm>
          <a:prstGeom prst="rect">
            <a:avLst/>
          </a:prstGeom>
          <a:solidFill>
            <a:srgbClr val="DCE5EE"/>
          </a:solidFill>
          <a:ln/>
        </p:spPr>
      </p:sp>
      <p:sp>
        <p:nvSpPr>
          <p:cNvPr id="36" name="Shape 32"/>
          <p:cNvSpPr/>
          <p:nvPr/>
        </p:nvSpPr>
        <p:spPr>
          <a:xfrm>
            <a:off x="7112000" y="3903985"/>
            <a:ext cx="69850" cy="203200"/>
          </a:xfrm>
          <a:prstGeom prst="rect">
            <a:avLst/>
          </a:prstGeom>
          <a:solidFill>
            <a:srgbClr val="2C5070"/>
          </a:solidFill>
          <a:ln/>
        </p:spPr>
      </p:sp>
      <p:sp>
        <p:nvSpPr>
          <p:cNvPr id="37" name="Text 33"/>
          <p:cNvSpPr/>
          <p:nvPr/>
        </p:nvSpPr>
        <p:spPr>
          <a:xfrm>
            <a:off x="9880600" y="3898900"/>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2,7%</a:t>
            </a:r>
            <a:endParaRPr lang="en-US" sz="1200" dirty="0"/>
          </a:p>
        </p:txBody>
      </p:sp>
      <p:sp>
        <p:nvSpPr>
          <p:cNvPr id="38" name="Text 34"/>
          <p:cNvSpPr/>
          <p:nvPr/>
        </p:nvSpPr>
        <p:spPr>
          <a:xfrm>
            <a:off x="6375400" y="4188458"/>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ARP</a:t>
            </a:r>
            <a:endParaRPr lang="en-US" sz="1200" dirty="0"/>
          </a:p>
        </p:txBody>
      </p:sp>
      <p:sp>
        <p:nvSpPr>
          <p:cNvPr id="39" name="Shape 35"/>
          <p:cNvSpPr/>
          <p:nvPr/>
        </p:nvSpPr>
        <p:spPr>
          <a:xfrm>
            <a:off x="7112000" y="4193542"/>
            <a:ext cx="2667000" cy="203200"/>
          </a:xfrm>
          <a:prstGeom prst="rect">
            <a:avLst/>
          </a:prstGeom>
          <a:solidFill>
            <a:srgbClr val="DCE5EE"/>
          </a:solidFill>
          <a:ln/>
        </p:spPr>
      </p:sp>
      <p:sp>
        <p:nvSpPr>
          <p:cNvPr id="40" name="Shape 36"/>
          <p:cNvSpPr/>
          <p:nvPr/>
        </p:nvSpPr>
        <p:spPr>
          <a:xfrm>
            <a:off x="7112000" y="4193542"/>
            <a:ext cx="19050" cy="203200"/>
          </a:xfrm>
          <a:prstGeom prst="rect">
            <a:avLst/>
          </a:prstGeom>
          <a:solidFill>
            <a:srgbClr val="2C5070"/>
          </a:solidFill>
          <a:ln/>
        </p:spPr>
      </p:sp>
      <p:sp>
        <p:nvSpPr>
          <p:cNvPr id="41" name="Text 37"/>
          <p:cNvSpPr/>
          <p:nvPr/>
        </p:nvSpPr>
        <p:spPr>
          <a:xfrm>
            <a:off x="9880600" y="4188458"/>
            <a:ext cx="749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0,7%</a:t>
            </a:r>
            <a:endParaRPr lang="en-US" sz="1200" dirty="0"/>
          </a:p>
        </p:txBody>
      </p:sp>
      <p:sp>
        <p:nvSpPr>
          <p:cNvPr id="42" name="Text 38"/>
          <p:cNvSpPr/>
          <p:nvPr/>
        </p:nvSpPr>
        <p:spPr>
          <a:xfrm>
            <a:off x="6375400" y="4478015"/>
            <a:ext cx="53632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78,7% das linhas são TCP com HTTP dominante. Outras 16,1% quase não têm HTTP, e 92% delas estão em 6 segmentos.</a:t>
            </a:r>
            <a:endParaRPr lang="en-US" sz="1200" dirty="0"/>
          </a:p>
        </p:txBody>
      </p:sp>
      <p:sp>
        <p:nvSpPr>
          <p:cNvPr id="43" name="Text 39"/>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44" name="Text 40"/>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CIC-IOT2023: ESTRUTURA DO ARQUIVO</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REDUNDÂNCIA, ORDEM DAS LINHAS E SEGMENTOS</a:t>
            </a:r>
            <a:endParaRPr lang="en-US" sz="1600" dirty="0"/>
          </a:p>
        </p:txBody>
      </p:sp>
      <p:sp>
        <p:nvSpPr>
          <p:cNvPr id="6" name="Shape 3"/>
          <p:cNvSpPr/>
          <p:nvPr/>
        </p:nvSpPr>
        <p:spPr>
          <a:xfrm>
            <a:off x="609600" y="1333500"/>
            <a:ext cx="3522133" cy="3355129"/>
          </a:xfrm>
          <a:prstGeom prst="roundRect">
            <a:avLst>
              <a:gd name="adj" fmla="val 3028"/>
            </a:avLst>
          </a:prstGeom>
          <a:solidFill>
            <a:srgbClr val="EAF0F5"/>
          </a:solidFill>
          <a:ln/>
        </p:spPr>
      </p:sp>
      <p:sp>
        <p:nvSpPr>
          <p:cNvPr id="7" name="Text 4"/>
          <p:cNvSpPr/>
          <p:nvPr/>
        </p:nvSpPr>
        <p:spPr>
          <a:xfrm>
            <a:off x="787400" y="1511300"/>
            <a:ext cx="3261529"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Colunas repetidas</a:t>
            </a:r>
            <a:endParaRPr lang="en-US" sz="1600" dirty="0"/>
          </a:p>
        </p:txBody>
      </p:sp>
      <p:sp>
        <p:nvSpPr>
          <p:cNvPr id="8" name="Text 5"/>
          <p:cNvSpPr/>
          <p:nvPr/>
        </p:nvSpPr>
        <p:spPr>
          <a:xfrm>
            <a:off x="787400" y="1831342"/>
            <a:ext cx="326152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5</a:t>
            </a:r>
            <a:endParaRPr lang="en-US" sz="2800" dirty="0"/>
          </a:p>
        </p:txBody>
      </p:sp>
      <p:sp>
        <p:nvSpPr>
          <p:cNvPr id="9" name="Text 6"/>
          <p:cNvSpPr/>
          <p:nvPr/>
        </p:nvSpPr>
        <p:spPr>
          <a:xfrm>
            <a:off x="787400" y="2298700"/>
            <a:ext cx="326152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colunas saem sem perda de informação: 3 constantes e 2 cópias exatas (LLC = IPv e Tot size = AVG).</a:t>
            </a:r>
            <a:endParaRPr lang="en-US" sz="1200" dirty="0"/>
          </a:p>
        </p:txBody>
      </p:sp>
      <p:sp>
        <p:nvSpPr>
          <p:cNvPr id="10" name="Text 7"/>
          <p:cNvSpPr/>
          <p:nvPr/>
        </p:nvSpPr>
        <p:spPr>
          <a:xfrm>
            <a:off x="898906" y="3014985"/>
            <a:ext cx="3142403" cy="1521248"/>
          </a:xfrm>
          <a:prstGeom prst="rect">
            <a:avLst/>
          </a:prstGeom>
          <a:noFill/>
          <a:ln/>
        </p:spPr>
        <p:txBody>
          <a:bodyPr wrap="square" lIns="0" tIns="0" rIns="0" bIns="0" rtlCol="0" anchor="t">
            <a:normAutofit/>
          </a:bodyPr>
          <a:lstStyle/>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Valem em 100% das linhas: Variance = Std², Tot sum = AVG × Number e flags = contagem / Number.</a:t>
            </a:r>
            <a:endParaRPr lang="en-US" sz="1200" dirty="0"/>
          </a:p>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11 pares de colunas têm correlação acima de 0,95.</a:t>
            </a:r>
            <a:endParaRPr lang="en-US" sz="1200" dirty="0"/>
          </a:p>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Rate = 1/IAT vale só de forma aproximada: dentro de 1% em 87,2% das linhas.</a:t>
            </a:r>
            <a:endParaRPr lang="en-US" sz="1200" dirty="0"/>
          </a:p>
        </p:txBody>
      </p:sp>
      <p:sp>
        <p:nvSpPr>
          <p:cNvPr id="11" name="Shape 8"/>
          <p:cNvSpPr/>
          <p:nvPr/>
        </p:nvSpPr>
        <p:spPr>
          <a:xfrm>
            <a:off x="4334933" y="1333500"/>
            <a:ext cx="3522133" cy="3355129"/>
          </a:xfrm>
          <a:prstGeom prst="roundRect">
            <a:avLst>
              <a:gd name="adj" fmla="val 3028"/>
            </a:avLst>
          </a:prstGeom>
          <a:solidFill>
            <a:srgbClr val="EAF0F5"/>
          </a:solidFill>
          <a:ln/>
        </p:spPr>
      </p:sp>
      <p:sp>
        <p:nvSpPr>
          <p:cNvPr id="12" name="Text 9"/>
          <p:cNvSpPr/>
          <p:nvPr/>
        </p:nvSpPr>
        <p:spPr>
          <a:xfrm>
            <a:off x="4512733" y="1511300"/>
            <a:ext cx="3261529"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Linhas em sequência</a:t>
            </a:r>
            <a:endParaRPr lang="en-US" sz="1600" dirty="0"/>
          </a:p>
        </p:txBody>
      </p:sp>
      <p:sp>
        <p:nvSpPr>
          <p:cNvPr id="13" name="Text 10"/>
          <p:cNvSpPr/>
          <p:nvPr/>
        </p:nvSpPr>
        <p:spPr>
          <a:xfrm>
            <a:off x="4512733" y="1831342"/>
            <a:ext cx="326152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0,967</a:t>
            </a:r>
            <a:endParaRPr lang="en-US" sz="2800" dirty="0"/>
          </a:p>
        </p:txBody>
      </p:sp>
      <p:sp>
        <p:nvSpPr>
          <p:cNvPr id="14" name="Text 11"/>
          <p:cNvSpPr/>
          <p:nvPr/>
        </p:nvSpPr>
        <p:spPr>
          <a:xfrm>
            <a:off x="4512733" y="2298700"/>
            <a:ext cx="326152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é a correlação entre cada linha e a seguinte na coluna HTTP.</a:t>
            </a:r>
            <a:endParaRPr lang="en-US" sz="1200" dirty="0"/>
          </a:p>
        </p:txBody>
      </p:sp>
      <p:sp>
        <p:nvSpPr>
          <p:cNvPr id="15" name="Text 12"/>
          <p:cNvSpPr/>
          <p:nvPr/>
        </p:nvSpPr>
        <p:spPr>
          <a:xfrm>
            <a:off x="4624239" y="2801615"/>
            <a:ext cx="3142403" cy="1310957"/>
          </a:xfrm>
          <a:prstGeom prst="rect">
            <a:avLst/>
          </a:prstGeom>
          <a:noFill/>
          <a:ln/>
        </p:spPr>
        <p:txBody>
          <a:bodyPr wrap="square" lIns="0" tIns="0" rIns="0" bIns="0" rtlCol="0" anchor="t">
            <a:normAutofit/>
          </a:bodyPr>
          <a:lstStyle/>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33 de 36 colunas variáveis ficam acima do nível de ruído (±0,012).</a:t>
            </a:r>
            <a:endParaRPr lang="en-US" sz="1200" dirty="0"/>
          </a:p>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Com as linhas embaralhadas, o valor máximo cai para 0,011.</a:t>
            </a:r>
            <a:endParaRPr lang="en-US" sz="1200" dirty="0"/>
          </a:p>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Sortear linhas para treino e teste põe vizinhas quase iguais dos dois lados.</a:t>
            </a:r>
            <a:endParaRPr lang="en-US" sz="1200" dirty="0"/>
          </a:p>
        </p:txBody>
      </p:sp>
      <p:sp>
        <p:nvSpPr>
          <p:cNvPr id="16" name="Shape 13"/>
          <p:cNvSpPr/>
          <p:nvPr/>
        </p:nvSpPr>
        <p:spPr>
          <a:xfrm>
            <a:off x="8060267" y="1333500"/>
            <a:ext cx="3522133" cy="3355129"/>
          </a:xfrm>
          <a:prstGeom prst="roundRect">
            <a:avLst>
              <a:gd name="adj" fmla="val 3028"/>
            </a:avLst>
          </a:prstGeom>
          <a:solidFill>
            <a:srgbClr val="EAF0F5"/>
          </a:solidFill>
          <a:ln/>
        </p:spPr>
      </p:sp>
      <p:sp>
        <p:nvSpPr>
          <p:cNvPr id="17" name="Text 14"/>
          <p:cNvSpPr/>
          <p:nvPr/>
        </p:nvSpPr>
        <p:spPr>
          <a:xfrm>
            <a:off x="8238067" y="1511300"/>
            <a:ext cx="3261529"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Segmentos</a:t>
            </a:r>
            <a:endParaRPr lang="en-US" sz="1600" dirty="0"/>
          </a:p>
        </p:txBody>
      </p:sp>
      <p:sp>
        <p:nvSpPr>
          <p:cNvPr id="18" name="Text 15"/>
          <p:cNvSpPr/>
          <p:nvPr/>
        </p:nvSpPr>
        <p:spPr>
          <a:xfrm>
            <a:off x="8238067" y="1831342"/>
            <a:ext cx="326152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61</a:t>
            </a:r>
            <a:endParaRPr lang="en-US" sz="2800" dirty="0"/>
          </a:p>
        </p:txBody>
      </p:sp>
      <p:sp>
        <p:nvSpPr>
          <p:cNvPr id="19" name="Text 16"/>
          <p:cNvSpPr/>
          <p:nvPr/>
        </p:nvSpPr>
        <p:spPr>
          <a:xfrm>
            <a:off x="8238067" y="2298700"/>
            <a:ext cx="326152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trechos de 68 a 1.146 linhas (mediana 297), cada um terminado por uma linha com Number abaixo de 100.</a:t>
            </a:r>
            <a:endParaRPr lang="en-US" sz="1200" dirty="0"/>
          </a:p>
        </p:txBody>
      </p:sp>
      <p:sp>
        <p:nvSpPr>
          <p:cNvPr id="20" name="Text 17"/>
          <p:cNvSpPr/>
          <p:nvPr/>
        </p:nvSpPr>
        <p:spPr>
          <a:xfrm>
            <a:off x="8349573" y="3014985"/>
            <a:ext cx="3142403" cy="1521248"/>
          </a:xfrm>
          <a:prstGeom prst="rect">
            <a:avLst/>
          </a:prstGeom>
          <a:noFill/>
          <a:ln/>
        </p:spPr>
        <p:txBody>
          <a:bodyPr wrap="square" lIns="0" tIns="0" rIns="0" bIns="0" rtlCol="0" anchor="t">
            <a:normAutofit/>
          </a:bodyPr>
          <a:lstStyle/>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O segmento explica 89% da variação de HTTP; ao acaso, explicaria 0,2%.</a:t>
            </a:r>
            <a:endParaRPr lang="en-US" sz="1200" dirty="0"/>
          </a:p>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6 segmentos (4.386 linhas, 15,2% do arquivo) quase não têm HTTP. Sem rótulo, não se sabe se são outra fase do ataque.</a:t>
            </a:r>
            <a:endParaRPr lang="en-US" sz="1200" dirty="0"/>
          </a:p>
          <a:p>
            <a:pPr algn="l" marL="142494" indent="-142494">
              <a:lnSpc>
                <a:spcPts val="1656"/>
              </a:lnSpc>
              <a:buSzPct val="100000"/>
              <a:buChar char="•"/>
            </a:pPr>
            <a:r>
              <a:rPr lang="en-US" sz="1200" dirty="0">
                <a:solidFill>
                  <a:srgbClr val="4A6378"/>
                </a:solidFill>
                <a:latin typeface="Archivo" pitchFamily="34" charset="0"/>
                <a:ea typeface="Archivo" pitchFamily="34" charset="-122"/>
                <a:cs typeface="Archivo" pitchFamily="34" charset="-120"/>
              </a:rPr>
              <a:t>A leitura dos segmentos é hipótese sustentada pelos números.</a:t>
            </a:r>
            <a:endParaRPr lang="en-US" sz="1200" dirty="0"/>
          </a:p>
        </p:txBody>
      </p:sp>
      <p:sp>
        <p:nvSpPr>
          <p:cNvPr id="21" name="Text 18"/>
          <p:cNvSpPr/>
          <p:nvPr/>
        </p:nvSpPr>
        <p:spPr>
          <a:xfrm>
            <a:off x="609600" y="4891832"/>
            <a:ext cx="113019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5474"/>
                </a:solidFill>
                <a:latin typeface="Archivo" pitchFamily="34" charset="0"/>
                <a:ea typeface="Archivo" pitchFamily="34" charset="-122"/>
                <a:cs typeface="Archivo" pitchFamily="34" charset="-120"/>
              </a:rPr>
              <a:t>Por isso, treino e teste devem ser separados por segmento ou por arquivo inteiro.</a:t>
            </a:r>
            <a:endParaRPr lang="en-US" sz="1400" dirty="0"/>
          </a:p>
        </p:txBody>
      </p:sp>
      <p:sp>
        <p:nvSpPr>
          <p:cNvPr id="22" name="Text 19"/>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23" name="Text 20"/>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CIC-IOT2023: ESCALA</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QUANTO A BASE INTEIRA OCUPARIA</a:t>
            </a:r>
            <a:endParaRPr lang="en-US" sz="1600" dirty="0"/>
          </a:p>
        </p:txBody>
      </p:sp>
      <p:sp>
        <p:nvSpPr>
          <p:cNvPr id="6" name="Shape 3"/>
          <p:cNvSpPr/>
          <p:nvPr/>
        </p:nvSpPr>
        <p:spPr>
          <a:xfrm>
            <a:off x="609600" y="1333500"/>
            <a:ext cx="6985000" cy="2600960"/>
          </a:xfrm>
          <a:prstGeom prst="roundRect">
            <a:avLst>
              <a:gd name="adj" fmla="val 3906"/>
            </a:avLst>
          </a:prstGeom>
          <a:solidFill>
            <a:srgbClr val="EAF0F5"/>
          </a:solidFill>
          <a:ln/>
        </p:spPr>
      </p:sp>
      <p:sp>
        <p:nvSpPr>
          <p:cNvPr id="7" name="Text 4"/>
          <p:cNvSpPr/>
          <p:nvPr/>
        </p:nvSpPr>
        <p:spPr>
          <a:xfrm>
            <a:off x="812800" y="1536700"/>
            <a:ext cx="677595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Tamanho estimado para 46,7 milhões de registros</a:t>
            </a:r>
            <a:endParaRPr lang="en-US" sz="1600" dirty="0"/>
          </a:p>
        </p:txBody>
      </p:sp>
      <p:sp>
        <p:nvSpPr>
          <p:cNvPr id="8" name="Text 5"/>
          <p:cNvSpPr/>
          <p:nvPr/>
        </p:nvSpPr>
        <p:spPr>
          <a:xfrm>
            <a:off x="812800" y="1978658"/>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CSV em disco</a:t>
            </a:r>
            <a:endParaRPr lang="en-US" sz="1200" dirty="0"/>
          </a:p>
        </p:txBody>
      </p:sp>
      <p:sp>
        <p:nvSpPr>
          <p:cNvPr id="9" name="Shape 6"/>
          <p:cNvSpPr/>
          <p:nvPr/>
        </p:nvSpPr>
        <p:spPr>
          <a:xfrm>
            <a:off x="2438400" y="1932942"/>
            <a:ext cx="4064000" cy="304800"/>
          </a:xfrm>
          <a:prstGeom prst="rect">
            <a:avLst/>
          </a:prstGeom>
          <a:solidFill>
            <a:srgbClr val="DCE5EE"/>
          </a:solidFill>
          <a:ln/>
        </p:spPr>
      </p:sp>
      <p:sp>
        <p:nvSpPr>
          <p:cNvPr id="10" name="Shape 7"/>
          <p:cNvSpPr/>
          <p:nvPr/>
        </p:nvSpPr>
        <p:spPr>
          <a:xfrm>
            <a:off x="2438400" y="1932942"/>
            <a:ext cx="2654300" cy="304800"/>
          </a:xfrm>
          <a:prstGeom prst="rect">
            <a:avLst/>
          </a:prstGeom>
          <a:solidFill>
            <a:srgbClr val="2C5070"/>
          </a:solidFill>
          <a:ln/>
        </p:spPr>
      </p:sp>
      <p:sp>
        <p:nvSpPr>
          <p:cNvPr id="11" name="Shape 8"/>
          <p:cNvSpPr/>
          <p:nvPr/>
        </p:nvSpPr>
        <p:spPr>
          <a:xfrm>
            <a:off x="3448050" y="1932942"/>
            <a:ext cx="25400" cy="304800"/>
          </a:xfrm>
          <a:prstGeom prst="rect">
            <a:avLst/>
          </a:prstGeom>
          <a:solidFill>
            <a:srgbClr val="E8EEF3"/>
          </a:solidFill>
          <a:ln/>
        </p:spPr>
      </p:sp>
      <p:sp>
        <p:nvSpPr>
          <p:cNvPr id="12" name="Text 9"/>
          <p:cNvSpPr/>
          <p:nvPr/>
        </p:nvSpPr>
        <p:spPr>
          <a:xfrm>
            <a:off x="6604000" y="1943100"/>
            <a:ext cx="812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10,5 GB</a:t>
            </a:r>
            <a:endParaRPr lang="en-US" sz="1600" dirty="0"/>
          </a:p>
        </p:txBody>
      </p:sp>
      <p:sp>
        <p:nvSpPr>
          <p:cNvPr id="13" name="Text 10"/>
          <p:cNvSpPr/>
          <p:nvPr/>
        </p:nvSpPr>
        <p:spPr>
          <a:xfrm>
            <a:off x="812800" y="2435858"/>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pandas com float64</a:t>
            </a:r>
            <a:endParaRPr lang="en-US" sz="1200" dirty="0"/>
          </a:p>
        </p:txBody>
      </p:sp>
      <p:sp>
        <p:nvSpPr>
          <p:cNvPr id="14" name="Shape 11"/>
          <p:cNvSpPr/>
          <p:nvPr/>
        </p:nvSpPr>
        <p:spPr>
          <a:xfrm>
            <a:off x="2438400" y="2390142"/>
            <a:ext cx="4064000" cy="304800"/>
          </a:xfrm>
          <a:prstGeom prst="rect">
            <a:avLst/>
          </a:prstGeom>
          <a:solidFill>
            <a:srgbClr val="DCE5EE"/>
          </a:solidFill>
          <a:ln/>
        </p:spPr>
      </p:sp>
      <p:sp>
        <p:nvSpPr>
          <p:cNvPr id="15" name="Shape 12"/>
          <p:cNvSpPr/>
          <p:nvPr/>
        </p:nvSpPr>
        <p:spPr>
          <a:xfrm>
            <a:off x="2438400" y="2390142"/>
            <a:ext cx="3702050" cy="304800"/>
          </a:xfrm>
          <a:prstGeom prst="rect">
            <a:avLst/>
          </a:prstGeom>
          <a:solidFill>
            <a:srgbClr val="2C5070"/>
          </a:solidFill>
          <a:ln/>
        </p:spPr>
      </p:sp>
      <p:sp>
        <p:nvSpPr>
          <p:cNvPr id="16" name="Shape 13"/>
          <p:cNvSpPr/>
          <p:nvPr/>
        </p:nvSpPr>
        <p:spPr>
          <a:xfrm>
            <a:off x="3448050" y="2390142"/>
            <a:ext cx="25400" cy="304800"/>
          </a:xfrm>
          <a:prstGeom prst="rect">
            <a:avLst/>
          </a:prstGeom>
          <a:solidFill>
            <a:srgbClr val="E8EEF3"/>
          </a:solidFill>
          <a:ln/>
        </p:spPr>
      </p:sp>
      <p:sp>
        <p:nvSpPr>
          <p:cNvPr id="17" name="Text 14"/>
          <p:cNvSpPr/>
          <p:nvPr/>
        </p:nvSpPr>
        <p:spPr>
          <a:xfrm>
            <a:off x="6604000" y="2400300"/>
            <a:ext cx="812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14,6 GB</a:t>
            </a:r>
            <a:endParaRPr lang="en-US" sz="1600" dirty="0"/>
          </a:p>
        </p:txBody>
      </p:sp>
      <p:sp>
        <p:nvSpPr>
          <p:cNvPr id="18" name="Text 15"/>
          <p:cNvSpPr/>
          <p:nvPr/>
        </p:nvSpPr>
        <p:spPr>
          <a:xfrm>
            <a:off x="812800" y="2893058"/>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pandas com float32</a:t>
            </a:r>
            <a:endParaRPr lang="en-US" sz="1200" dirty="0"/>
          </a:p>
        </p:txBody>
      </p:sp>
      <p:sp>
        <p:nvSpPr>
          <p:cNvPr id="19" name="Shape 16"/>
          <p:cNvSpPr/>
          <p:nvPr/>
        </p:nvSpPr>
        <p:spPr>
          <a:xfrm>
            <a:off x="2438400" y="2847342"/>
            <a:ext cx="4064000" cy="304800"/>
          </a:xfrm>
          <a:prstGeom prst="rect">
            <a:avLst/>
          </a:prstGeom>
          <a:solidFill>
            <a:srgbClr val="DCE5EE"/>
          </a:solidFill>
          <a:ln/>
        </p:spPr>
      </p:sp>
      <p:sp>
        <p:nvSpPr>
          <p:cNvPr id="20" name="Shape 17"/>
          <p:cNvSpPr/>
          <p:nvPr/>
        </p:nvSpPr>
        <p:spPr>
          <a:xfrm>
            <a:off x="2438400" y="2847342"/>
            <a:ext cx="1847850" cy="304800"/>
          </a:xfrm>
          <a:prstGeom prst="rect">
            <a:avLst/>
          </a:prstGeom>
          <a:solidFill>
            <a:srgbClr val="2C5070"/>
          </a:solidFill>
          <a:ln/>
        </p:spPr>
      </p:sp>
      <p:sp>
        <p:nvSpPr>
          <p:cNvPr id="21" name="Shape 18"/>
          <p:cNvSpPr/>
          <p:nvPr/>
        </p:nvSpPr>
        <p:spPr>
          <a:xfrm>
            <a:off x="3448050" y="2847342"/>
            <a:ext cx="25400" cy="304800"/>
          </a:xfrm>
          <a:prstGeom prst="rect">
            <a:avLst/>
          </a:prstGeom>
          <a:solidFill>
            <a:srgbClr val="E8EEF3"/>
          </a:solidFill>
          <a:ln/>
        </p:spPr>
      </p:sp>
      <p:sp>
        <p:nvSpPr>
          <p:cNvPr id="22" name="Text 19"/>
          <p:cNvSpPr/>
          <p:nvPr/>
        </p:nvSpPr>
        <p:spPr>
          <a:xfrm>
            <a:off x="6604000" y="2857500"/>
            <a:ext cx="812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5474"/>
                </a:solidFill>
                <a:latin typeface="League Spartan" pitchFamily="34" charset="0"/>
                <a:ea typeface="League Spartan" pitchFamily="34" charset="-122"/>
                <a:cs typeface="League Spartan" pitchFamily="34" charset="-120"/>
              </a:rPr>
              <a:t>7,3 GB</a:t>
            </a:r>
            <a:endParaRPr lang="en-US" sz="1600" dirty="0"/>
          </a:p>
        </p:txBody>
      </p:sp>
      <p:sp>
        <p:nvSpPr>
          <p:cNvPr id="23" name="Text 20"/>
          <p:cNvSpPr/>
          <p:nvPr/>
        </p:nvSpPr>
        <p:spPr>
          <a:xfrm>
            <a:off x="812800" y="3304542"/>
            <a:ext cx="67759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A barra cinza inteira vale 16 GB, a RAM total da máquina. O traço claro marca os cerca de 4 GB livres para trabalhar.</a:t>
            </a:r>
            <a:endParaRPr lang="en-US" sz="1200" dirty="0"/>
          </a:p>
        </p:txBody>
      </p:sp>
      <p:sp>
        <p:nvSpPr>
          <p:cNvPr id="24" name="Text 21"/>
          <p:cNvSpPr/>
          <p:nvPr/>
        </p:nvSpPr>
        <p:spPr>
          <a:xfrm>
            <a:off x="7899400" y="1333500"/>
            <a:ext cx="3793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C5070"/>
                </a:solidFill>
                <a:latin typeface="Archivo" pitchFamily="34" charset="0"/>
                <a:ea typeface="Archivo" pitchFamily="34" charset="-122"/>
                <a:cs typeface="Archivo" pitchFamily="34" charset="-120"/>
              </a:rPr>
              <a:t>Medido no arquivo de 28.790 linhas</a:t>
            </a:r>
            <a:endParaRPr lang="en-US" sz="1200" dirty="0"/>
          </a:p>
        </p:txBody>
      </p:sp>
      <p:sp>
        <p:nvSpPr>
          <p:cNvPr id="25" name="Shape 22"/>
          <p:cNvSpPr/>
          <p:nvPr/>
        </p:nvSpPr>
        <p:spPr>
          <a:xfrm>
            <a:off x="7918450" y="1673858"/>
            <a:ext cx="0" cy="668020"/>
          </a:xfrm>
          <a:prstGeom prst="line">
            <a:avLst/>
          </a:prstGeom>
          <a:noFill/>
          <a:ln w="38100">
            <a:solidFill>
              <a:srgbClr val="2C5070"/>
            </a:solidFill>
            <a:prstDash val="solid"/>
          </a:ln>
        </p:spPr>
      </p:sp>
      <p:sp>
        <p:nvSpPr>
          <p:cNvPr id="26" name="Text 23"/>
          <p:cNvSpPr/>
          <p:nvPr/>
        </p:nvSpPr>
        <p:spPr>
          <a:xfrm>
            <a:off x="8038042" y="1699258"/>
            <a:ext cx="36506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224 B</a:t>
            </a:r>
            <a:endParaRPr lang="en-US" sz="2800" dirty="0"/>
          </a:p>
        </p:txBody>
      </p:sp>
      <p:sp>
        <p:nvSpPr>
          <p:cNvPr id="27" name="Text 24"/>
          <p:cNvSpPr/>
          <p:nvPr/>
        </p:nvSpPr>
        <p:spPr>
          <a:xfrm>
            <a:off x="8038042" y="2103115"/>
            <a:ext cx="36506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por registro no CSV</a:t>
            </a:r>
            <a:endParaRPr lang="en-US" sz="1200" dirty="0"/>
          </a:p>
        </p:txBody>
      </p:sp>
      <p:sp>
        <p:nvSpPr>
          <p:cNvPr id="28" name="Shape 25"/>
          <p:cNvSpPr/>
          <p:nvPr/>
        </p:nvSpPr>
        <p:spPr>
          <a:xfrm>
            <a:off x="7918450" y="2468885"/>
            <a:ext cx="0" cy="668020"/>
          </a:xfrm>
          <a:prstGeom prst="line">
            <a:avLst/>
          </a:prstGeom>
          <a:noFill/>
          <a:ln w="38100">
            <a:solidFill>
              <a:srgbClr val="2C5070"/>
            </a:solidFill>
            <a:prstDash val="solid"/>
          </a:ln>
        </p:spPr>
      </p:sp>
      <p:sp>
        <p:nvSpPr>
          <p:cNvPr id="29" name="Text 26"/>
          <p:cNvSpPr/>
          <p:nvPr/>
        </p:nvSpPr>
        <p:spPr>
          <a:xfrm>
            <a:off x="8038042" y="2494285"/>
            <a:ext cx="36506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312 B</a:t>
            </a:r>
            <a:endParaRPr lang="en-US" sz="2800" dirty="0"/>
          </a:p>
        </p:txBody>
      </p:sp>
      <p:sp>
        <p:nvSpPr>
          <p:cNvPr id="30" name="Text 27"/>
          <p:cNvSpPr/>
          <p:nvPr/>
        </p:nvSpPr>
        <p:spPr>
          <a:xfrm>
            <a:off x="8038042" y="2898142"/>
            <a:ext cx="36506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por registro no pandas (float64)</a:t>
            </a:r>
            <a:endParaRPr lang="en-US" sz="1200" dirty="0"/>
          </a:p>
        </p:txBody>
      </p:sp>
      <p:sp>
        <p:nvSpPr>
          <p:cNvPr id="31" name="Shape 28"/>
          <p:cNvSpPr/>
          <p:nvPr/>
        </p:nvSpPr>
        <p:spPr>
          <a:xfrm>
            <a:off x="7918450" y="3263900"/>
            <a:ext cx="0" cy="668020"/>
          </a:xfrm>
          <a:prstGeom prst="line">
            <a:avLst/>
          </a:prstGeom>
          <a:noFill/>
          <a:ln w="38100">
            <a:solidFill>
              <a:srgbClr val="2C5070"/>
            </a:solidFill>
            <a:prstDash val="solid"/>
          </a:ln>
        </p:spPr>
      </p:sp>
      <p:sp>
        <p:nvSpPr>
          <p:cNvPr id="32" name="Text 29"/>
          <p:cNvSpPr/>
          <p:nvPr/>
        </p:nvSpPr>
        <p:spPr>
          <a:xfrm>
            <a:off x="8038042" y="3289300"/>
            <a:ext cx="3650689"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E5474"/>
                </a:solidFill>
                <a:latin typeface="League Spartan" pitchFamily="34" charset="0"/>
                <a:ea typeface="League Spartan" pitchFamily="34" charset="-122"/>
                <a:cs typeface="League Spartan" pitchFamily="34" charset="-120"/>
              </a:rPr>
              <a:t>156 B</a:t>
            </a:r>
            <a:endParaRPr lang="en-US" sz="2800" dirty="0"/>
          </a:p>
        </p:txBody>
      </p:sp>
      <p:sp>
        <p:nvSpPr>
          <p:cNvPr id="33" name="Text 30"/>
          <p:cNvSpPr/>
          <p:nvPr/>
        </p:nvSpPr>
        <p:spPr>
          <a:xfrm>
            <a:off x="8038042" y="3693158"/>
            <a:ext cx="36506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por registro no pandas (float32)</a:t>
            </a:r>
            <a:endParaRPr lang="en-US" sz="1200" dirty="0"/>
          </a:p>
        </p:txBody>
      </p:sp>
      <p:sp>
        <p:nvSpPr>
          <p:cNvPr id="34" name="Text 31"/>
          <p:cNvSpPr/>
          <p:nvPr/>
        </p:nvSpPr>
        <p:spPr>
          <a:xfrm>
            <a:off x="609600" y="4137658"/>
            <a:ext cx="113019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C5070"/>
                </a:solidFill>
                <a:latin typeface="Archivo" pitchFamily="34" charset="0"/>
                <a:ea typeface="Archivo" pitchFamily="34" charset="-122"/>
                <a:cs typeface="Archivo" pitchFamily="34" charset="-120"/>
              </a:rPr>
              <a:t>Os totais são extrapolação: supõem que todos os arquivos têm a largura de linha do arquivo medido, e o tamanho real ainda não foi medido. Mesmo na opção mais econômica, a base não cabe nos 4 GB livres, o que pede leitura em partes, formato colunar (Parquet) ou ferramentas que processam fora da memória.</a:t>
            </a:r>
            <a:endParaRPr lang="en-US" sz="1300" dirty="0"/>
          </a:p>
        </p:txBody>
      </p:sp>
      <p:sp>
        <p:nvSpPr>
          <p:cNvPr id="35" name="Text 32"/>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36" name="Text 33"/>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CIC-IOT2023: AVALIAÇÃO</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VANTAGENS, DESAFIOS E LIMITAÇÕES</a:t>
            </a:r>
            <a:endParaRPr lang="en-US" sz="1600" dirty="0"/>
          </a:p>
        </p:txBody>
      </p:sp>
      <p:sp>
        <p:nvSpPr>
          <p:cNvPr id="6" name="Shape 3"/>
          <p:cNvSpPr/>
          <p:nvPr/>
        </p:nvSpPr>
        <p:spPr>
          <a:xfrm>
            <a:off x="609600" y="1352550"/>
            <a:ext cx="3488267" cy="0"/>
          </a:xfrm>
          <a:prstGeom prst="line">
            <a:avLst/>
          </a:prstGeom>
          <a:noFill/>
          <a:ln w="38100">
            <a:solidFill>
              <a:srgbClr val="2C5070"/>
            </a:solidFill>
            <a:prstDash val="solid"/>
          </a:ln>
        </p:spPr>
      </p:sp>
      <p:pic>
        <p:nvPicPr>
          <p:cNvPr id="7" name="Image 1" descr="CheckCircle">    </p:cNvPr>
          <p:cNvPicPr>
            <a:picLocks noChangeAspect="1"/>
          </p:cNvPicPr>
          <p:nvPr/>
        </p:nvPicPr>
        <p:blipFill>
          <a:blip r:embed="rId2"/>
          <a:srcRect l="0" r="0" t="0" b="0"/>
          <a:stretch/>
        </p:blipFill>
        <p:spPr>
          <a:xfrm>
            <a:off x="609600" y="1497546"/>
            <a:ext cx="254000" cy="254000"/>
          </a:xfrm>
          <a:prstGeom prst="rect">
            <a:avLst/>
          </a:prstGeom>
        </p:spPr>
      </p:pic>
      <p:sp>
        <p:nvSpPr>
          <p:cNvPr id="8" name="Text 4"/>
          <p:cNvSpPr/>
          <p:nvPr/>
        </p:nvSpPr>
        <p:spPr>
          <a:xfrm>
            <a:off x="939800" y="1502618"/>
            <a:ext cx="141655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Vantagens</a:t>
            </a:r>
            <a:endParaRPr lang="en-US" sz="1600" dirty="0"/>
          </a:p>
        </p:txBody>
      </p:sp>
      <p:sp>
        <p:nvSpPr>
          <p:cNvPr id="9" name="Text 5"/>
          <p:cNvSpPr/>
          <p:nvPr/>
        </p:nvSpPr>
        <p:spPr>
          <a:xfrm>
            <a:off x="713994" y="1853146"/>
            <a:ext cx="3480901" cy="2791460"/>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Base recente e muito usada: 980 citações desde 2023, o maior ritmo do levantamento (327 por ano).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arquivo analisado veio limpo: nenhum nulo, nenhuma linha duplicada e nenhum infinito.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As colunas são coerentes entre si: relações como Variance = Std² valem em 100% das linhas.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volume permite comparar na prática ferramentas que processam dados fora da memória.</a:t>
            </a:r>
            <a:endParaRPr lang="en-US" sz="1300" dirty="0"/>
          </a:p>
        </p:txBody>
      </p:sp>
      <p:sp>
        <p:nvSpPr>
          <p:cNvPr id="10" name="Shape 6"/>
          <p:cNvSpPr/>
          <p:nvPr/>
        </p:nvSpPr>
        <p:spPr>
          <a:xfrm>
            <a:off x="4351867" y="1352550"/>
            <a:ext cx="3488267" cy="0"/>
          </a:xfrm>
          <a:prstGeom prst="line">
            <a:avLst/>
          </a:prstGeom>
          <a:noFill/>
          <a:ln w="38100">
            <a:solidFill>
              <a:srgbClr val="2C5070"/>
            </a:solidFill>
            <a:prstDash val="solid"/>
          </a:ln>
        </p:spPr>
      </p:sp>
      <p:pic>
        <p:nvPicPr>
          <p:cNvPr id="11" name="Image 2" descr="Warning">    </p:cNvPr>
          <p:cNvPicPr>
            <a:picLocks noChangeAspect="1"/>
          </p:cNvPicPr>
          <p:nvPr/>
        </p:nvPicPr>
        <p:blipFill>
          <a:blip r:embed="rId3"/>
          <a:srcRect l="0" r="0" t="0" b="0"/>
          <a:stretch/>
        </p:blipFill>
        <p:spPr>
          <a:xfrm>
            <a:off x="4351867" y="1497546"/>
            <a:ext cx="254000" cy="254000"/>
          </a:xfrm>
          <a:prstGeom prst="rect">
            <a:avLst/>
          </a:prstGeom>
        </p:spPr>
      </p:pic>
      <p:sp>
        <p:nvSpPr>
          <p:cNvPr id="12" name="Text 7"/>
          <p:cNvSpPr/>
          <p:nvPr/>
        </p:nvSpPr>
        <p:spPr>
          <a:xfrm>
            <a:off x="4682067" y="1502618"/>
            <a:ext cx="113842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Desafios</a:t>
            </a:r>
            <a:endParaRPr lang="en-US" sz="1600" dirty="0"/>
          </a:p>
        </p:txBody>
      </p:sp>
      <p:sp>
        <p:nvSpPr>
          <p:cNvPr id="13" name="Text 8"/>
          <p:cNvSpPr/>
          <p:nvPr/>
        </p:nvSpPr>
        <p:spPr>
          <a:xfrm>
            <a:off x="4456261" y="1853146"/>
            <a:ext cx="3480901" cy="2791460"/>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 base inteira não cabe na memória livre: cerca de 14,6 GB em float64, por extrapolação.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Linhas vizinhas são quase iguais (autocorrelação até 0,967), e treino e teste precisam ser separados por segmento ou arquivo.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Pelo menos 5 das 39 colunas são constantes ou cópias, e várias têm caudas longas.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16,1% das linhas de um arquivo de ataque HTTP quase não têm tráfego HTTP.</a:t>
            </a:r>
            <a:endParaRPr lang="en-US" sz="1300" dirty="0"/>
          </a:p>
        </p:txBody>
      </p:sp>
      <p:sp>
        <p:nvSpPr>
          <p:cNvPr id="14" name="Shape 9"/>
          <p:cNvSpPr/>
          <p:nvPr/>
        </p:nvSpPr>
        <p:spPr>
          <a:xfrm>
            <a:off x="8094133" y="1352550"/>
            <a:ext cx="3488267" cy="0"/>
          </a:xfrm>
          <a:prstGeom prst="line">
            <a:avLst/>
          </a:prstGeom>
          <a:noFill/>
          <a:ln w="38100">
            <a:solidFill>
              <a:srgbClr val="2C5070"/>
            </a:solidFill>
            <a:prstDash val="solid"/>
          </a:ln>
        </p:spPr>
      </p:sp>
      <p:pic>
        <p:nvPicPr>
          <p:cNvPr id="15" name="Image 3" descr="Lock">    </p:cNvPr>
          <p:cNvPicPr>
            <a:picLocks noChangeAspect="1"/>
          </p:cNvPicPr>
          <p:nvPr/>
        </p:nvPicPr>
        <p:blipFill>
          <a:blip r:embed="rId4"/>
          <a:srcRect l="0" r="0" t="0" b="0"/>
          <a:stretch/>
        </p:blipFill>
        <p:spPr>
          <a:xfrm>
            <a:off x="8094133" y="1497546"/>
            <a:ext cx="254000" cy="254000"/>
          </a:xfrm>
          <a:prstGeom prst="rect">
            <a:avLst/>
          </a:prstGeom>
        </p:spPr>
      </p:pic>
      <p:sp>
        <p:nvSpPr>
          <p:cNvPr id="16" name="Text 10"/>
          <p:cNvSpPr/>
          <p:nvPr/>
        </p:nvSpPr>
        <p:spPr>
          <a:xfrm>
            <a:off x="8424333" y="1502618"/>
            <a:ext cx="1476883"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Limitações</a:t>
            </a:r>
            <a:endParaRPr lang="en-US" sz="1600" dirty="0"/>
          </a:p>
        </p:txBody>
      </p:sp>
      <p:sp>
        <p:nvSpPr>
          <p:cNvPr id="17" name="Text 11"/>
          <p:cNvSpPr/>
          <p:nvPr/>
        </p:nvSpPr>
        <p:spPr>
          <a:xfrm>
            <a:off x="8198527" y="1853146"/>
            <a:ext cx="3480901" cy="2799398"/>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Os CSV por ataque não têm coluna de rótulo; a classe vem do nome do arquivo.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Os arquivos têm 39 colunas e a documentação descreve 46; a diferença não foi explicada.</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 versão combinada e rotulada (MERGED_CSV) não foi baixada, e o tamanho real da base não foi medido.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Só um arquivo foi analisado: ainda não há medida de quão separáveis são os ataques.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Download só com cadastro; termos de licença ainda não registrados.</a:t>
            </a:r>
            <a:endParaRPr lang="en-US" sz="1300" dirty="0"/>
          </a:p>
        </p:txBody>
      </p:sp>
      <p:sp>
        <p:nvSpPr>
          <p:cNvPr id="18" name="Text 12"/>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9" name="Text 13"/>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CIC-MALMEM-2022</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É, QUEM CRIOU E O QUE CADA REGISTRO CONTÉM</a:t>
            </a:r>
            <a:endParaRPr lang="en-US" sz="1600" dirty="0"/>
          </a:p>
        </p:txBody>
      </p:sp>
      <p:sp>
        <p:nvSpPr>
          <p:cNvPr id="6" name="Text 3"/>
          <p:cNvSpPr/>
          <p:nvPr/>
        </p:nvSpPr>
        <p:spPr>
          <a:xfrm>
            <a:off x="609600" y="1333500"/>
            <a:ext cx="457835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Base de forense de memória criada pelo CIC, da University of New Brunswick, e descrita por Carrier, Victor, Tekeoglu e Habibi Lashkari (ICISSP 2022).</a:t>
            </a:r>
            <a:endParaRPr lang="en-US" sz="1400" dirty="0"/>
          </a:p>
        </p:txBody>
      </p:sp>
      <p:sp>
        <p:nvSpPr>
          <p:cNvPr id="7" name="Text 4"/>
          <p:cNvSpPr/>
          <p:nvPr/>
        </p:nvSpPr>
        <p:spPr>
          <a:xfrm>
            <a:off x="609600" y="2207258"/>
            <a:ext cx="4578350"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5070"/>
                </a:solidFill>
                <a:latin typeface="Archivo" pitchFamily="34" charset="0"/>
                <a:ea typeface="Archivo" pitchFamily="34" charset="-122"/>
                <a:cs typeface="Archivo" pitchFamily="34" charset="-120"/>
              </a:rPr>
              <a:t>Cada registro resume uma cópia da memória RAM (dump) de uma máquina Windows, limpa ou infectada por malware ofuscado. Os atributos foram extraídos com o VolMemLyzer, ferramenta baseada no Volatility.</a:t>
            </a:r>
            <a:endParaRPr lang="en-US" sz="1400" dirty="0"/>
          </a:p>
        </p:txBody>
      </p:sp>
      <p:sp>
        <p:nvSpPr>
          <p:cNvPr id="8" name="Text 5"/>
          <p:cNvSpPr/>
          <p:nvPr/>
        </p:nvSpPr>
        <p:spPr>
          <a:xfrm>
            <a:off x="609600" y="3329942"/>
            <a:ext cx="457835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Segundo a documentação, são 58.596 registros, metade benigna e metade maliciosa, com malware dos tipos spyware, ransomware e trojan.</a:t>
            </a:r>
            <a:endParaRPr lang="en-US" sz="1300" dirty="0"/>
          </a:p>
        </p:txBody>
      </p:sp>
      <p:sp>
        <p:nvSpPr>
          <p:cNvPr id="9" name="Text 6"/>
          <p:cNvSpPr/>
          <p:nvPr/>
        </p:nvSpPr>
        <p:spPr>
          <a:xfrm>
            <a:off x="609600" y="4150358"/>
            <a:ext cx="457835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6378"/>
                </a:solidFill>
                <a:latin typeface="Archivo" pitchFamily="34" charset="0"/>
                <a:ea typeface="Archivo" pitchFamily="34" charset="-122"/>
                <a:cs typeface="Archivo" pitchFamily="34" charset="-120"/>
              </a:rPr>
              <a:t>Formato CSV. Nos arquivos recebidos, o nome do dump traz tipo, família e hash da amostra, como em Spyware-TIBS-3b63...-6.raw.</a:t>
            </a:r>
            <a:endParaRPr lang="en-US" sz="1300" dirty="0"/>
          </a:p>
        </p:txBody>
      </p:sp>
      <p:sp>
        <p:nvSpPr>
          <p:cNvPr id="10" name="Text 7"/>
          <p:cNvSpPr/>
          <p:nvPr/>
        </p:nvSpPr>
        <p:spPr>
          <a:xfrm>
            <a:off x="5359400" y="1333500"/>
            <a:ext cx="640969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Os 55 atributos vêm de 9 módulos do Volatility</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69983" y="1664126"/>
          <a:ext cx="6212417" cy="3306233"/>
        </p:xfrm>
        <a:graphic>
          <a:graphicData uri="http://schemas.openxmlformats.org/drawingml/2006/table">
            <a:tbl>
              <a:tblPr/>
              <a:tblGrid>
                <a:gridCol w="1490980"/>
                <a:gridCol w="993987"/>
                <a:gridCol w="3727450"/>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Módulo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algn="r" indent="0" marL="0">
                        <a:lnSpc>
                          <a:spcPts val="1680"/>
                        </a:lnSpc>
                        <a:buNone/>
                      </a:pPr>
                      <a:r>
                        <a:rPr lang="en-US" sz="1200" b="1" dirty="0">
                          <a:solidFill>
                            <a:srgbClr val="FFFFFF"/>
                          </a:solidFill>
                          <a:latin typeface="Archivo" pitchFamily="34" charset="0"/>
                          <a:ea typeface="Archivo" pitchFamily="34" charset="-122"/>
                          <a:cs typeface="Archivo" pitchFamily="34" charset="-120"/>
                        </a:rPr>
                        <a:t>Atributos</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O que observa</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psxview</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14</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cruza listas de processos para achar ocultos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handles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recursos abertos pelos processos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svcscan</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7</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serviços do Windows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ldrmodules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6</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módulos carregados e os desvinculados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pslist</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5</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processos em execução</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malfind</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4</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sinais de código injetado na memória</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callbacks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3</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rotinas registradas no kernel</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dlllist</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DLLs carregadas pelos processos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2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modules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algn="r" indent="0" marL="0">
                        <a:lnSpc>
                          <a:spcPts val="1680"/>
                        </a:lnSpc>
                        <a:buNone/>
                      </a:pPr>
                      <a:r>
                        <a:rPr lang="en-US" sz="1200" dirty="0">
                          <a:solidFill>
                            <a:srgbClr val="2C5070"/>
                          </a:solidFill>
                          <a:latin typeface="Archivo" pitchFamily="34" charset="0"/>
                          <a:ea typeface="Archivo" pitchFamily="34" charset="-122"/>
                          <a:cs typeface="Archivo" pitchFamily="34" charset="-120"/>
                        </a:rPr>
                        <a:t>1</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módulos do kernel</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bl>
          </a:graphicData>
        </a:graphic>
      </p:graphicFrame>
      <p:sp>
        <p:nvSpPr>
          <p:cNvPr id="12" name="Text 8"/>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3" name="Text 9"/>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CIC-MALMEM-2022: SITUAÇÃO</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FOI RECEBIDO, VANTAGENS E LIMITAÇÕES</a:t>
            </a:r>
            <a:endParaRPr lang="en-US" sz="1600" dirty="0"/>
          </a:p>
        </p:txBody>
      </p:sp>
      <p:sp>
        <p:nvSpPr>
          <p:cNvPr id="6" name="Shape 3"/>
          <p:cNvSpPr/>
          <p:nvPr/>
        </p:nvSpPr>
        <p:spPr>
          <a:xfrm>
            <a:off x="609600" y="1333500"/>
            <a:ext cx="10972800" cy="998220"/>
          </a:xfrm>
          <a:prstGeom prst="roundRect">
            <a:avLst>
              <a:gd name="adj" fmla="val 10178"/>
            </a:avLst>
          </a:prstGeom>
          <a:solidFill>
            <a:srgbClr val="2C5070"/>
          </a:solidFill>
          <a:ln/>
        </p:spPr>
      </p:sp>
      <p:pic>
        <p:nvPicPr>
          <p:cNvPr id="7" name="Image 1" descr="Warning">    </p:cNvPr>
          <p:cNvPicPr>
            <a:picLocks noChangeAspect="1"/>
          </p:cNvPicPr>
          <p:nvPr/>
        </p:nvPicPr>
        <p:blipFill>
          <a:blip r:embed="rId2"/>
          <a:srcRect l="0" r="0" t="-812" b="-812"/>
          <a:stretch/>
        </p:blipFill>
        <p:spPr>
          <a:xfrm>
            <a:off x="812800" y="1680208"/>
            <a:ext cx="149966" cy="304800"/>
          </a:xfrm>
          <a:prstGeom prst="rect">
            <a:avLst/>
          </a:prstGeom>
        </p:spPr>
      </p:pic>
      <p:sp>
        <p:nvSpPr>
          <p:cNvPr id="8" name="Text 4"/>
          <p:cNvSpPr/>
          <p:nvPr/>
        </p:nvSpPr>
        <p:spPr>
          <a:xfrm>
            <a:off x="1115166" y="1485900"/>
            <a:ext cx="1057195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Archivo" pitchFamily="34" charset="0"/>
                <a:ea typeface="Archivo" pitchFamily="34" charset="-122"/>
                <a:cs typeface="Archivo" pitchFamily="34" charset="-120"/>
              </a:rPr>
              <a:t>Recebidos até agora: 3 arquivos com 850 linhas, todas da família Spyware-TIBS, com 56 colunas (nome do arquivo e 55 atributos), sem amostras benignas e sem coluna de rótulo. O arquivo principal, com 58.596 registros, ainda não chegou, e esta base ainda não tem resultados próprios.</a:t>
            </a:r>
            <a:endParaRPr lang="en-US" sz="1300" dirty="0"/>
          </a:p>
        </p:txBody>
      </p:sp>
      <p:sp>
        <p:nvSpPr>
          <p:cNvPr id="9" name="Shape 5"/>
          <p:cNvSpPr/>
          <p:nvPr/>
        </p:nvSpPr>
        <p:spPr>
          <a:xfrm>
            <a:off x="609600" y="2553965"/>
            <a:ext cx="3488267" cy="0"/>
          </a:xfrm>
          <a:prstGeom prst="line">
            <a:avLst/>
          </a:prstGeom>
          <a:noFill/>
          <a:ln w="38100">
            <a:solidFill>
              <a:srgbClr val="2C5070"/>
            </a:solidFill>
            <a:prstDash val="solid"/>
          </a:ln>
        </p:spPr>
      </p:sp>
      <p:pic>
        <p:nvPicPr>
          <p:cNvPr id="10" name="Image 2" descr="CheckCircle">    </p:cNvPr>
          <p:cNvPicPr>
            <a:picLocks noChangeAspect="1"/>
          </p:cNvPicPr>
          <p:nvPr/>
        </p:nvPicPr>
        <p:blipFill>
          <a:blip r:embed="rId3"/>
          <a:srcRect l="0" r="0" t="0" b="0"/>
          <a:stretch/>
        </p:blipFill>
        <p:spPr>
          <a:xfrm>
            <a:off x="609600" y="2698961"/>
            <a:ext cx="254000" cy="254000"/>
          </a:xfrm>
          <a:prstGeom prst="rect">
            <a:avLst/>
          </a:prstGeom>
        </p:spPr>
      </p:pic>
      <p:sp>
        <p:nvSpPr>
          <p:cNvPr id="11" name="Text 6"/>
          <p:cNvSpPr/>
          <p:nvPr/>
        </p:nvSpPr>
        <p:spPr>
          <a:xfrm>
            <a:off x="939800" y="2704046"/>
            <a:ext cx="3158067"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Vantagens (documentadas)</a:t>
            </a:r>
            <a:endParaRPr lang="en-US" sz="1600" dirty="0"/>
          </a:p>
        </p:txBody>
      </p:sp>
      <p:sp>
        <p:nvSpPr>
          <p:cNvPr id="12" name="Text 7"/>
          <p:cNvSpPr/>
          <p:nvPr/>
        </p:nvSpPr>
        <p:spPr>
          <a:xfrm>
            <a:off x="713994" y="3054561"/>
            <a:ext cx="3480901" cy="1880023"/>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Única base de memória do levantamento já em tabela e rotulada.</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Classes balanceadas: metade benigna, metade maliciosa.</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As 58.596 linhas cabem na memória, sem processamento distribuído.</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É a base de memória mais usada nos trabalhos recentes revisados.</a:t>
            </a:r>
            <a:endParaRPr lang="en-US" sz="1300" dirty="0"/>
          </a:p>
        </p:txBody>
      </p:sp>
      <p:sp>
        <p:nvSpPr>
          <p:cNvPr id="13" name="Shape 8"/>
          <p:cNvSpPr/>
          <p:nvPr/>
        </p:nvSpPr>
        <p:spPr>
          <a:xfrm>
            <a:off x="4351867" y="2553965"/>
            <a:ext cx="3488267" cy="0"/>
          </a:xfrm>
          <a:prstGeom prst="line">
            <a:avLst/>
          </a:prstGeom>
          <a:noFill/>
          <a:ln w="38100">
            <a:solidFill>
              <a:srgbClr val="2C5070"/>
            </a:solidFill>
            <a:prstDash val="solid"/>
          </a:ln>
        </p:spPr>
      </p:sp>
      <p:pic>
        <p:nvPicPr>
          <p:cNvPr id="14" name="Image 3" descr="Warning">    </p:cNvPr>
          <p:cNvPicPr>
            <a:picLocks noChangeAspect="1"/>
          </p:cNvPicPr>
          <p:nvPr/>
        </p:nvPicPr>
        <p:blipFill>
          <a:blip r:embed="rId4"/>
          <a:srcRect l="0" r="0" t="0" b="0"/>
          <a:stretch/>
        </p:blipFill>
        <p:spPr>
          <a:xfrm>
            <a:off x="4351867" y="2698961"/>
            <a:ext cx="254000" cy="254000"/>
          </a:xfrm>
          <a:prstGeom prst="rect">
            <a:avLst/>
          </a:prstGeom>
        </p:spPr>
      </p:pic>
      <p:sp>
        <p:nvSpPr>
          <p:cNvPr id="15" name="Text 9"/>
          <p:cNvSpPr/>
          <p:nvPr/>
        </p:nvSpPr>
        <p:spPr>
          <a:xfrm>
            <a:off x="4682067" y="2704046"/>
            <a:ext cx="113842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Desafios</a:t>
            </a:r>
            <a:endParaRPr lang="en-US" sz="1600" dirty="0"/>
          </a:p>
        </p:txBody>
      </p:sp>
      <p:sp>
        <p:nvSpPr>
          <p:cNvPr id="16" name="Text 10"/>
          <p:cNvSpPr/>
          <p:nvPr/>
        </p:nvSpPr>
        <p:spPr>
          <a:xfrm>
            <a:off x="4456261" y="3054561"/>
            <a:ext cx="3480901" cy="2099945"/>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O estudo usa só a tabela de atributos e fica preso aos 55 sinais escolhidos pelos autores.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Nos arquivos recebidos, tipo e família só aparecem no nome do arquivo e precisam ser extraídos dele.</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Trabalhos apoiados numa só base raramente mostram que o modelo funciona fora dela.</a:t>
            </a:r>
            <a:endParaRPr lang="en-US" sz="1300" dirty="0"/>
          </a:p>
        </p:txBody>
      </p:sp>
      <p:sp>
        <p:nvSpPr>
          <p:cNvPr id="17" name="Shape 11"/>
          <p:cNvSpPr/>
          <p:nvPr/>
        </p:nvSpPr>
        <p:spPr>
          <a:xfrm>
            <a:off x="8094133" y="2553965"/>
            <a:ext cx="3488267" cy="0"/>
          </a:xfrm>
          <a:prstGeom prst="line">
            <a:avLst/>
          </a:prstGeom>
          <a:noFill/>
          <a:ln w="38100">
            <a:solidFill>
              <a:srgbClr val="2C5070"/>
            </a:solidFill>
            <a:prstDash val="solid"/>
          </a:ln>
        </p:spPr>
      </p:sp>
      <p:pic>
        <p:nvPicPr>
          <p:cNvPr id="18" name="Image 4" descr="Lock">    </p:cNvPr>
          <p:cNvPicPr>
            <a:picLocks noChangeAspect="1"/>
          </p:cNvPicPr>
          <p:nvPr/>
        </p:nvPicPr>
        <p:blipFill>
          <a:blip r:embed="rId5"/>
          <a:srcRect l="0" r="0" t="0" b="0"/>
          <a:stretch/>
        </p:blipFill>
        <p:spPr>
          <a:xfrm>
            <a:off x="8094133" y="2698961"/>
            <a:ext cx="254000" cy="254000"/>
          </a:xfrm>
          <a:prstGeom prst="rect">
            <a:avLst/>
          </a:prstGeom>
        </p:spPr>
      </p:pic>
      <p:sp>
        <p:nvSpPr>
          <p:cNvPr id="19" name="Text 12"/>
          <p:cNvSpPr/>
          <p:nvPr/>
        </p:nvSpPr>
        <p:spPr>
          <a:xfrm>
            <a:off x="8424333" y="2704046"/>
            <a:ext cx="1476883"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E5474"/>
                </a:solidFill>
                <a:latin typeface="Archivo Black" pitchFamily="34" charset="0"/>
                <a:ea typeface="Archivo Black" pitchFamily="34" charset="-122"/>
                <a:cs typeface="Archivo Black" pitchFamily="34" charset="-120"/>
              </a:rPr>
              <a:t>Limitações</a:t>
            </a:r>
            <a:endParaRPr lang="en-US" sz="1600" dirty="0"/>
          </a:p>
        </p:txBody>
      </p:sp>
      <p:sp>
        <p:nvSpPr>
          <p:cNvPr id="20" name="Text 13"/>
          <p:cNvSpPr/>
          <p:nvPr/>
        </p:nvSpPr>
        <p:spPr>
          <a:xfrm>
            <a:off x="8198527" y="3054561"/>
            <a:ext cx="3480901" cy="1644227"/>
          </a:xfrm>
          <a:prstGeom prst="rect">
            <a:avLst/>
          </a:prstGeom>
          <a:noFill/>
          <a:ln/>
        </p:spPr>
        <p:txBody>
          <a:bodyPr wrap="square" lIns="0" tIns="0" rIns="0" bIns="0" rtlCol="0" anchor="t">
            <a:normAutofit/>
          </a:bodyPr>
          <a:lstStyle/>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A revisão de literatura aponta foco em Windows e em atributos de um único extrator (VolMemLyzer).</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Download só com formulário de cadastro; termos de licença ainda não registrados.</a:t>
            </a:r>
            <a:endParaRPr lang="en-US" sz="1300" dirty="0"/>
          </a:p>
          <a:p>
            <a:pPr algn="l" marL="149606" indent="-149606">
              <a:lnSpc>
                <a:spcPts val="1794"/>
              </a:lnSpc>
              <a:buSzPct val="100000"/>
              <a:buChar char="•"/>
            </a:pPr>
            <a:r>
              <a:rPr lang="en-US" sz="1300" dirty="0">
                <a:solidFill>
                  <a:srgbClr val="2C5070"/>
                </a:solidFill>
                <a:latin typeface="Archivo" pitchFamily="34" charset="0"/>
                <a:ea typeface="Archivo" pitchFamily="34" charset="-122"/>
                <a:cs typeface="Archivo" pitchFamily="34" charset="-120"/>
              </a:rPr>
              <a:t>Sem números próprios ainda: vantagens e limites vêm da documentação.</a:t>
            </a:r>
            <a:endParaRPr lang="en-US" sz="1300" dirty="0"/>
          </a:p>
        </p:txBody>
      </p:sp>
      <p:sp>
        <p:nvSpPr>
          <p:cNvPr id="21" name="Text 14"/>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22" name="Text 15"/>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SÍNTESE</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AS BASES LADO A LADO</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83" y="1344083"/>
          <a:ext cx="10962217" cy="3050540"/>
        </p:xfrm>
        <a:graphic>
          <a:graphicData uri="http://schemas.openxmlformats.org/drawingml/2006/table">
            <a:tbl>
              <a:tblPr/>
              <a:tblGrid>
                <a:gridCol w="1644332"/>
                <a:gridCol w="2302065"/>
                <a:gridCol w="1973199"/>
                <a:gridCol w="2521310"/>
                <a:gridCol w="2521310"/>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Base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Registros medidos</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Rótulo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Principal vantagem</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Principal limitação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HDFS_v1</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575.061 traces (11,2 milhões de linhas)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Por trace; 2,93% anômalos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Sinal real: F1 0,968 em combinações novas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589 combinações para 575 mil traces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BGL</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4.747.963 linhas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Por linha; 7,34% alertas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Teste no futuro realista: F1 0,72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44% dos alertas futuros com molde novo</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CoMoFoD</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10.400 imagens em 200 cenas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Original ou falsificada, 50/50</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Máscaras e versões degradadas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Só 41 fotografias; AUC 0,495 com a separação correta</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CIC-IoT2023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28.790 linhas analisadas, de 46,7 milhões declaradas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Ausente nos CSV recebidos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Volume para estudo de escala</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Sem rótulo e maior que a memória livre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CIC-MalMem-2022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850 linhas recebidas, de 58.596</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Ausente nos arquivos recebidos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Tabela rotulada e balanceada (documentação)</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Arquivo principal ainda não recebido</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bl>
          </a:graphicData>
        </a:graphic>
      </p:graphicFrame>
      <p:sp>
        <p:nvSpPr>
          <p:cNvPr id="7" name="Text 3"/>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8" name="Text 4"/>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C5070"/>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1E5474"/>
          </a:solidFill>
          <a:ln/>
        </p:spPr>
      </p:sp>
      <p:sp>
        <p:nvSpPr>
          <p:cNvPr id="3" name="Text 1"/>
          <p:cNvSpPr/>
          <p:nvPr/>
        </p:nvSpPr>
        <p:spPr>
          <a:xfrm>
            <a:off x="812800" y="1454993"/>
            <a:ext cx="10883392" cy="309880"/>
          </a:xfrm>
          <a:prstGeom prst="rect">
            <a:avLst/>
          </a:prstGeom>
          <a:noFill/>
          <a:ln/>
        </p:spPr>
        <p:txBody>
          <a:bodyPr wrap="square" lIns="0" tIns="0" rIns="0" bIns="0" rtlCol="0" anchor="t">
            <a:normAutofit/>
          </a:bodyPr>
          <a:lstStyle/>
          <a:p>
            <a:pPr algn="l" indent="0" marL="0">
              <a:lnSpc>
                <a:spcPts val="2240"/>
              </a:lnSpc>
              <a:buNone/>
            </a:pPr>
            <a:r>
              <a:rPr lang="en-US" sz="1600" spc="50" kern="0" dirty="0">
                <a:solidFill>
                  <a:srgbClr val="C9D6E2"/>
                </a:solidFill>
                <a:latin typeface="League Spartan" pitchFamily="34" charset="0"/>
                <a:ea typeface="League Spartan" pitchFamily="34" charset="-122"/>
                <a:cs typeface="League Spartan" pitchFamily="34" charset="-120"/>
              </a:rPr>
              <a:t>O QUE SE REPETE NAS BASES</a:t>
            </a:r>
            <a:endParaRPr lang="en-US" sz="1600" dirty="0"/>
          </a:p>
        </p:txBody>
      </p:sp>
      <p:sp>
        <p:nvSpPr>
          <p:cNvPr id="4" name="Text 2"/>
          <p:cNvSpPr/>
          <p:nvPr>
            <p:ph type="title"/>
          </p:nvPr>
        </p:nvSpPr>
        <p:spPr>
          <a:xfrm>
            <a:off x="812800" y="1993478"/>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League Spartan" pitchFamily="34" charset="0"/>
                <a:ea typeface="League Spartan" pitchFamily="34" charset="-122"/>
                <a:cs typeface="League Spartan" pitchFamily="34" charset="-120"/>
              </a:rPr>
              <a:t>A FORMA DE SEPARAR TREINO E TESTE MUDA O RESULTADO</a:t>
            </a:r>
            <a:endParaRPr lang="en-US" sz="3600" dirty="0"/>
          </a:p>
        </p:txBody>
      </p:sp>
      <p:sp>
        <p:nvSpPr>
          <p:cNvPr id="5" name="Shape 3"/>
          <p:cNvSpPr/>
          <p:nvPr/>
        </p:nvSpPr>
        <p:spPr>
          <a:xfrm>
            <a:off x="812800" y="3266021"/>
            <a:ext cx="3318933" cy="0"/>
          </a:xfrm>
          <a:prstGeom prst="line">
            <a:avLst/>
          </a:prstGeom>
          <a:noFill/>
          <a:ln w="25400">
            <a:solidFill>
              <a:srgbClr val="FFFFFF"/>
            </a:solidFill>
            <a:prstDash val="solid"/>
          </a:ln>
        </p:spPr>
      </p:sp>
      <p:sp>
        <p:nvSpPr>
          <p:cNvPr id="6" name="Text 4"/>
          <p:cNvSpPr/>
          <p:nvPr/>
        </p:nvSpPr>
        <p:spPr>
          <a:xfrm>
            <a:off x="812800" y="3426879"/>
            <a:ext cx="3418501"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Archivo Black" pitchFamily="34" charset="0"/>
                <a:ea typeface="Archivo Black" pitchFamily="34" charset="-122"/>
                <a:cs typeface="Archivo Black" pitchFamily="34" charset="-120"/>
              </a:rPr>
              <a:t>CoMoFoD</a:t>
            </a:r>
            <a:endParaRPr lang="en-US" sz="1600" dirty="0"/>
          </a:p>
        </p:txBody>
      </p:sp>
      <p:sp>
        <p:nvSpPr>
          <p:cNvPr id="7" name="Text 5"/>
          <p:cNvSpPr/>
          <p:nvPr/>
        </p:nvSpPr>
        <p:spPr>
          <a:xfrm>
            <a:off x="812800" y="3746922"/>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Archivo" pitchFamily="34" charset="0"/>
                <a:ea typeface="Archivo" pitchFamily="34" charset="-122"/>
                <a:cs typeface="Archivo" pitchFamily="34" charset="-120"/>
              </a:rPr>
              <a:t>AUC 0,984 separando por imagem e 0,495 separando por fotografia.</a:t>
            </a:r>
            <a:endParaRPr lang="en-US" sz="1400" dirty="0"/>
          </a:p>
        </p:txBody>
      </p:sp>
      <p:sp>
        <p:nvSpPr>
          <p:cNvPr id="8" name="Shape 6"/>
          <p:cNvSpPr/>
          <p:nvPr/>
        </p:nvSpPr>
        <p:spPr>
          <a:xfrm>
            <a:off x="4436533" y="3266021"/>
            <a:ext cx="3318933" cy="0"/>
          </a:xfrm>
          <a:prstGeom prst="line">
            <a:avLst/>
          </a:prstGeom>
          <a:noFill/>
          <a:ln w="25400">
            <a:solidFill>
              <a:srgbClr val="FFFFFF"/>
            </a:solidFill>
            <a:prstDash val="solid"/>
          </a:ln>
        </p:spPr>
      </p:sp>
      <p:sp>
        <p:nvSpPr>
          <p:cNvPr id="9" name="Text 7"/>
          <p:cNvSpPr/>
          <p:nvPr/>
        </p:nvSpPr>
        <p:spPr>
          <a:xfrm>
            <a:off x="4436533" y="3426879"/>
            <a:ext cx="3418501"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Archivo Black" pitchFamily="34" charset="0"/>
                <a:ea typeface="Archivo Black" pitchFamily="34" charset="-122"/>
                <a:cs typeface="Archivo Black" pitchFamily="34" charset="-120"/>
              </a:rPr>
              <a:t>HDFS_v1</a:t>
            </a:r>
            <a:endParaRPr lang="en-US" sz="1600" dirty="0"/>
          </a:p>
        </p:txBody>
      </p:sp>
      <p:sp>
        <p:nvSpPr>
          <p:cNvPr id="10" name="Text 8"/>
          <p:cNvSpPr/>
          <p:nvPr/>
        </p:nvSpPr>
        <p:spPr>
          <a:xfrm>
            <a:off x="4436533" y="3746922"/>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Archivo" pitchFamily="34" charset="0"/>
                <a:ea typeface="Archivo" pitchFamily="34" charset="-122"/>
                <a:cs typeface="Archivo" pitchFamily="34" charset="-120"/>
              </a:rPr>
              <a:t>F1 0,999 com divisão aleatória e 0,968 com combinações nunca vistas.</a:t>
            </a:r>
            <a:endParaRPr lang="en-US" sz="1400" dirty="0"/>
          </a:p>
        </p:txBody>
      </p:sp>
      <p:sp>
        <p:nvSpPr>
          <p:cNvPr id="11" name="Shape 9"/>
          <p:cNvSpPr/>
          <p:nvPr/>
        </p:nvSpPr>
        <p:spPr>
          <a:xfrm>
            <a:off x="8060267" y="3266021"/>
            <a:ext cx="3318933" cy="0"/>
          </a:xfrm>
          <a:prstGeom prst="line">
            <a:avLst/>
          </a:prstGeom>
          <a:noFill/>
          <a:ln w="25400">
            <a:solidFill>
              <a:srgbClr val="FFFFFF"/>
            </a:solidFill>
            <a:prstDash val="solid"/>
          </a:ln>
        </p:spPr>
      </p:sp>
      <p:sp>
        <p:nvSpPr>
          <p:cNvPr id="12" name="Text 10"/>
          <p:cNvSpPr/>
          <p:nvPr/>
        </p:nvSpPr>
        <p:spPr>
          <a:xfrm>
            <a:off x="8060267" y="3426879"/>
            <a:ext cx="3418501"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Archivo Black" pitchFamily="34" charset="0"/>
                <a:ea typeface="Archivo Black" pitchFamily="34" charset="-122"/>
                <a:cs typeface="Archivo Black" pitchFamily="34" charset="-120"/>
              </a:rPr>
              <a:t>CIC-IoT2023</a:t>
            </a:r>
            <a:endParaRPr lang="en-US" sz="1600" dirty="0"/>
          </a:p>
        </p:txBody>
      </p:sp>
      <p:sp>
        <p:nvSpPr>
          <p:cNvPr id="13" name="Text 11"/>
          <p:cNvSpPr/>
          <p:nvPr/>
        </p:nvSpPr>
        <p:spPr>
          <a:xfrm>
            <a:off x="8060267" y="3746922"/>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Archivo" pitchFamily="34" charset="0"/>
                <a:ea typeface="Archivo" pitchFamily="34" charset="-122"/>
                <a:cs typeface="Archivo" pitchFamily="34" charset="-120"/>
              </a:rPr>
              <a:t>Linhas vizinhas quase iguais: a separação precisa ser por segmento ou por arquivo.</a:t>
            </a:r>
            <a:endParaRPr lang="en-US" sz="1400" dirty="0"/>
          </a:p>
        </p:txBody>
      </p:sp>
      <p:sp>
        <p:nvSpPr>
          <p:cNvPr id="14" name="Text 12"/>
          <p:cNvSpPr/>
          <p:nvPr/>
        </p:nvSpPr>
        <p:spPr>
          <a:xfrm>
            <a:off x="812800" y="4498764"/>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5EE"/>
                </a:solidFill>
                <a:latin typeface="Archivo" pitchFamily="34" charset="0"/>
                <a:ea typeface="Archivo" pitchFamily="34" charset="-122"/>
                <a:cs typeface="Archivo" pitchFamily="34" charset="-120"/>
              </a:rPr>
              <a:t>Antes de confiar numa métrica, é preciso saber quantas unidades independentes a base tem: 10.400 imagens vêm de 41 fotografias, e 575 mil traces se resumem a 589 combinações de eventos.</a:t>
            </a:r>
            <a:endParaRPr lang="en-US" sz="1400" dirty="0"/>
          </a:p>
        </p:txBody>
      </p:sp>
      <p:sp>
        <p:nvSpPr>
          <p:cNvPr id="15" name="Text 13"/>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6" name="Text 14"/>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CONDIÇÕES DE USO E ACESSO</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O QUE CADA BASE PERMITE E EXIGE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0183" y="1344083"/>
          <a:ext cx="10962217" cy="2719917"/>
        </p:xfrm>
        <a:graphic>
          <a:graphicData uri="http://schemas.openxmlformats.org/drawingml/2006/table">
            <a:tbl>
              <a:tblPr/>
              <a:tblGrid>
                <a:gridCol w="1753955"/>
                <a:gridCol w="2192443"/>
                <a:gridCol w="2850176"/>
                <a:gridCol w="4165642"/>
              </a:tblGrid>
              <a:tr h="330623">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Base</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Licença ou termo</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Como obter</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c>
                  <a:txBody>
                    <a:bodyPr/>
                    <a:lstStyle/>
                    <a:p>
                      <a:pPr indent="0" marL="0">
                        <a:lnSpc>
                          <a:spcPts val="1680"/>
                        </a:lnSpc>
                        <a:buNone/>
                      </a:pPr>
                      <a:r>
                        <a:rPr lang="en-US" sz="1200" b="1" dirty="0">
                          <a:solidFill>
                            <a:srgbClr val="FFFFFF"/>
                          </a:solidFill>
                          <a:latin typeface="Archivo" pitchFamily="34" charset="0"/>
                          <a:ea typeface="Archivo" pitchFamily="34" charset="-122"/>
                          <a:cs typeface="Archivo" pitchFamily="34" charset="-120"/>
                        </a:rPr>
                        <a:t>O que isso impõe</a:t>
                      </a:r>
                      <a:endParaRPr lang="en-US" sz="1200" dirty="0">
                        <a:latin typeface="Archivo" charset="0"/>
                        <a:ea typeface="Archivo" charset="0"/>
                        <a:cs typeface="Archivo" charset="0"/>
                      </a:endParaRPr>
                    </a:p>
                  </a:txBody>
                  <a:tcPr marL="53340" marR="53340" marT="53340" marB="53340" anchor="t">
                    <a:lnL w="12700" cap="flat" cmpd="sng" algn="ctr">
                      <a:solidFill>
                        <a:srgbClr val="27435C"/>
                      </a:solidFill>
                      <a:prstDash val="solid"/>
                      <a:round/>
                      <a:headEnd type="none" w="med" len="med"/>
                      <a:tailEnd type="none" w="med" len="med"/>
                    </a:lnL>
                    <a:lnR w="12700" cap="flat" cmpd="sng" algn="ctr">
                      <a:solidFill>
                        <a:srgbClr val="27435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7435C"/>
                      </a:solidFill>
                      <a:prstDash val="solid"/>
                      <a:round/>
                      <a:headEnd type="none" w="med" len="med"/>
                      <a:tailEnd type="none" w="med" len="med"/>
                    </a:lnB>
                    <a:solidFill>
                      <a:srgbClr val="2C5070"/>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Loghub</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CC-BY-4.0</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Zenodo, download direto (DOI 10.5281/zenodo.8196385)</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Uso livre, desde que a fonte seja citada.</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27435C"/>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75734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CoMoFoD</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Acordo de uso (release agreement)</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Small: download direto. Large: só por contato com os autores.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Só uso acadêmico e não comercial; sem redistribuir, nem dentro da organização; sem modificar as imagens baixadas; citar Tralić et al. (2013).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CIC-IoT2023</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Termos ainda não registrados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Formulário de cadastro no site do CIC</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O próprio pesquisador baixa, informando nome, e-mail, organização e país.</a:t>
                      </a:r>
                      <a:endParaRPr lang="en-US" sz="1200" dirty="0">
                        <a:latin typeface="Archivo" charset="0"/>
                        <a:ea typeface="Archivo" charset="0"/>
                        <a:cs typeface="Archivo" charset="0"/>
                      </a:endParaRPr>
                    </a:p>
                  </a:txBody>
                  <a:tcPr marL="53340" marR="53340" marT="53340" marB="53340" anchor="t">
                    <a:lnL w="12700" cap="flat" cmpd="sng" algn="ctr">
                      <a:solidFill>
                        <a:srgbClr val="BBC0C3"/>
                      </a:solidFill>
                      <a:prstDash val="solid"/>
                      <a:round/>
                      <a:headEnd type="none" w="med" len="med"/>
                      <a:tailEnd type="none" w="med" len="med"/>
                    </a:lnL>
                    <a:lnR w="12700" cap="flat" cmpd="sng" algn="ctr">
                      <a:solidFill>
                        <a:srgbClr val="BB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3"/>
                      </a:solidFill>
                      <a:prstDash val="solid"/>
                      <a:round/>
                      <a:headEnd type="none" w="med" len="med"/>
                      <a:tailEnd type="none" w="med" len="med"/>
                    </a:lnB>
                    <a:solidFill>
                      <a:srgbClr val="EAF0F5"/>
                    </a:solidFill>
                  </a:tcPr>
                </a:tc>
              </a:tr>
              <a:tr h="543983">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CIC-MalMem-2022</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Termos ainda não registrados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Formulário de cadastro no site do CIC</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2C5070"/>
                          </a:solidFill>
                          <a:latin typeface="Archivo" pitchFamily="34" charset="0"/>
                          <a:ea typeface="Archivo" pitchFamily="34" charset="-122"/>
                          <a:cs typeface="Archivo" pitchFamily="34" charset="-120"/>
                        </a:rPr>
                        <a:t>O próprio pesquisador baixa, informando nome, e-mail, organização e país.</a:t>
                      </a:r>
                      <a:endParaRPr lang="en-US" sz="1200" dirty="0">
                        <a:latin typeface="Archivo" charset="0"/>
                        <a:ea typeface="Archivo" charset="0"/>
                        <a:cs typeface="Archiv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609600" y="426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378"/>
                </a:solidFill>
                <a:latin typeface="Archivo" pitchFamily="34" charset="0"/>
                <a:ea typeface="Archivo" pitchFamily="34" charset="-122"/>
                <a:cs typeface="Archivo" pitchFamily="34" charset="-120"/>
              </a:rPr>
              <a:t>Por causa do acordo do CoMoFoD, esta apresentação não mostra nenhuma imagem da base, e os dados brutos ficam fora do controle de versão.</a:t>
            </a:r>
            <a:endParaRPr lang="en-US" sz="1200" dirty="0"/>
          </a:p>
        </p:txBody>
      </p:sp>
      <p:sp>
        <p:nvSpPr>
          <p:cNvPr id="8" name="Text 4"/>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9" name="Text 5"/>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324600"/>
            <a:ext cx="12192000" cy="533400"/>
          </a:xfrm>
          <a:prstGeom prst="rect">
            <a:avLst/>
          </a:prstGeom>
          <a:solidFill>
            <a:srgbClr val="2C5070"/>
          </a:solidFill>
          <a:ln/>
        </p:spPr>
      </p:sp>
      <p:pic>
        <p:nvPicPr>
          <p:cNvPr id="3" name="Image 0" descr="preencoded.png">    </p:cNvPr>
          <p:cNvPicPr>
            <a:picLocks noChangeAspect="1"/>
          </p:cNvPicPr>
          <p:nvPr/>
        </p:nvPicPr>
        <p:blipFill>
          <a:blip r:embed="rId1"/>
          <a:srcRect l="-4" r="-4" t="0" b="0"/>
          <a:stretch/>
        </p:blipFill>
        <p:spPr>
          <a:xfrm>
            <a:off x="11125200" y="254000"/>
            <a:ext cx="508000" cy="622300"/>
          </a:xfrm>
          <a:prstGeom prst="rect">
            <a:avLst/>
          </a:prstGeom>
        </p:spPr>
      </p:pic>
      <p:sp>
        <p:nvSpPr>
          <p:cNvPr id="4" name="Text 1"/>
          <p:cNvSpPr/>
          <p:nvPr>
            <p:ph type="title"/>
          </p:nvPr>
        </p:nvSpPr>
        <p:spPr>
          <a:xfrm>
            <a:off x="609600" y="355600"/>
            <a:ext cx="10464800" cy="50546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2C5070"/>
                </a:solidFill>
                <a:latin typeface="League Spartan" pitchFamily="34" charset="0"/>
                <a:ea typeface="League Spartan" pitchFamily="34" charset="-122"/>
                <a:cs typeface="League Spartan" pitchFamily="34" charset="-120"/>
              </a:rPr>
              <a:t>REFERÊNCIAS</a:t>
            </a:r>
            <a:endParaRPr lang="en-US" sz="3600" dirty="0"/>
          </a:p>
        </p:txBody>
      </p:sp>
      <p:sp>
        <p:nvSpPr>
          <p:cNvPr id="5" name="Text 2"/>
          <p:cNvSpPr/>
          <p:nvPr/>
        </p:nvSpPr>
        <p:spPr>
          <a:xfrm>
            <a:off x="609600" y="886458"/>
            <a:ext cx="10464800" cy="269240"/>
          </a:xfrm>
          <a:prstGeom prst="rect">
            <a:avLst/>
          </a:prstGeom>
          <a:noFill/>
          <a:ln/>
        </p:spPr>
        <p:txBody>
          <a:bodyPr wrap="square" lIns="0" tIns="0" rIns="0" bIns="0" rtlCol="0" anchor="t">
            <a:normAutofit/>
          </a:bodyPr>
          <a:lstStyle/>
          <a:p>
            <a:pPr algn="l" indent="0" marL="0">
              <a:lnSpc>
                <a:spcPts val="1920"/>
              </a:lnSpc>
              <a:buNone/>
            </a:pPr>
            <a:r>
              <a:rPr lang="en-US" sz="1600" spc="50" kern="0" dirty="0">
                <a:solidFill>
                  <a:srgbClr val="2C5070"/>
                </a:solidFill>
                <a:latin typeface="League Spartan" pitchFamily="34" charset="0"/>
                <a:ea typeface="League Spartan" pitchFamily="34" charset="-122"/>
                <a:cs typeface="League Spartan" pitchFamily="34" charset="-120"/>
              </a:rPr>
              <a:t>ARTIGOS DE ORIGEM DAS BASES</a:t>
            </a:r>
            <a:endParaRPr lang="en-US" sz="1600" dirty="0"/>
          </a:p>
        </p:txBody>
      </p:sp>
      <p:sp>
        <p:nvSpPr>
          <p:cNvPr id="6" name="Text 3"/>
          <p:cNvSpPr/>
          <p:nvPr/>
        </p:nvSpPr>
        <p:spPr>
          <a:xfrm>
            <a:off x="609600" y="1333500"/>
            <a:ext cx="113019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CARRIER, T.; VICTOR, P.; TEKEOGLU, A.; HABIBI LASHKARI, A. Detecting obfuscated malware using memory feature engineering. In: International Conference on Information Systems Security and Privacy (ICISSP), 8., 2022. p. 177-188. DOI: 10.5220/0010908200003120.</a:t>
            </a:r>
            <a:endParaRPr lang="en-US" sz="1200" dirty="0"/>
          </a:p>
        </p:txBody>
      </p:sp>
      <p:sp>
        <p:nvSpPr>
          <p:cNvPr id="7" name="Text 4"/>
          <p:cNvSpPr/>
          <p:nvPr/>
        </p:nvSpPr>
        <p:spPr>
          <a:xfrm>
            <a:off x="609600" y="1861815"/>
            <a:ext cx="113019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NETO, E. C. P.; DADKHAH, S.; FERREIRA, R.; ZOHOURIAN, A.; LU, R.; GHORBANI, A. A. CICIoT2023: a real-time dataset and benchmark for large-scale attacks in IoT environment. Sensors, v. 23, n. 13, 5941, 2023. DOI: 10.3390/s23135941.</a:t>
            </a:r>
            <a:endParaRPr lang="en-US" sz="1200" dirty="0"/>
          </a:p>
        </p:txBody>
      </p:sp>
      <p:sp>
        <p:nvSpPr>
          <p:cNvPr id="8" name="Text 5"/>
          <p:cNvSpPr/>
          <p:nvPr/>
        </p:nvSpPr>
        <p:spPr>
          <a:xfrm>
            <a:off x="609600" y="2390142"/>
            <a:ext cx="113019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OLINER, A. J.; STEARLEY, J. What supercomputers say: a study of five system logs. In: IEEE/IFIP International Conference on Dependable Systems and Networks (DSN), 2007.</a:t>
            </a:r>
            <a:endParaRPr lang="en-US" sz="1200" dirty="0"/>
          </a:p>
        </p:txBody>
      </p:sp>
      <p:sp>
        <p:nvSpPr>
          <p:cNvPr id="9" name="Text 6"/>
          <p:cNvSpPr/>
          <p:nvPr/>
        </p:nvSpPr>
        <p:spPr>
          <a:xfrm>
            <a:off x="609600" y="2918458"/>
            <a:ext cx="113019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TRALIĆ, D.; ŽUPANČIĆ, I.; GRGIĆ, S.; GRGIĆ, M. CoMoFoD: new database for copy-move forgery detection. In: International Symposium ELMAR, 2013.</a:t>
            </a:r>
            <a:endParaRPr lang="en-US" sz="1200" dirty="0"/>
          </a:p>
        </p:txBody>
      </p:sp>
      <p:sp>
        <p:nvSpPr>
          <p:cNvPr id="10" name="Text 7"/>
          <p:cNvSpPr/>
          <p:nvPr/>
        </p:nvSpPr>
        <p:spPr>
          <a:xfrm>
            <a:off x="609600" y="3233415"/>
            <a:ext cx="113019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XU, W.; HUANG, L.; FOX, A.; PATTERSON, D.; JORDAN, M. Detecting large-scale system problems by mining console logs. In: ACM Symposium on Operating Systems Principles (SOSP), 22., 2009.</a:t>
            </a:r>
            <a:endParaRPr lang="en-US" sz="1200" dirty="0"/>
          </a:p>
        </p:txBody>
      </p:sp>
      <p:sp>
        <p:nvSpPr>
          <p:cNvPr id="11" name="Text 8"/>
          <p:cNvSpPr/>
          <p:nvPr/>
        </p:nvSpPr>
        <p:spPr>
          <a:xfrm>
            <a:off x="609600" y="3761742"/>
            <a:ext cx="113019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ZHU, J.; HE, S.; HE, P.; LIU, J.; LYU, M. R. Loghub: a large collection of system log datasets for AI-driven log analytics. In: IEEE International Symposium on Software Reliability Engineering (ISSRE), 34., 2023. DOI: 10.1109/ISSRE59848.2023.00071.</a:t>
            </a:r>
            <a:endParaRPr lang="en-US" sz="1200" dirty="0"/>
          </a:p>
        </p:txBody>
      </p:sp>
      <p:sp>
        <p:nvSpPr>
          <p:cNvPr id="12" name="Text 9"/>
          <p:cNvSpPr/>
          <p:nvPr/>
        </p:nvSpPr>
        <p:spPr>
          <a:xfrm>
            <a:off x="609600" y="4290058"/>
            <a:ext cx="113019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C5070"/>
                </a:solidFill>
                <a:latin typeface="Archivo" pitchFamily="34" charset="0"/>
                <a:ea typeface="Archivo" pitchFamily="34" charset="-122"/>
                <a:cs typeface="Archivo" pitchFamily="34" charset="-120"/>
              </a:rPr>
              <a:t>LOGHUB. Coleção de logs no Zenodo. Licença CC-BY-4.0. DOI: 10.5281/zenodo.8196385.</a:t>
            </a:r>
            <a:endParaRPr lang="en-US" sz="1200" dirty="0"/>
          </a:p>
        </p:txBody>
      </p:sp>
      <p:sp>
        <p:nvSpPr>
          <p:cNvPr id="13" name="Text 10"/>
          <p:cNvSpPr/>
          <p:nvPr/>
        </p:nvSpPr>
        <p:spPr>
          <a:xfrm>
            <a:off x="609600" y="64770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chivo" pitchFamily="34" charset="0"/>
                <a:ea typeface="Archivo" pitchFamily="34" charset="-122"/>
                <a:cs typeface="Archivo" pitchFamily="34" charset="-120"/>
              </a:rPr>
              <a:t>Bases de dados para forense digital com IA</a:t>
            </a:r>
            <a:endParaRPr lang="en-US" sz="1200" dirty="0"/>
          </a:p>
        </p:txBody>
      </p:sp>
      <p:sp>
        <p:nvSpPr>
          <p:cNvPr id="14" name="Text 11"/>
          <p:cNvSpPr/>
          <p:nvPr/>
        </p:nvSpPr>
        <p:spPr>
          <a:xfrm>
            <a:off x="10261600" y="647700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FFF"/>
                </a:solidFill>
                <a:latin typeface="Archivo" pitchFamily="34" charset="0"/>
                <a:ea typeface="Archivo" pitchFamily="34" charset="-122"/>
                <a:cs typeface="Archivo" pitchFamily="34" charset="-120"/>
              </a:rPr>
              <a:t>25</a:t>
            </a:r>
            <a:endParaRPr lang="en-US" sz="1200" dirty="0"/>
          </a:p>
        </p:txBody>
      </p:sp>
    </p:spTree>
  </p:cSld>
  <p:clrMapOvr>
    <a:masterClrMapping/>
  </p:clrMapOvr>
</p:sld>
</file>

<file path=ppt/theme/theme1.xml><?xml version="1.0" encoding="utf-8"?>
<a:theme xmlns:a="http://schemas.openxmlformats.org/drawingml/2006/main" name="Bases de dados para forense digital com IA">
  <a:themeElements>
    <a:clrScheme name="Bases de dados para forense digital com IA">
      <a:dk1>
        <a:srgbClr val="2C5070"/>
      </a:dk1>
      <a:lt1>
        <a:srgbClr val="FFFFFF"/>
      </a:lt1>
      <a:dk2>
        <a:srgbClr val="617C94"/>
      </a:dk2>
      <a:lt2>
        <a:srgbClr val="EAEEF1"/>
      </a:lt2>
      <a:accent1>
        <a:srgbClr val="4A6378"/>
      </a:accent1>
      <a:accent2>
        <a:srgbClr val="8FA9BF"/>
      </a:accent2>
      <a:accent3>
        <a:srgbClr val="DCE5EE"/>
      </a:accent3>
      <a:accent4>
        <a:srgbClr val="C9D6E2"/>
      </a:accent4>
      <a:accent5>
        <a:srgbClr val="9AA0A6"/>
      </a:accent5>
      <a:accent6>
        <a:srgbClr val="8096A9"/>
      </a:accent6>
      <a:hlink>
        <a:srgbClr val="0563C1"/>
      </a:hlink>
      <a:folHlink>
        <a:srgbClr val="954F72"/>
      </a:folHlink>
    </a:clrScheme>
    <a:fontScheme name="Bases de dados para forense digital com IA">
      <a:majorFont>
        <a:latin typeface="Archivo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dados para forense digital com IA</dc:title>
  <dc:subject/>
  <dc:creator/>
  <cp:lastModifiedBy/>
  <cp:revision>1</cp:revision>
  <dcterms:created xsi:type="dcterms:W3CDTF">2026-10-16T04:00:57Z</dcterms:created>
  <dcterms:modified xsi:type="dcterms:W3CDTF">2026-10-16T04:00:57Z</dcterms:modified>
</cp:coreProperties>
</file>